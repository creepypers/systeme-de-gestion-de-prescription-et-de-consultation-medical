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91" r:id="rId1"/>
  </p:sldMasterIdLst>
  <p:notesMasterIdLst>
    <p:notesMasterId r:id="rId100"/>
  </p:notesMasterIdLst>
  <p:handoutMasterIdLst>
    <p:handoutMasterId r:id="rId101"/>
  </p:handoutMasterIdLst>
  <p:sldIdLst>
    <p:sldId id="392" r:id="rId2"/>
    <p:sldId id="301" r:id="rId3"/>
    <p:sldId id="659" r:id="rId4"/>
    <p:sldId id="662" r:id="rId5"/>
    <p:sldId id="715" r:id="rId6"/>
    <p:sldId id="716" r:id="rId7"/>
    <p:sldId id="663" r:id="rId8"/>
    <p:sldId id="664" r:id="rId9"/>
    <p:sldId id="735" r:id="rId10"/>
    <p:sldId id="665" r:id="rId11"/>
    <p:sldId id="655" r:id="rId12"/>
    <p:sldId id="656" r:id="rId13"/>
    <p:sldId id="657" r:id="rId14"/>
    <p:sldId id="658" r:id="rId15"/>
    <p:sldId id="666" r:id="rId16"/>
    <p:sldId id="736" r:id="rId17"/>
    <p:sldId id="667" r:id="rId18"/>
    <p:sldId id="668" r:id="rId19"/>
    <p:sldId id="669" r:id="rId20"/>
    <p:sldId id="671" r:id="rId21"/>
    <p:sldId id="670" r:id="rId22"/>
    <p:sldId id="747" r:id="rId23"/>
    <p:sldId id="673" r:id="rId24"/>
    <p:sldId id="674" r:id="rId25"/>
    <p:sldId id="721" r:id="rId26"/>
    <p:sldId id="722" r:id="rId27"/>
    <p:sldId id="723" r:id="rId28"/>
    <p:sldId id="724" r:id="rId29"/>
    <p:sldId id="263" r:id="rId30"/>
    <p:sldId id="465" r:id="rId31"/>
    <p:sldId id="725" r:id="rId32"/>
    <p:sldId id="467" r:id="rId33"/>
    <p:sldId id="728" r:id="rId34"/>
    <p:sldId id="726" r:id="rId35"/>
    <p:sldId id="731" r:id="rId36"/>
    <p:sldId id="733" r:id="rId37"/>
    <p:sldId id="727" r:id="rId38"/>
    <p:sldId id="399" r:id="rId39"/>
    <p:sldId id="264" r:id="rId40"/>
    <p:sldId id="729" r:id="rId41"/>
    <p:sldId id="730" r:id="rId42"/>
    <p:sldId id="268" r:id="rId43"/>
    <p:sldId id="738" r:id="rId44"/>
    <p:sldId id="737" r:id="rId45"/>
    <p:sldId id="275" r:id="rId46"/>
    <p:sldId id="400" r:id="rId47"/>
    <p:sldId id="276" r:id="rId48"/>
    <p:sldId id="277" r:id="rId49"/>
    <p:sldId id="278" r:id="rId50"/>
    <p:sldId id="286" r:id="rId51"/>
    <p:sldId id="287" r:id="rId52"/>
    <p:sldId id="288" r:id="rId53"/>
    <p:sldId id="434" r:id="rId54"/>
    <p:sldId id="270" r:id="rId55"/>
    <p:sldId id="271" r:id="rId56"/>
    <p:sldId id="272" r:id="rId57"/>
    <p:sldId id="279" r:id="rId58"/>
    <p:sldId id="280" r:id="rId59"/>
    <p:sldId id="281" r:id="rId60"/>
    <p:sldId id="734" r:id="rId61"/>
    <p:sldId id="575" r:id="rId62"/>
    <p:sldId id="436" r:id="rId63"/>
    <p:sldId id="283" r:id="rId64"/>
    <p:sldId id="284" r:id="rId65"/>
    <p:sldId id="282" r:id="rId66"/>
    <p:sldId id="405" r:id="rId67"/>
    <p:sldId id="438" r:id="rId68"/>
    <p:sldId id="299" r:id="rId69"/>
    <p:sldId id="474" r:id="rId70"/>
    <p:sldId id="475" r:id="rId71"/>
    <p:sldId id="262" r:id="rId72"/>
    <p:sldId id="476" r:id="rId73"/>
    <p:sldId id="477" r:id="rId74"/>
    <p:sldId id="478" r:id="rId75"/>
    <p:sldId id="266" r:id="rId76"/>
    <p:sldId id="482" r:id="rId77"/>
    <p:sldId id="274" r:id="rId78"/>
    <p:sldId id="484" r:id="rId79"/>
    <p:sldId id="719" r:id="rId80"/>
    <p:sldId id="720" r:id="rId81"/>
    <p:sldId id="487" r:id="rId82"/>
    <p:sldId id="488" r:id="rId83"/>
    <p:sldId id="489" r:id="rId84"/>
    <p:sldId id="490" r:id="rId85"/>
    <p:sldId id="491" r:id="rId86"/>
    <p:sldId id="492" r:id="rId87"/>
    <p:sldId id="493" r:id="rId88"/>
    <p:sldId id="289" r:id="rId89"/>
    <p:sldId id="718" r:id="rId90"/>
    <p:sldId id="675" r:id="rId91"/>
    <p:sldId id="739" r:id="rId92"/>
    <p:sldId id="740" r:id="rId93"/>
    <p:sldId id="741" r:id="rId94"/>
    <p:sldId id="742" r:id="rId95"/>
    <p:sldId id="743" r:id="rId96"/>
    <p:sldId id="744" r:id="rId97"/>
    <p:sldId id="745" r:id="rId98"/>
    <p:sldId id="746" r:id="rId9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D96709"/>
    <a:srgbClr val="E46D0A"/>
    <a:srgbClr val="CC3300"/>
    <a:srgbClr val="008080"/>
    <a:srgbClr val="FF9966"/>
    <a:srgbClr val="DDDDDD"/>
    <a:srgbClr val="003399"/>
    <a:srgbClr val="336699"/>
    <a:srgbClr val="00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774" autoAdjust="0"/>
    <p:restoredTop sz="96101" autoAdjust="0"/>
  </p:normalViewPr>
  <p:slideViewPr>
    <p:cSldViewPr>
      <p:cViewPr varScale="1">
        <p:scale>
          <a:sx n="71" d="100"/>
          <a:sy n="71" d="100"/>
        </p:scale>
        <p:origin x="1216" y="44"/>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0"/>
    </p:cViewPr>
  </p:sorter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imes New Roman" charset="0"/>
              </a:defRPr>
            </a:lvl1pPr>
          </a:lstStyle>
          <a:p>
            <a:pPr>
              <a:defRPr/>
            </a:pPr>
            <a:endParaRPr lang="fr-FR"/>
          </a:p>
        </p:txBody>
      </p:sp>
      <p:sp>
        <p:nvSpPr>
          <p:cNvPr id="17411"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New Roman" charset="0"/>
              </a:defRPr>
            </a:lvl1pPr>
          </a:lstStyle>
          <a:p>
            <a:pPr>
              <a:defRPr/>
            </a:pPr>
            <a:endParaRPr lang="fr-FR"/>
          </a:p>
        </p:txBody>
      </p:sp>
      <p:sp>
        <p:nvSpPr>
          <p:cNvPr id="17412"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imes New Roman" charset="0"/>
              </a:defRPr>
            </a:lvl1pPr>
          </a:lstStyle>
          <a:p>
            <a:pPr>
              <a:defRPr/>
            </a:pPr>
            <a:endParaRPr lang="fr-FR"/>
          </a:p>
        </p:txBody>
      </p:sp>
      <p:sp>
        <p:nvSpPr>
          <p:cNvPr id="17413"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Times New Roman" charset="0"/>
              </a:defRPr>
            </a:lvl1pPr>
          </a:lstStyle>
          <a:p>
            <a:pPr>
              <a:defRPr/>
            </a:pPr>
            <a:fld id="{50AF7509-6CBD-40DD-996F-77D706C9FAA3}" type="slidenum">
              <a:rPr lang="en-US"/>
              <a:pPr>
                <a:defRPr/>
              </a:pPr>
              <a:t>‹N°›</a:t>
            </a:fld>
            <a:endParaRPr lang="en-US"/>
          </a:p>
        </p:txBody>
      </p:sp>
    </p:spTree>
    <p:extLst>
      <p:ext uri="{BB962C8B-B14F-4D97-AF65-F5344CB8AC3E}">
        <p14:creationId xmlns:p14="http://schemas.microsoft.com/office/powerpoint/2010/main" val="10854681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imes New Roman" charset="0"/>
              </a:defRPr>
            </a:lvl1pPr>
          </a:lstStyle>
          <a:p>
            <a:pPr>
              <a:defRPr/>
            </a:pPr>
            <a:endParaRPr lang="fr-FR"/>
          </a:p>
        </p:txBody>
      </p:sp>
      <p:sp>
        <p:nvSpPr>
          <p:cNvPr id="1536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New Roman" charset="0"/>
              </a:defRPr>
            </a:lvl1pPr>
          </a:lstStyle>
          <a:p>
            <a:pPr>
              <a:defRPr/>
            </a:pPr>
            <a:endParaRPr lang="fr-FR"/>
          </a:p>
        </p:txBody>
      </p:sp>
      <p:sp>
        <p:nvSpPr>
          <p:cNvPr id="5120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36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imes New Roman" charset="0"/>
              </a:defRPr>
            </a:lvl1pPr>
          </a:lstStyle>
          <a:p>
            <a:pPr>
              <a:defRPr/>
            </a:pPr>
            <a:endParaRPr lang="fr-FR"/>
          </a:p>
        </p:txBody>
      </p:sp>
      <p:sp>
        <p:nvSpPr>
          <p:cNvPr id="1536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Times New Roman" charset="0"/>
              </a:defRPr>
            </a:lvl1pPr>
          </a:lstStyle>
          <a:p>
            <a:pPr>
              <a:defRPr/>
            </a:pPr>
            <a:fld id="{299F8C3F-989D-4FD3-9C80-84BEE369520B}" type="slidenum">
              <a:rPr lang="en-US"/>
              <a:pPr>
                <a:defRPr/>
              </a:pPr>
              <a:t>‹N°›</a:t>
            </a:fld>
            <a:endParaRPr lang="en-US"/>
          </a:p>
        </p:txBody>
      </p:sp>
    </p:spTree>
    <p:extLst>
      <p:ext uri="{BB962C8B-B14F-4D97-AF65-F5344CB8AC3E}">
        <p14:creationId xmlns:p14="http://schemas.microsoft.com/office/powerpoint/2010/main" val="215522314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22325" y="762000"/>
            <a:ext cx="5111675" cy="2667000"/>
          </a:xfrm>
        </p:spPr>
        <p:txBody>
          <a:bodyPr/>
          <a:lstStyle/>
          <a:p>
            <a:r>
              <a:rPr lang="fr-FR"/>
              <a:t>Modifiez le style du titre</a:t>
            </a:r>
            <a:endParaRPr lang="en-US"/>
          </a:p>
        </p:txBody>
      </p:sp>
      <p:sp>
        <p:nvSpPr>
          <p:cNvPr id="3" name="Subtitle 2"/>
          <p:cNvSpPr>
            <a:spLocks noGrp="1"/>
          </p:cNvSpPr>
          <p:nvPr>
            <p:ph type="subTitle" idx="1"/>
          </p:nvPr>
        </p:nvSpPr>
        <p:spPr>
          <a:xfrm>
            <a:off x="228600" y="3810000"/>
            <a:ext cx="5105400" cy="2133600"/>
          </a:xfrm>
        </p:spPr>
        <p:txBody>
          <a:bodyPr/>
          <a:lstStyle>
            <a:lvl1pPr marL="0" indent="0" algn="l">
              <a:buNone/>
              <a:defRPr b="1">
                <a:solidFill>
                  <a:schemeClr val="tx1"/>
                </a:solidFill>
                <a:effectLst>
                  <a:reflection blurRad="6350" stA="55000" endA="300" endPos="45500" dir="5400000" sy="-100000" algn="bl" rotWithShape="0"/>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Modifier le style des sous-titres du masque</a:t>
            </a:r>
            <a:endParaRPr lang="en-US"/>
          </a:p>
        </p:txBody>
      </p:sp>
      <p:sp>
        <p:nvSpPr>
          <p:cNvPr id="4" name="Date Placeholder 3"/>
          <p:cNvSpPr>
            <a:spLocks noGrp="1"/>
          </p:cNvSpPr>
          <p:nvPr>
            <p:ph type="dt" sz="half" idx="10"/>
          </p:nvPr>
        </p:nvSpPr>
        <p:spPr/>
        <p:txBody>
          <a:bodyPr/>
          <a:lstStyle/>
          <a:p>
            <a:pPr>
              <a:defRPr/>
            </a:pPr>
            <a:fld id="{1870C54C-9C40-40D0-A79F-66D1345642BC}" type="datetime1">
              <a:rPr lang="en-US" smtClean="0"/>
              <a:t>11/20/2024</a:t>
            </a:fld>
            <a:endParaRPr lang="en-US" altLang="en-US"/>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pPr>
              <a:defRPr/>
            </a:pPr>
            <a:fld id="{8B8C112D-CD45-498D-B711-AC5354742DF6}" type="slidenum">
              <a:rPr lang="en-US" altLang="en-US" smtClean="0"/>
              <a:pPr>
                <a:defRPr/>
              </a:pPr>
              <a:t>‹N°›</a:t>
            </a:fld>
            <a:endParaRPr lang="en-US" altLang="en-US"/>
          </a:p>
        </p:txBody>
      </p:sp>
      <p:sp>
        <p:nvSpPr>
          <p:cNvPr id="7" name="Text Box 43"/>
          <p:cNvSpPr txBox="1">
            <a:spLocks noChangeArrowheads="1"/>
          </p:cNvSpPr>
          <p:nvPr/>
        </p:nvSpPr>
        <p:spPr bwMode="auto">
          <a:xfrm>
            <a:off x="2951163" y="6165850"/>
            <a:ext cx="3095625" cy="304800"/>
          </a:xfrm>
          <a:prstGeom prst="rect">
            <a:avLst/>
          </a:prstGeom>
          <a:noFill/>
          <a:ln w="9525">
            <a:noFill/>
            <a:miter lim="800000"/>
            <a:headEnd/>
            <a:tailEnd/>
          </a:ln>
          <a:effectLst/>
        </p:spPr>
        <p:txBody>
          <a:bodyPr>
            <a:spAutoFit/>
          </a:bodyPr>
          <a:lstStyle/>
          <a:p>
            <a:pPr algn="ctr">
              <a:spcBef>
                <a:spcPct val="50000"/>
              </a:spcBef>
              <a:defRPr/>
            </a:pPr>
            <a:endParaRPr lang="fr-FR" sz="1400">
              <a:sym typeface="Symbol" pitchFamily="18" charset="2"/>
            </a:endParaRPr>
          </a:p>
        </p:txBody>
      </p:sp>
      <p:sp>
        <p:nvSpPr>
          <p:cNvPr id="8" name="Text Box 43">
            <a:extLst>
              <a:ext uri="{FF2B5EF4-FFF2-40B4-BE49-F238E27FC236}">
                <a16:creationId xmlns:a16="http://schemas.microsoft.com/office/drawing/2014/main" id="{3E2714E5-0C38-4E70-84F1-EB88B31732FD}"/>
              </a:ext>
            </a:extLst>
          </p:cNvPr>
          <p:cNvSpPr txBox="1">
            <a:spLocks noChangeArrowheads="1"/>
          </p:cNvSpPr>
          <p:nvPr/>
        </p:nvSpPr>
        <p:spPr bwMode="auto">
          <a:xfrm>
            <a:off x="2951163" y="6165850"/>
            <a:ext cx="30956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spcBef>
                <a:spcPct val="50000"/>
              </a:spcBef>
            </a:pPr>
            <a:endParaRPr lang="fr-FR" sz="1400">
              <a:sym typeface="Symbol" pitchFamily="18" charset="2"/>
            </a:endParaRPr>
          </a:p>
        </p:txBody>
      </p:sp>
      <p:sp>
        <p:nvSpPr>
          <p:cNvPr id="9" name="Text Box 43">
            <a:extLst>
              <a:ext uri="{FF2B5EF4-FFF2-40B4-BE49-F238E27FC236}">
                <a16:creationId xmlns:a16="http://schemas.microsoft.com/office/drawing/2014/main" id="{E7205C9F-C7CD-4FF9-B80F-85E97A4312A6}"/>
              </a:ext>
            </a:extLst>
          </p:cNvPr>
          <p:cNvSpPr txBox="1">
            <a:spLocks noChangeArrowheads="1"/>
          </p:cNvSpPr>
          <p:nvPr userDrawn="1"/>
        </p:nvSpPr>
        <p:spPr bwMode="auto">
          <a:xfrm>
            <a:off x="2951163" y="6165850"/>
            <a:ext cx="3095625" cy="304800"/>
          </a:xfrm>
          <a:prstGeom prst="rect">
            <a:avLst/>
          </a:prstGeom>
          <a:noFill/>
          <a:ln w="9525">
            <a:noFill/>
            <a:miter lim="800000"/>
            <a:headEnd/>
            <a:tailEnd/>
          </a:ln>
          <a:effectLst/>
        </p:spPr>
        <p:txBody>
          <a:bodyPr>
            <a:spAutoFit/>
          </a:bodyPr>
          <a:lstStyle/>
          <a:p>
            <a:pPr algn="ctr">
              <a:spcBef>
                <a:spcPct val="50000"/>
              </a:spcBef>
              <a:defRPr/>
            </a:pPr>
            <a:endParaRPr lang="fr-FR" sz="1400">
              <a:sym typeface="Symbol" pitchFamily="18" charset="2"/>
            </a:endParaRPr>
          </a:p>
        </p:txBody>
      </p:sp>
    </p:spTree>
    <p:extLst>
      <p:ext uri="{BB962C8B-B14F-4D97-AF65-F5344CB8AC3E}">
        <p14:creationId xmlns:p14="http://schemas.microsoft.com/office/powerpoint/2010/main" val="1583317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pPr>
              <a:defRPr/>
            </a:pPr>
            <a:fld id="{89E2D9B6-FCFA-468C-ABC6-03933E95DE57}" type="datetime1">
              <a:rPr lang="en-US" smtClean="0"/>
              <a:t>11/20/2024</a:t>
            </a:fld>
            <a:endParaRPr lang="en-US" altLang="en-US"/>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pPr>
              <a:defRPr/>
            </a:pPr>
            <a:fld id="{7FEE665E-3450-413D-913D-057FF7C87532}" type="slidenum">
              <a:rPr lang="en-US" altLang="en-US" smtClean="0"/>
              <a:pPr>
                <a:defRPr/>
              </a:pPr>
              <a:t>‹N°›</a:t>
            </a:fld>
            <a:endParaRPr lang="en-US" altLang="en-US"/>
          </a:p>
        </p:txBody>
      </p:sp>
    </p:spTree>
    <p:extLst>
      <p:ext uri="{BB962C8B-B14F-4D97-AF65-F5344CB8AC3E}">
        <p14:creationId xmlns:p14="http://schemas.microsoft.com/office/powerpoint/2010/main" val="2811539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8600" y="4929187"/>
            <a:ext cx="5105400" cy="1362075"/>
          </a:xfrm>
        </p:spPr>
        <p:txBody>
          <a:bodyPr anchor="t"/>
          <a:lstStyle>
            <a:lvl1pPr algn="l">
              <a:defRPr sz="4000" b="1" cap="all">
                <a:solidFill>
                  <a:schemeClr val="tx1"/>
                </a:solidFill>
              </a:defRPr>
            </a:lvl1pPr>
          </a:lstStyle>
          <a:p>
            <a:r>
              <a:rPr lang="fr-FR"/>
              <a:t>Modifiez le style du titre</a:t>
            </a:r>
            <a:endParaRPr lang="en-US"/>
          </a:p>
        </p:txBody>
      </p:sp>
      <p:sp>
        <p:nvSpPr>
          <p:cNvPr id="3" name="Text Placeholder 2"/>
          <p:cNvSpPr>
            <a:spLocks noGrp="1"/>
          </p:cNvSpPr>
          <p:nvPr>
            <p:ph type="body" idx="1"/>
          </p:nvPr>
        </p:nvSpPr>
        <p:spPr>
          <a:xfrm>
            <a:off x="228600" y="3733800"/>
            <a:ext cx="5105400" cy="11953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pPr>
              <a:defRPr/>
            </a:pPr>
            <a:fld id="{293A1B6E-E6AD-4E95-BF63-D5F5D87E9B39}" type="datetime1">
              <a:rPr lang="en-US" smtClean="0"/>
              <a:t>11/20/2024</a:t>
            </a:fld>
            <a:endParaRPr lang="en-US" altLang="en-US"/>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pPr>
              <a:defRPr/>
            </a:pPr>
            <a:fld id="{B1F7837F-1D4D-4CA1-A8E1-5AD01247757E}" type="slidenum">
              <a:rPr lang="en-US" altLang="en-US" smtClean="0"/>
              <a:pPr>
                <a:defRPr/>
              </a:pPr>
              <a:t>‹N°›</a:t>
            </a:fld>
            <a:endParaRPr lang="en-US" altLang="en-US"/>
          </a:p>
        </p:txBody>
      </p:sp>
    </p:spTree>
    <p:extLst>
      <p:ext uri="{BB962C8B-B14F-4D97-AF65-F5344CB8AC3E}">
        <p14:creationId xmlns:p14="http://schemas.microsoft.com/office/powerpoint/2010/main" val="3571174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sz="half" idx="1"/>
          </p:nvPr>
        </p:nvSpPr>
        <p:spPr>
          <a:xfrm>
            <a:off x="228600" y="1798637"/>
            <a:ext cx="4267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Content Placeholder 3"/>
          <p:cNvSpPr>
            <a:spLocks noGrp="1"/>
          </p:cNvSpPr>
          <p:nvPr>
            <p:ph sz="half" idx="2"/>
          </p:nvPr>
        </p:nvSpPr>
        <p:spPr>
          <a:xfrm>
            <a:off x="4648200" y="1798637"/>
            <a:ext cx="4267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pPr>
              <a:defRPr/>
            </a:pPr>
            <a:fld id="{FB337545-4289-4C6C-9698-BA01C0DF97B3}" type="datetime1">
              <a:rPr lang="en-US" smtClean="0"/>
              <a:t>11/20/2024</a:t>
            </a:fld>
            <a:endParaRPr lang="en-US" altLang="en-US"/>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pPr>
              <a:defRPr/>
            </a:pPr>
            <a:fld id="{DE293F36-9297-4821-9A0C-D21D7A4CC37B}" type="slidenum">
              <a:rPr lang="en-US" altLang="en-US" smtClean="0"/>
              <a:pPr>
                <a:defRPr/>
              </a:pPr>
              <a:t>‹N°›</a:t>
            </a:fld>
            <a:endParaRPr lang="en-US" altLang="en-US"/>
          </a:p>
        </p:txBody>
      </p:sp>
    </p:spTree>
    <p:extLst>
      <p:ext uri="{BB962C8B-B14F-4D97-AF65-F5344CB8AC3E}">
        <p14:creationId xmlns:p14="http://schemas.microsoft.com/office/powerpoint/2010/main" val="2165360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a:p>
        </p:txBody>
      </p:sp>
      <p:sp>
        <p:nvSpPr>
          <p:cNvPr id="3" name="Text Placeholder 2"/>
          <p:cNvSpPr>
            <a:spLocks noGrp="1"/>
          </p:cNvSpPr>
          <p:nvPr>
            <p:ph type="body" idx="1"/>
          </p:nvPr>
        </p:nvSpPr>
        <p:spPr>
          <a:xfrm>
            <a:off x="228600" y="1733550"/>
            <a:ext cx="42687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Content Placeholder 3"/>
          <p:cNvSpPr>
            <a:spLocks noGrp="1"/>
          </p:cNvSpPr>
          <p:nvPr>
            <p:ph sz="half" idx="2"/>
          </p:nvPr>
        </p:nvSpPr>
        <p:spPr>
          <a:xfrm>
            <a:off x="228600" y="2373312"/>
            <a:ext cx="42687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Text Placeholder 4"/>
          <p:cNvSpPr>
            <a:spLocks noGrp="1"/>
          </p:cNvSpPr>
          <p:nvPr>
            <p:ph type="body" sz="quarter" idx="3"/>
          </p:nvPr>
        </p:nvSpPr>
        <p:spPr>
          <a:xfrm>
            <a:off x="4645025" y="1733550"/>
            <a:ext cx="42703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Content Placeholder 5"/>
          <p:cNvSpPr>
            <a:spLocks noGrp="1"/>
          </p:cNvSpPr>
          <p:nvPr>
            <p:ph sz="quarter" idx="4"/>
          </p:nvPr>
        </p:nvSpPr>
        <p:spPr>
          <a:xfrm>
            <a:off x="4645025" y="2373312"/>
            <a:ext cx="42703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Date Placeholder 6"/>
          <p:cNvSpPr>
            <a:spLocks noGrp="1"/>
          </p:cNvSpPr>
          <p:nvPr>
            <p:ph type="dt" sz="half" idx="10"/>
          </p:nvPr>
        </p:nvSpPr>
        <p:spPr/>
        <p:txBody>
          <a:bodyPr/>
          <a:lstStyle/>
          <a:p>
            <a:pPr>
              <a:defRPr/>
            </a:pPr>
            <a:fld id="{5C451942-A6BF-4960-8879-1488CD00DF32}" type="datetime1">
              <a:rPr lang="en-US" smtClean="0"/>
              <a:t>11/20/2024</a:t>
            </a:fld>
            <a:endParaRPr lang="en-US" altLang="en-US"/>
          </a:p>
        </p:txBody>
      </p:sp>
      <p:sp>
        <p:nvSpPr>
          <p:cNvPr id="8" name="Footer Placeholder 7"/>
          <p:cNvSpPr>
            <a:spLocks noGrp="1"/>
          </p:cNvSpPr>
          <p:nvPr>
            <p:ph type="ftr" sz="quarter" idx="11"/>
          </p:nvPr>
        </p:nvSpPr>
        <p:spPr/>
        <p:txBody>
          <a:bodyPr/>
          <a:lstStyle/>
          <a:p>
            <a:endParaRPr lang="fr-CA"/>
          </a:p>
        </p:txBody>
      </p:sp>
      <p:sp>
        <p:nvSpPr>
          <p:cNvPr id="9" name="Slide Number Placeholder 8"/>
          <p:cNvSpPr>
            <a:spLocks noGrp="1"/>
          </p:cNvSpPr>
          <p:nvPr>
            <p:ph type="sldNum" sz="quarter" idx="12"/>
          </p:nvPr>
        </p:nvSpPr>
        <p:spPr/>
        <p:txBody>
          <a:bodyPr/>
          <a:lstStyle/>
          <a:p>
            <a:pPr>
              <a:defRPr/>
            </a:pPr>
            <a:fld id="{13095562-A83A-4D37-B267-CD729BC3FC17}" type="slidenum">
              <a:rPr lang="en-US" altLang="en-US" smtClean="0"/>
              <a:pPr>
                <a:defRPr/>
              </a:pPr>
              <a:t>‹N°›</a:t>
            </a:fld>
            <a:endParaRPr lang="en-US" altLang="en-US"/>
          </a:p>
        </p:txBody>
      </p:sp>
    </p:spTree>
    <p:extLst>
      <p:ext uri="{BB962C8B-B14F-4D97-AF65-F5344CB8AC3E}">
        <p14:creationId xmlns:p14="http://schemas.microsoft.com/office/powerpoint/2010/main" val="2192090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Date Placeholder 2"/>
          <p:cNvSpPr>
            <a:spLocks noGrp="1"/>
          </p:cNvSpPr>
          <p:nvPr>
            <p:ph type="dt" sz="half" idx="10"/>
          </p:nvPr>
        </p:nvSpPr>
        <p:spPr/>
        <p:txBody>
          <a:bodyPr/>
          <a:lstStyle/>
          <a:p>
            <a:pPr>
              <a:defRPr/>
            </a:pPr>
            <a:fld id="{20ED3D86-8F09-4F2D-8EF1-25F25C98AFB7}" type="datetime1">
              <a:rPr lang="en-US" smtClean="0"/>
              <a:t>11/20/2024</a:t>
            </a:fld>
            <a:endParaRPr lang="en-US" altLang="en-US"/>
          </a:p>
        </p:txBody>
      </p:sp>
      <p:sp>
        <p:nvSpPr>
          <p:cNvPr id="4" name="Footer Placeholder 3"/>
          <p:cNvSpPr>
            <a:spLocks noGrp="1"/>
          </p:cNvSpPr>
          <p:nvPr>
            <p:ph type="ftr" sz="quarter" idx="11"/>
          </p:nvPr>
        </p:nvSpPr>
        <p:spPr/>
        <p:txBody>
          <a:bodyPr/>
          <a:lstStyle/>
          <a:p>
            <a:endParaRPr lang="fr-CA"/>
          </a:p>
        </p:txBody>
      </p:sp>
      <p:sp>
        <p:nvSpPr>
          <p:cNvPr id="5" name="Slide Number Placeholder 4"/>
          <p:cNvSpPr>
            <a:spLocks noGrp="1"/>
          </p:cNvSpPr>
          <p:nvPr>
            <p:ph type="sldNum" sz="quarter" idx="12"/>
          </p:nvPr>
        </p:nvSpPr>
        <p:spPr/>
        <p:txBody>
          <a:bodyPr/>
          <a:lstStyle/>
          <a:p>
            <a:pPr>
              <a:defRPr/>
            </a:pPr>
            <a:fld id="{3B1E4088-4144-4531-AD60-E3883B742C1B}" type="slidenum">
              <a:rPr lang="en-US" altLang="en-US" smtClean="0"/>
              <a:pPr>
                <a:defRPr/>
              </a:pPr>
              <a:t>‹N°›</a:t>
            </a:fld>
            <a:endParaRPr lang="en-US" altLang="en-US"/>
          </a:p>
        </p:txBody>
      </p:sp>
    </p:spTree>
    <p:extLst>
      <p:ext uri="{BB962C8B-B14F-4D97-AF65-F5344CB8AC3E}">
        <p14:creationId xmlns:p14="http://schemas.microsoft.com/office/powerpoint/2010/main" val="1505130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FADC83F0-66C9-4946-902D-F5E5012DA79C}" type="datetime1">
              <a:rPr lang="en-US" smtClean="0"/>
              <a:t>11/20/2024</a:t>
            </a:fld>
            <a:endParaRPr lang="en-US" altLang="en-US"/>
          </a:p>
        </p:txBody>
      </p:sp>
      <p:sp>
        <p:nvSpPr>
          <p:cNvPr id="3" name="Footer Placeholder 2"/>
          <p:cNvSpPr>
            <a:spLocks noGrp="1"/>
          </p:cNvSpPr>
          <p:nvPr>
            <p:ph type="ftr" sz="quarter" idx="11"/>
          </p:nvPr>
        </p:nvSpPr>
        <p:spPr/>
        <p:txBody>
          <a:bodyPr/>
          <a:lstStyle/>
          <a:p>
            <a:endParaRPr lang="fr-CA"/>
          </a:p>
        </p:txBody>
      </p:sp>
      <p:sp>
        <p:nvSpPr>
          <p:cNvPr id="4" name="Slide Number Placeholder 3"/>
          <p:cNvSpPr>
            <a:spLocks noGrp="1"/>
          </p:cNvSpPr>
          <p:nvPr>
            <p:ph type="sldNum" sz="quarter" idx="12"/>
          </p:nvPr>
        </p:nvSpPr>
        <p:spPr/>
        <p:txBody>
          <a:bodyPr/>
          <a:lstStyle/>
          <a:p>
            <a:pPr>
              <a:defRPr/>
            </a:pPr>
            <a:fld id="{A3F0DE2A-C6FA-4F12-9420-08E7A0CB6A00}" type="slidenum">
              <a:rPr lang="en-US" altLang="en-US" smtClean="0"/>
              <a:pPr>
                <a:defRPr/>
              </a:pPr>
              <a:t>‹N°›</a:t>
            </a:fld>
            <a:endParaRPr lang="en-US" altLang="en-US"/>
          </a:p>
        </p:txBody>
      </p:sp>
    </p:spTree>
    <p:extLst>
      <p:ext uri="{BB962C8B-B14F-4D97-AF65-F5344CB8AC3E}">
        <p14:creationId xmlns:p14="http://schemas.microsoft.com/office/powerpoint/2010/main" val="1050856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28600" y="86958"/>
            <a:ext cx="3236913" cy="1162050"/>
          </a:xfrm>
        </p:spPr>
        <p:txBody>
          <a:bodyPr anchor="b"/>
          <a:lstStyle>
            <a:lvl1pPr algn="l">
              <a:defRPr sz="2000" b="1"/>
            </a:lvl1pPr>
          </a:lstStyle>
          <a:p>
            <a:r>
              <a:rPr lang="fr-FR"/>
              <a:t>Modifiez le style du titre</a:t>
            </a:r>
            <a:endParaRPr lang="en-US" dirty="0"/>
          </a:p>
        </p:txBody>
      </p:sp>
      <p:sp>
        <p:nvSpPr>
          <p:cNvPr id="3" name="Content Placeholder 2"/>
          <p:cNvSpPr>
            <a:spLocks noGrp="1"/>
          </p:cNvSpPr>
          <p:nvPr>
            <p:ph idx="1"/>
          </p:nvPr>
        </p:nvSpPr>
        <p:spPr>
          <a:xfrm>
            <a:off x="3575050" y="1371600"/>
            <a:ext cx="3968750" cy="490907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Text Placeholder 3"/>
          <p:cNvSpPr>
            <a:spLocks noGrp="1"/>
          </p:cNvSpPr>
          <p:nvPr>
            <p:ph type="body" sz="half" idx="2"/>
          </p:nvPr>
        </p:nvSpPr>
        <p:spPr>
          <a:xfrm>
            <a:off x="228600" y="1371600"/>
            <a:ext cx="3236913" cy="491360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Date Placeholder 4"/>
          <p:cNvSpPr>
            <a:spLocks noGrp="1"/>
          </p:cNvSpPr>
          <p:nvPr>
            <p:ph type="dt" sz="half" idx="10"/>
          </p:nvPr>
        </p:nvSpPr>
        <p:spPr/>
        <p:txBody>
          <a:bodyPr/>
          <a:lstStyle/>
          <a:p>
            <a:pPr>
              <a:defRPr/>
            </a:pPr>
            <a:fld id="{67DEFFD3-9485-4C21-A87E-209C92931BD0}" type="datetime1">
              <a:rPr lang="en-US" smtClean="0"/>
              <a:t>11/20/2024</a:t>
            </a:fld>
            <a:endParaRPr lang="en-US" altLang="en-US"/>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pPr>
              <a:defRPr/>
            </a:pPr>
            <a:fld id="{DF659703-B6A9-49AC-8B9A-8AC8E21B644D}" type="slidenum">
              <a:rPr lang="en-US" altLang="en-US" smtClean="0"/>
              <a:pPr>
                <a:defRPr/>
              </a:pPr>
              <a:t>‹N°›</a:t>
            </a:fld>
            <a:endParaRPr lang="en-US" altLang="en-US"/>
          </a:p>
        </p:txBody>
      </p:sp>
    </p:spTree>
    <p:extLst>
      <p:ext uri="{BB962C8B-B14F-4D97-AF65-F5344CB8AC3E}">
        <p14:creationId xmlns:p14="http://schemas.microsoft.com/office/powerpoint/2010/main" val="2244445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3000" y="4800600"/>
            <a:ext cx="5486400" cy="566738"/>
          </a:xfrm>
        </p:spPr>
        <p:txBody>
          <a:bodyPr anchor="b"/>
          <a:lstStyle>
            <a:lvl1pPr algn="l">
              <a:defRPr sz="2000" b="1">
                <a:solidFill>
                  <a:schemeClr val="tx1"/>
                </a:solidFill>
              </a:defRPr>
            </a:lvl1pPr>
          </a:lstStyle>
          <a:p>
            <a:r>
              <a:rPr lang="fr-FR"/>
              <a:t>Modifiez le style du titre</a:t>
            </a:r>
            <a:endParaRPr lang="en-US"/>
          </a:p>
        </p:txBody>
      </p:sp>
      <p:sp>
        <p:nvSpPr>
          <p:cNvPr id="3" name="Picture Placeholder 2"/>
          <p:cNvSpPr>
            <a:spLocks noGrp="1"/>
          </p:cNvSpPr>
          <p:nvPr>
            <p:ph type="pic" idx="1"/>
          </p:nvPr>
        </p:nvSpPr>
        <p:spPr>
          <a:xfrm>
            <a:off x="1143000"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a:p>
        </p:txBody>
      </p:sp>
      <p:sp>
        <p:nvSpPr>
          <p:cNvPr id="4" name="Text Placeholder 3"/>
          <p:cNvSpPr>
            <a:spLocks noGrp="1"/>
          </p:cNvSpPr>
          <p:nvPr>
            <p:ph type="body" sz="half" idx="2"/>
          </p:nvPr>
        </p:nvSpPr>
        <p:spPr>
          <a:xfrm>
            <a:off x="1143000"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Date Placeholder 4"/>
          <p:cNvSpPr>
            <a:spLocks noGrp="1"/>
          </p:cNvSpPr>
          <p:nvPr>
            <p:ph type="dt" sz="half" idx="10"/>
          </p:nvPr>
        </p:nvSpPr>
        <p:spPr/>
        <p:txBody>
          <a:bodyPr/>
          <a:lstStyle/>
          <a:p>
            <a:pPr>
              <a:defRPr/>
            </a:pPr>
            <a:fld id="{A62EE7C2-4772-441A-999D-A29DD5319C18}" type="datetime1">
              <a:rPr lang="en-US" smtClean="0"/>
              <a:t>11/20/2024</a:t>
            </a:fld>
            <a:endParaRPr lang="en-US" altLang="en-US"/>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pPr>
              <a:defRPr/>
            </a:pPr>
            <a:fld id="{F5EFF904-D263-465B-BDB0-083A7E2ACE75}" type="slidenum">
              <a:rPr lang="en-US" altLang="en-US" smtClean="0"/>
              <a:pPr>
                <a:defRPr/>
              </a:pPr>
              <a:t>‹N°›</a:t>
            </a:fld>
            <a:endParaRPr lang="en-US" altLang="en-US"/>
          </a:p>
        </p:txBody>
      </p:sp>
    </p:spTree>
    <p:extLst>
      <p:ext uri="{BB962C8B-B14F-4D97-AF65-F5344CB8AC3E}">
        <p14:creationId xmlns:p14="http://schemas.microsoft.com/office/powerpoint/2010/main" val="3876418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Vertical Text Placeholder 2"/>
          <p:cNvSpPr>
            <a:spLocks noGrp="1"/>
          </p:cNvSpPr>
          <p:nvPr>
            <p:ph type="body" orient="vert" idx="1"/>
          </p:nvPr>
        </p:nvSpPr>
        <p:spPr>
          <a:xfrm>
            <a:off x="228600" y="1403874"/>
            <a:ext cx="7239000" cy="4876800"/>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pPr>
              <a:defRPr/>
            </a:pPr>
            <a:fld id="{5ACFA812-2161-42FB-8AF4-DB11CF0C27B4}" type="datetime1">
              <a:rPr lang="en-US" smtClean="0"/>
              <a:t>11/20/2024</a:t>
            </a:fld>
            <a:endParaRPr lang="en-US" altLang="en-US"/>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pPr>
              <a:defRPr/>
            </a:pPr>
            <a:fld id="{A0DAB16C-4F15-4A7A-A06A-CA540DD2E191}" type="slidenum">
              <a:rPr lang="en-US" altLang="en-US" smtClean="0"/>
              <a:pPr>
                <a:defRPr/>
              </a:pPr>
              <a:t>‹N°›</a:t>
            </a:fld>
            <a:endParaRPr lang="en-US" altLang="en-US"/>
          </a:p>
        </p:txBody>
      </p:sp>
    </p:spTree>
    <p:extLst>
      <p:ext uri="{BB962C8B-B14F-4D97-AF65-F5344CB8AC3E}">
        <p14:creationId xmlns:p14="http://schemas.microsoft.com/office/powerpoint/2010/main" val="2928307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019800" y="1371600"/>
            <a:ext cx="1828800" cy="4953000"/>
          </a:xfrm>
        </p:spPr>
        <p:txBody>
          <a:bodyPr vert="eaVert"/>
          <a:lstStyle>
            <a:lvl1pPr>
              <a:defRPr>
                <a:solidFill>
                  <a:schemeClr val="tx1"/>
                </a:solidFill>
              </a:defRPr>
            </a:lvl1pPr>
          </a:lstStyle>
          <a:p>
            <a:r>
              <a:rPr lang="fr-FR"/>
              <a:t>Modifiez le style du titre</a:t>
            </a:r>
            <a:endParaRPr lang="en-US" dirty="0"/>
          </a:p>
        </p:txBody>
      </p:sp>
      <p:sp>
        <p:nvSpPr>
          <p:cNvPr id="3" name="Vertical Text Placeholder 2"/>
          <p:cNvSpPr>
            <a:spLocks noGrp="1"/>
          </p:cNvSpPr>
          <p:nvPr>
            <p:ph type="body" orient="vert" idx="1"/>
          </p:nvPr>
        </p:nvSpPr>
        <p:spPr>
          <a:xfrm>
            <a:off x="228600" y="1371600"/>
            <a:ext cx="5791200" cy="4953000"/>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pPr>
              <a:defRPr/>
            </a:pPr>
            <a:fld id="{190C508D-F563-4CD5-916B-36860FE61347}" type="datetime1">
              <a:rPr lang="en-US" smtClean="0"/>
              <a:t>11/20/2024</a:t>
            </a:fld>
            <a:endParaRPr lang="en-US" altLang="en-US"/>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pPr>
              <a:defRPr/>
            </a:pPr>
            <a:fld id="{581BB03C-FD6B-4392-98A5-97EC70AAAFF4}" type="slidenum">
              <a:rPr lang="en-US" altLang="en-US" smtClean="0"/>
              <a:pPr>
                <a:defRPr/>
              </a:pPr>
              <a:t>‹N°›</a:t>
            </a:fld>
            <a:endParaRPr lang="en-US" altLang="en-US"/>
          </a:p>
        </p:txBody>
      </p:sp>
    </p:spTree>
    <p:extLst>
      <p:ext uri="{BB962C8B-B14F-4D97-AF65-F5344CB8AC3E}">
        <p14:creationId xmlns:p14="http://schemas.microsoft.com/office/powerpoint/2010/main" val="34080075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Titre et diagramme ou organigramme">
    <p:spTree>
      <p:nvGrpSpPr>
        <p:cNvPr id="1" name=""/>
        <p:cNvGrpSpPr/>
        <p:nvPr/>
      </p:nvGrpSpPr>
      <p:grpSpPr>
        <a:xfrm>
          <a:off x="0" y="0"/>
          <a:ext cx="0" cy="0"/>
          <a:chOff x="0" y="0"/>
          <a:chExt cx="0" cy="0"/>
        </a:xfrm>
      </p:grpSpPr>
      <p:sp>
        <p:nvSpPr>
          <p:cNvPr id="2" name="Titre 1"/>
          <p:cNvSpPr>
            <a:spLocks noGrp="1"/>
          </p:cNvSpPr>
          <p:nvPr>
            <p:ph type="title"/>
          </p:nvPr>
        </p:nvSpPr>
        <p:spPr>
          <a:xfrm>
            <a:off x="457200" y="457200"/>
            <a:ext cx="8229600" cy="1371600"/>
          </a:xfrm>
        </p:spPr>
        <p:txBody>
          <a:bodyPr/>
          <a:lstStyle/>
          <a:p>
            <a:r>
              <a:rPr lang="fr-FR"/>
              <a:t>Modifiez le style du titre</a:t>
            </a:r>
            <a:endParaRPr lang="fr-CA"/>
          </a:p>
        </p:txBody>
      </p:sp>
      <p:sp>
        <p:nvSpPr>
          <p:cNvPr id="3" name="Espace réservé du graphique SmartArt 2"/>
          <p:cNvSpPr>
            <a:spLocks noGrp="1"/>
          </p:cNvSpPr>
          <p:nvPr>
            <p:ph type="dgm" idx="1"/>
          </p:nvPr>
        </p:nvSpPr>
        <p:spPr>
          <a:xfrm>
            <a:off x="457200" y="1981200"/>
            <a:ext cx="8229600" cy="3886200"/>
          </a:xfrm>
        </p:spPr>
        <p:txBody>
          <a:bodyPr/>
          <a:lstStyle/>
          <a:p>
            <a:pPr lvl="0"/>
            <a:r>
              <a:rPr lang="fr-FR" noProof="0"/>
              <a:t>Cliquez sur l'icône pour ajouter un graphique SmartArt</a:t>
            </a:r>
            <a:endParaRPr lang="fr-CA" noProof="0"/>
          </a:p>
        </p:txBody>
      </p:sp>
      <p:sp>
        <p:nvSpPr>
          <p:cNvPr id="4" name="Rectangle 2"/>
          <p:cNvSpPr>
            <a:spLocks noGrp="1" noChangeArrowheads="1"/>
          </p:cNvSpPr>
          <p:nvPr>
            <p:ph type="ftr" sz="quarter" idx="10"/>
          </p:nvPr>
        </p:nvSpPr>
        <p:spPr>
          <a:ln/>
        </p:spPr>
        <p:txBody>
          <a:bodyPr/>
          <a:lstStyle>
            <a:lvl1pPr>
              <a:defRPr/>
            </a:lvl1pPr>
          </a:lstStyle>
          <a:p>
            <a:pPr>
              <a:defRPr/>
            </a:pPr>
            <a:endParaRPr lang="fr-CA"/>
          </a:p>
        </p:txBody>
      </p:sp>
      <p:sp>
        <p:nvSpPr>
          <p:cNvPr id="5" name="Rectangle 3"/>
          <p:cNvSpPr>
            <a:spLocks noGrp="1" noChangeArrowheads="1"/>
          </p:cNvSpPr>
          <p:nvPr>
            <p:ph type="sldNum" sz="quarter" idx="11"/>
          </p:nvPr>
        </p:nvSpPr>
        <p:spPr>
          <a:ln/>
        </p:spPr>
        <p:txBody>
          <a:bodyPr/>
          <a:lstStyle>
            <a:lvl1pPr>
              <a:defRPr/>
            </a:lvl1pPr>
          </a:lstStyle>
          <a:p>
            <a:pPr>
              <a:defRPr/>
            </a:pPr>
            <a:fld id="{768EB5D8-1891-412D-8094-F73C42FC7F45}" type="slidenum">
              <a:rPr lang="en-US" altLang="en-US" smtClean="0"/>
              <a:pPr>
                <a:defRPr/>
              </a:pPr>
              <a:t>‹N°›</a:t>
            </a:fld>
            <a:endParaRPr lang="en-US" altLang="en-US"/>
          </a:p>
        </p:txBody>
      </p:sp>
      <p:sp>
        <p:nvSpPr>
          <p:cNvPr id="6" name="Rectangle 16"/>
          <p:cNvSpPr>
            <a:spLocks noGrp="1" noChangeArrowheads="1"/>
          </p:cNvSpPr>
          <p:nvPr>
            <p:ph type="dt" sz="half" idx="12"/>
          </p:nvPr>
        </p:nvSpPr>
        <p:spPr>
          <a:ln/>
        </p:spPr>
        <p:txBody>
          <a:bodyPr/>
          <a:lstStyle>
            <a:lvl1pPr>
              <a:defRPr/>
            </a:lvl1pPr>
          </a:lstStyle>
          <a:p>
            <a:pPr>
              <a:defRPr/>
            </a:pPr>
            <a:fld id="{FAE03156-5575-443A-A393-C544441DDF01}" type="datetime1">
              <a:rPr lang="en-US" smtClean="0"/>
              <a:t>11/20/2024</a:t>
            </a:fld>
            <a:endParaRPr lang="en-US" altLang="en-US"/>
          </a:p>
        </p:txBody>
      </p:sp>
    </p:spTree>
    <p:extLst>
      <p:ext uri="{BB962C8B-B14F-4D97-AF65-F5344CB8AC3E}">
        <p14:creationId xmlns:p14="http://schemas.microsoft.com/office/powerpoint/2010/main" val="533481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re. Text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457200" y="122238"/>
            <a:ext cx="7543800" cy="1295400"/>
          </a:xfrm>
        </p:spPr>
        <p:txBody>
          <a:bodyPr/>
          <a:lstStyle/>
          <a:p>
            <a:r>
              <a:rPr lang="fr-FR"/>
              <a:t>Modifiez le style du titre</a:t>
            </a:r>
            <a:endParaRPr lang="fr-CA"/>
          </a:p>
        </p:txBody>
      </p:sp>
      <p:sp>
        <p:nvSpPr>
          <p:cNvPr id="3" name="Espace réservé du texte 2"/>
          <p:cNvSpPr>
            <a:spLocks noGrp="1"/>
          </p:cNvSpPr>
          <p:nvPr>
            <p:ph type="body" sz="half" idx="1"/>
          </p:nvPr>
        </p:nvSpPr>
        <p:spPr>
          <a:xfrm>
            <a:off x="457200" y="1719263"/>
            <a:ext cx="4038600" cy="4411662"/>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4648200" y="1719263"/>
            <a:ext cx="4038600" cy="4411662"/>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Rectangle 5"/>
          <p:cNvSpPr>
            <a:spLocks noGrp="1" noChangeArrowheads="1"/>
          </p:cNvSpPr>
          <p:nvPr>
            <p:ph type="dt" sz="half" idx="10"/>
          </p:nvPr>
        </p:nvSpPr>
        <p:spPr>
          <a:ln/>
        </p:spPr>
        <p:txBody>
          <a:bodyPr/>
          <a:lstStyle>
            <a:lvl1pPr>
              <a:defRPr/>
            </a:lvl1pPr>
          </a:lstStyle>
          <a:p>
            <a:pPr>
              <a:defRPr/>
            </a:pPr>
            <a:fld id="{7E1DEE38-E84C-4A99-90CC-E8AC8907A415}" type="datetime1">
              <a:rPr lang="en-US" smtClean="0"/>
              <a:t>11/20/2024</a:t>
            </a:fld>
            <a:endParaRPr lang="en-US" altLang="en-US"/>
          </a:p>
        </p:txBody>
      </p:sp>
      <p:sp>
        <p:nvSpPr>
          <p:cNvPr id="6" name="Rectangle 7"/>
          <p:cNvSpPr>
            <a:spLocks noGrp="1" noChangeArrowheads="1"/>
          </p:cNvSpPr>
          <p:nvPr>
            <p:ph type="sldNum" sz="quarter" idx="11"/>
          </p:nvPr>
        </p:nvSpPr>
        <p:spPr>
          <a:ln/>
        </p:spPr>
        <p:txBody>
          <a:bodyPr/>
          <a:lstStyle>
            <a:lvl1pPr>
              <a:defRPr/>
            </a:lvl1pPr>
          </a:lstStyle>
          <a:p>
            <a:pPr>
              <a:defRPr/>
            </a:pPr>
            <a:fld id="{768EB5D8-1891-412D-8094-F73C42FC7F45}" type="slidenum">
              <a:rPr lang="en-US" altLang="en-US" smtClean="0"/>
              <a:pPr>
                <a:defRPr/>
              </a:pPr>
              <a:t>‹N°›</a:t>
            </a:fld>
            <a:endParaRPr lang="en-US" altLang="en-US"/>
          </a:p>
        </p:txBody>
      </p:sp>
    </p:spTree>
    <p:extLst>
      <p:ext uri="{BB962C8B-B14F-4D97-AF65-F5344CB8AC3E}">
        <p14:creationId xmlns:p14="http://schemas.microsoft.com/office/powerpoint/2010/main" val="1309956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0" y="76200"/>
            <a:ext cx="7239000" cy="1143000"/>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Text Placeholder 2"/>
          <p:cNvSpPr>
            <a:spLocks noGrp="1"/>
          </p:cNvSpPr>
          <p:nvPr>
            <p:ph type="body" idx="1"/>
          </p:nvPr>
        </p:nvSpPr>
        <p:spPr>
          <a:xfrm>
            <a:off x="228600" y="1403874"/>
            <a:ext cx="8686800" cy="4876800"/>
          </a:xfrm>
          <a:prstGeom prst="rect">
            <a:avLst/>
          </a:prstGeom>
        </p:spPr>
        <p:txBody>
          <a:bodyPr vert="horz" lIns="91440" tIns="45720" rIns="91440" bIns="45720" rtlCol="0">
            <a:normAutofit/>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Date Placeholder 3"/>
          <p:cNvSpPr>
            <a:spLocks noGrp="1"/>
          </p:cNvSpPr>
          <p:nvPr>
            <p:ph type="dt" sz="half" idx="2"/>
          </p:nvPr>
        </p:nvSpPr>
        <p:spPr>
          <a:xfrm>
            <a:off x="214256"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D11BFF17-9AD7-4196-9F2C-0D3430D5714D}" type="datetime1">
              <a:rPr lang="en-US" smtClean="0"/>
              <a:t>11/20/2024</a:t>
            </a:fld>
            <a:endParaRPr lang="en-US"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Slide Number Placeholder 5"/>
          <p:cNvSpPr>
            <a:spLocks noGrp="1"/>
          </p:cNvSpPr>
          <p:nvPr>
            <p:ph type="sldNum" sz="quarter" idx="4"/>
          </p:nvPr>
        </p:nvSpPr>
        <p:spPr>
          <a:xfrm>
            <a:off x="6773732"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768EB5D8-1891-412D-8094-F73C42FC7F45}" type="slidenum">
              <a:rPr lang="en-US" altLang="en-US" smtClean="0"/>
              <a:pPr>
                <a:defRPr/>
              </a:pPr>
              <a:t>‹N°›</a:t>
            </a:fld>
            <a:endParaRPr lang="en-US" altLang="en-US"/>
          </a:p>
        </p:txBody>
      </p:sp>
      <p:sp>
        <p:nvSpPr>
          <p:cNvPr id="7" name="Text Box 40"/>
          <p:cNvSpPr txBox="1">
            <a:spLocks noChangeArrowheads="1"/>
          </p:cNvSpPr>
          <p:nvPr/>
        </p:nvSpPr>
        <p:spPr bwMode="auto">
          <a:xfrm>
            <a:off x="2987675" y="6200775"/>
            <a:ext cx="3095625" cy="304800"/>
          </a:xfrm>
          <a:prstGeom prst="rect">
            <a:avLst/>
          </a:prstGeom>
          <a:noFill/>
          <a:ln w="9525">
            <a:noFill/>
            <a:miter lim="800000"/>
            <a:headEnd/>
            <a:tailEnd/>
          </a:ln>
          <a:effectLst/>
        </p:spPr>
        <p:txBody>
          <a:bodyPr>
            <a:spAutoFit/>
          </a:bodyPr>
          <a:lstStyle/>
          <a:p>
            <a:pPr algn="ctr">
              <a:spcBef>
                <a:spcPct val="50000"/>
              </a:spcBef>
              <a:defRPr/>
            </a:pPr>
            <a:endParaRPr lang="fr-FR" sz="1400">
              <a:sym typeface="Symbol" pitchFamily="18" charset="2"/>
            </a:endParaRPr>
          </a:p>
        </p:txBody>
      </p:sp>
      <p:sp>
        <p:nvSpPr>
          <p:cNvPr id="8" name="Text Box 40">
            <a:extLst>
              <a:ext uri="{FF2B5EF4-FFF2-40B4-BE49-F238E27FC236}">
                <a16:creationId xmlns:a16="http://schemas.microsoft.com/office/drawing/2014/main" id="{8420F1FA-9018-47E5-876D-49BA94BB90B1}"/>
              </a:ext>
            </a:extLst>
          </p:cNvPr>
          <p:cNvSpPr txBox="1">
            <a:spLocks noChangeArrowheads="1"/>
          </p:cNvSpPr>
          <p:nvPr/>
        </p:nvSpPr>
        <p:spPr bwMode="auto">
          <a:xfrm>
            <a:off x="2987675" y="6200775"/>
            <a:ext cx="30956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spcBef>
                <a:spcPct val="50000"/>
              </a:spcBef>
            </a:pPr>
            <a:endParaRPr lang="fr-FR" sz="1400">
              <a:sym typeface="Symbol" pitchFamily="18" charset="2"/>
            </a:endParaRPr>
          </a:p>
        </p:txBody>
      </p:sp>
      <p:sp>
        <p:nvSpPr>
          <p:cNvPr id="9" name="Text Box 40">
            <a:extLst>
              <a:ext uri="{FF2B5EF4-FFF2-40B4-BE49-F238E27FC236}">
                <a16:creationId xmlns:a16="http://schemas.microsoft.com/office/drawing/2014/main" id="{FD5093A3-421D-4DC0-B19D-FDD8AD9F225A}"/>
              </a:ext>
            </a:extLst>
          </p:cNvPr>
          <p:cNvSpPr txBox="1">
            <a:spLocks noChangeArrowheads="1"/>
          </p:cNvSpPr>
          <p:nvPr userDrawn="1"/>
        </p:nvSpPr>
        <p:spPr bwMode="auto">
          <a:xfrm>
            <a:off x="2987675" y="6200775"/>
            <a:ext cx="3095625" cy="304800"/>
          </a:xfrm>
          <a:prstGeom prst="rect">
            <a:avLst/>
          </a:prstGeom>
          <a:noFill/>
          <a:ln w="9525">
            <a:noFill/>
            <a:miter lim="800000"/>
            <a:headEnd/>
            <a:tailEnd/>
          </a:ln>
          <a:effectLst/>
        </p:spPr>
        <p:txBody>
          <a:bodyPr>
            <a:spAutoFit/>
          </a:bodyPr>
          <a:lstStyle/>
          <a:p>
            <a:pPr algn="ctr">
              <a:spcBef>
                <a:spcPct val="50000"/>
              </a:spcBef>
              <a:defRPr/>
            </a:pPr>
            <a:endParaRPr lang="fr-FR" sz="1400">
              <a:sym typeface="Symbol" pitchFamily="18" charset="2"/>
            </a:endParaRPr>
          </a:p>
        </p:txBody>
      </p:sp>
    </p:spTree>
    <p:extLst>
      <p:ext uri="{BB962C8B-B14F-4D97-AF65-F5344CB8AC3E}">
        <p14:creationId xmlns:p14="http://schemas.microsoft.com/office/powerpoint/2010/main" val="4271872296"/>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Lst>
  <p:hf hdr="0" ftr="0" dt="0"/>
  <p:txStyles>
    <p:titleStyle>
      <a:lvl1pPr algn="l" defTabSz="914400" rtl="0" eaLnBrk="1" latinLnBrk="0" hangingPunct="1">
        <a:spcBef>
          <a:spcPct val="0"/>
        </a:spcBef>
        <a:buNone/>
        <a:defRPr sz="4400" b="1" kern="1200">
          <a:solidFill>
            <a:schemeClr val="bg1"/>
          </a:solidFill>
          <a:effectLst>
            <a:outerShdw blurRad="38100" dist="38100" dir="2700000" algn="tl">
              <a:srgbClr val="000000">
                <a:alpha val="43137"/>
              </a:srgbClr>
            </a:outerShdw>
            <a:reflection blurRad="6350" stA="55000" endA="300" endPos="45500" dir="5400000" sy="-100000" algn="bl" rotWithShape="0"/>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3.png"/><Relationship Id="rId5" Type="http://schemas.openxmlformats.org/officeDocument/2006/relationships/slideLayout" Target="../slideLayouts/slideLayout2.xml"/><Relationship Id="rId4" Type="http://schemas.openxmlformats.org/officeDocument/2006/relationships/tags" Target="../tags/tag6.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1.xml"/><Relationship Id="rId7"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9"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17.xml"/><Relationship Id="rId7" Type="http://schemas.openxmlformats.org/officeDocument/2006/relationships/image" Target="../media/image6.png"/><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slideLayout" Target="../slideLayouts/slideLayout2.xml"/><Relationship Id="rId5" Type="http://schemas.openxmlformats.org/officeDocument/2006/relationships/tags" Target="../tags/tag19.xml"/><Relationship Id="rId4" Type="http://schemas.openxmlformats.org/officeDocument/2006/relationships/tags" Target="../tags/tag18.xml"/></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22.xml"/><Relationship Id="rId7" Type="http://schemas.openxmlformats.org/officeDocument/2006/relationships/image" Target="../media/image6.pn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Layout" Target="../slideLayouts/slideLayout2.xml"/><Relationship Id="rId5" Type="http://schemas.openxmlformats.org/officeDocument/2006/relationships/tags" Target="../tags/tag24.xml"/><Relationship Id="rId4" Type="http://schemas.openxmlformats.org/officeDocument/2006/relationships/tags" Target="../tags/tag23.xml"/></Relationships>
</file>

<file path=ppt/slides/_rels/slide7.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5" Type="http://schemas.openxmlformats.org/officeDocument/2006/relationships/hyperlink" Target="https://github.com/ardalis/cleanarchitecture" TargetMode="Externa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tags" Target="../tags/tag28.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2.xml"/><Relationship Id="rId1" Type="http://schemas.openxmlformats.org/officeDocument/2006/relationships/tags" Target="../tags/tag3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tags" Target="../tags/tag33.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tags" Target="../tags/tag39.xml"/><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tags" Target="../tags/tag42.xm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47.xml"/><Relationship Id="rId7" Type="http://schemas.openxmlformats.org/officeDocument/2006/relationships/tags" Target="../tags/tag51.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9"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3.xml"/><Relationship Id="rId1" Type="http://schemas.openxmlformats.org/officeDocument/2006/relationships/tags" Target="../tags/tag5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5.xml"/><Relationship Id="rId1" Type="http://schemas.openxmlformats.org/officeDocument/2006/relationships/tags" Target="../tags/tag54.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3.xml"/><Relationship Id="rId1" Type="http://schemas.openxmlformats.org/officeDocument/2006/relationships/tags" Target="../tags/tag62.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5.xml"/><Relationship Id="rId1" Type="http://schemas.openxmlformats.org/officeDocument/2006/relationships/tags" Target="../tags/tag64.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 Id="rId4"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 Id="rId4"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3.xml"/><Relationship Id="rId1" Type="http://schemas.openxmlformats.org/officeDocument/2006/relationships/tags" Target="../tags/tag72.xml"/><Relationship Id="rId4" Type="http://schemas.openxmlformats.org/officeDocument/2006/relationships/image" Target="../media/image13.wmf"/></Relationships>
</file>

<file path=ppt/slides/_rels/slide24.xml.rels><?xml version="1.0" encoding="UTF-8" standalone="yes"?>
<Relationships xmlns="http://schemas.openxmlformats.org/package/2006/relationships"><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tags" Target="../tags/tag74.xml"/><Relationship Id="rId5" Type="http://schemas.openxmlformats.org/officeDocument/2006/relationships/image" Target="../media/image14.png"/><Relationship Id="rId4"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7.xml"/><Relationship Id="rId1" Type="http://schemas.openxmlformats.org/officeDocument/2006/relationships/tags" Target="../tags/tag86.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 Id="rId4"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 Id="rId4"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5.xml"/><Relationship Id="rId1" Type="http://schemas.openxmlformats.org/officeDocument/2006/relationships/tags" Target="../tags/tag94.xml"/></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7.xml"/><Relationship Id="rId1" Type="http://schemas.openxmlformats.org/officeDocument/2006/relationships/tags" Target="../tags/tag96.xml"/><Relationship Id="rId5" Type="http://schemas.openxmlformats.org/officeDocument/2006/relationships/image" Target="../media/image5.png"/><Relationship Id="rId4" Type="http://schemas.openxmlformats.org/officeDocument/2006/relationships/image" Target="../media/image4.png"/></Relationships>
</file>

<file path=ppt/slides/_rels/slide9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00.xml"/><Relationship Id="rId7" Type="http://schemas.openxmlformats.org/officeDocument/2006/relationships/slideLayout" Target="../slideLayouts/slideLayout2.xml"/><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tags" Target="../tags/tag103.xml"/><Relationship Id="rId5" Type="http://schemas.openxmlformats.org/officeDocument/2006/relationships/tags" Target="../tags/tag102.xml"/><Relationship Id="rId4" Type="http://schemas.openxmlformats.org/officeDocument/2006/relationships/tags" Target="../tags/tag101.xml"/><Relationship Id="rId9" Type="http://schemas.openxmlformats.org/officeDocument/2006/relationships/image" Target="../media/image5.png"/></Relationships>
</file>

<file path=ppt/slides/_rels/slide9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5.xml"/><Relationship Id="rId1" Type="http://schemas.openxmlformats.org/officeDocument/2006/relationships/tags" Target="../tags/tag104.xml"/><Relationship Id="rId4" Type="http://schemas.openxmlformats.org/officeDocument/2006/relationships/image" Target="../media/image7.png"/></Relationships>
</file>

<file path=ppt/slides/_rels/slide94.xml.rels><?xml version="1.0" encoding="UTF-8" standalone="yes"?>
<Relationships xmlns="http://schemas.openxmlformats.org/package/2006/relationships"><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tags" Target="../tags/tag106.xml"/><Relationship Id="rId4"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 Id="rId4"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 Id="rId4"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 Id="rId4"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tags" Target="../tags/tag118.xml"/><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6"/>
          <p:cNvSpPr>
            <a:spLocks noGrp="1" noChangeArrowheads="1"/>
          </p:cNvSpPr>
          <p:nvPr>
            <p:ph type="ctrTitle"/>
            <p:custDataLst>
              <p:tags r:id="rId1"/>
            </p:custDataLst>
          </p:nvPr>
        </p:nvSpPr>
        <p:spPr>
          <a:xfrm>
            <a:off x="222325" y="762000"/>
            <a:ext cx="6797947" cy="2667000"/>
          </a:xfrm>
        </p:spPr>
        <p:txBody>
          <a:bodyPr>
            <a:normAutofit/>
          </a:bodyPr>
          <a:lstStyle/>
          <a:p>
            <a:r>
              <a:rPr lang="fr-CA" b="1" dirty="0"/>
              <a:t>Implémentation de l’architecture Clean</a:t>
            </a:r>
            <a:endParaRPr lang="en-US" dirty="0"/>
          </a:p>
        </p:txBody>
      </p:sp>
      <p:sp>
        <p:nvSpPr>
          <p:cNvPr id="8" name="Rectangle 7">
            <a:extLst>
              <a:ext uri="{FF2B5EF4-FFF2-40B4-BE49-F238E27FC236}">
                <a16:creationId xmlns:a16="http://schemas.microsoft.com/office/drawing/2014/main" id="{07121619-E532-4AC1-906D-91A76E2BA783}"/>
              </a:ext>
            </a:extLst>
          </p:cNvPr>
          <p:cNvSpPr>
            <a:spLocks noGrp="1" noChangeArrowheads="1"/>
          </p:cNvSpPr>
          <p:nvPr>
            <p:ph type="subTitle" idx="1"/>
            <p:custDataLst>
              <p:tags r:id="rId2"/>
            </p:custDataLst>
          </p:nvPr>
        </p:nvSpPr>
        <p:spPr>
          <a:xfrm>
            <a:off x="228600" y="3810000"/>
            <a:ext cx="8231832" cy="2133600"/>
          </a:xfrm>
        </p:spPr>
        <p:txBody>
          <a:bodyPr>
            <a:normAutofit/>
          </a:bodyPr>
          <a:lstStyle/>
          <a:p>
            <a:r>
              <a:rPr lang="fr-CA" dirty="0"/>
              <a:t>INF23207 </a:t>
            </a:r>
            <a:r>
              <a:rPr lang="fr-CA" dirty="0">
                <a:effectLst/>
              </a:rPr>
              <a:t>Génie logiciel II</a:t>
            </a:r>
          </a:p>
          <a:p>
            <a:r>
              <a:rPr lang="fr-CA" dirty="0"/>
              <a:t>8INF851 Génie logiciel</a:t>
            </a:r>
          </a:p>
          <a:p>
            <a:pPr algn="ctr"/>
            <a:r>
              <a:rPr lang="fr-CA" dirty="0"/>
              <a:t>				Ismaïl Khriss</a:t>
            </a:r>
            <a:endParaRPr lang="en-US" dirty="0"/>
          </a:p>
        </p:txBody>
      </p:sp>
    </p:spTree>
    <p:extLst>
      <p:ext uri="{BB962C8B-B14F-4D97-AF65-F5344CB8AC3E}">
        <p14:creationId xmlns:p14="http://schemas.microsoft.com/office/powerpoint/2010/main" val="2518765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lstStyle/>
          <a:p>
            <a:r>
              <a:rPr lang="fr-CA" altLang="fr-FR" dirty="0"/>
              <a:t>Plan</a:t>
            </a:r>
          </a:p>
        </p:txBody>
      </p:sp>
      <p:sp>
        <p:nvSpPr>
          <p:cNvPr id="4101" name="Rectangle 3"/>
          <p:cNvSpPr>
            <a:spLocks noGrp="1" noChangeArrowheads="1"/>
          </p:cNvSpPr>
          <p:nvPr>
            <p:ph idx="1"/>
            <p:custDataLst>
              <p:tags r:id="rId2"/>
            </p:custDataLst>
          </p:nvPr>
        </p:nvSpPr>
        <p:spPr>
          <a:xfrm>
            <a:off x="431540" y="1376772"/>
            <a:ext cx="8195828" cy="5400600"/>
          </a:xfrm>
        </p:spPr>
        <p:txBody>
          <a:bodyPr>
            <a:normAutofit/>
          </a:bodyPr>
          <a:lstStyle/>
          <a:p>
            <a:pPr eaLnBrk="1" hangingPunct="1"/>
            <a:r>
              <a:rPr lang="fr-CA" altLang="fr-FR" sz="2800" dirty="0"/>
              <a:t>Architecture de référence</a:t>
            </a:r>
          </a:p>
          <a:p>
            <a:pPr eaLnBrk="1" hangingPunct="1"/>
            <a:r>
              <a:rPr lang="fr-CA" altLang="fr-FR" sz="2800" dirty="0"/>
              <a:t>Création des projets des différentes couches incluant les tests unitaires et les tests d’intégration</a:t>
            </a:r>
          </a:p>
          <a:p>
            <a:pPr lvl="1"/>
            <a:endParaRPr lang="en-CA" altLang="fr-FR" sz="2400" dirty="0"/>
          </a:p>
        </p:txBody>
      </p:sp>
      <p:sp>
        <p:nvSpPr>
          <p:cNvPr id="4099" name="Espace réservé du numéro de diapositive 4"/>
          <p:cNvSpPr>
            <a:spLocks noGrp="1"/>
          </p:cNvSpPr>
          <p:nvPr>
            <p:ph type="sldNum" sz="quarter" idx="12"/>
            <p:custDataLst>
              <p:tags r:id="rId3"/>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2</a:t>
            </a:fld>
            <a:endParaRPr lang="en-US" altLang="en-US"/>
          </a:p>
        </p:txBody>
      </p:sp>
      <p:pic>
        <p:nvPicPr>
          <p:cNvPr id="5" name="Image 4">
            <a:extLst>
              <a:ext uri="{FF2B5EF4-FFF2-40B4-BE49-F238E27FC236}">
                <a16:creationId xmlns:a16="http://schemas.microsoft.com/office/drawing/2014/main" id="{9A0B243B-5038-4DA2-8C59-5BE1BE903D11}"/>
              </a:ext>
            </a:extLst>
          </p:cNvPr>
          <p:cNvPicPr>
            <a:picLocks noChangeAspect="1"/>
          </p:cNvPicPr>
          <p:nvPr>
            <p:custDataLst>
              <p:tags r:id="rId4"/>
            </p:custDataLst>
          </p:nvPr>
        </p:nvPicPr>
        <p:blipFill>
          <a:blip r:embed="rId6" cstate="print">
            <a:extLst>
              <a:ext uri="{28A0092B-C50C-407E-A947-70E740481C1C}">
                <a14:useLocalDpi xmlns:a14="http://schemas.microsoft.com/office/drawing/2010/main" val="0"/>
              </a:ext>
            </a:extLst>
          </a:blip>
          <a:stretch>
            <a:fillRect/>
          </a:stretch>
        </p:blipFill>
        <p:spPr>
          <a:xfrm>
            <a:off x="7272300" y="5119966"/>
            <a:ext cx="1433996" cy="143399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a:bodyPr>
          <a:lstStyle/>
          <a:p>
            <a:r>
              <a:rPr lang="fr-CA" dirty="0"/>
              <a:t>Rappel : Clean architecture</a:t>
            </a:r>
            <a:endParaRPr lang="fr-CA" sz="4400" dirty="0"/>
          </a:p>
        </p:txBody>
      </p:sp>
      <p:sp>
        <p:nvSpPr>
          <p:cNvPr id="4099" name="Espace réservé du numéro de diapositive 4"/>
          <p:cNvSpPr>
            <a:spLocks noGrp="1"/>
          </p:cNvSpPr>
          <p:nvPr>
            <p:ph type="sldNum" sz="quarter" idx="12"/>
            <p:custDataLst>
              <p:tags r:id="rId2"/>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3</a:t>
            </a:fld>
            <a:endParaRPr lang="en-US" altLang="en-US"/>
          </a:p>
        </p:txBody>
      </p:sp>
      <p:pic>
        <p:nvPicPr>
          <p:cNvPr id="7" name="Image 6">
            <a:extLst>
              <a:ext uri="{FF2B5EF4-FFF2-40B4-BE49-F238E27FC236}">
                <a16:creationId xmlns:a16="http://schemas.microsoft.com/office/drawing/2014/main" id="{153A20FA-439E-4F54-B3E6-5490A8000870}"/>
              </a:ext>
            </a:extLst>
          </p:cNvPr>
          <p:cNvPicPr>
            <a:picLocks noChangeAspect="1"/>
          </p:cNvPicPr>
          <p:nvPr/>
        </p:nvPicPr>
        <p:blipFill>
          <a:blip r:embed="rId4"/>
          <a:stretch>
            <a:fillRect/>
          </a:stretch>
        </p:blipFill>
        <p:spPr>
          <a:xfrm>
            <a:off x="683568" y="1772816"/>
            <a:ext cx="7148929" cy="3015726"/>
          </a:xfrm>
          <a:prstGeom prst="rect">
            <a:avLst/>
          </a:prstGeom>
        </p:spPr>
      </p:pic>
      <p:sp>
        <p:nvSpPr>
          <p:cNvPr id="8" name="ZoneTexte 6">
            <a:extLst>
              <a:ext uri="{FF2B5EF4-FFF2-40B4-BE49-F238E27FC236}">
                <a16:creationId xmlns:a16="http://schemas.microsoft.com/office/drawing/2014/main" id="{39050D79-D3D1-4DA2-A020-2A3B1ADA6279}"/>
              </a:ext>
            </a:extLst>
          </p:cNvPr>
          <p:cNvSpPr txBox="1"/>
          <p:nvPr/>
        </p:nvSpPr>
        <p:spPr>
          <a:xfrm>
            <a:off x="2476859" y="5393677"/>
            <a:ext cx="2145074" cy="461665"/>
          </a:xfrm>
          <a:prstGeom prst="rect">
            <a:avLst/>
          </a:prstGeom>
          <a:noFill/>
        </p:spPr>
        <p:txBody>
          <a:bodyPr wrap="none" rtlCol="0">
            <a:spAutoFit/>
          </a:bodyPr>
          <a:ls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CA" sz="2400" dirty="0"/>
              <a:t>Vue horizontale</a:t>
            </a:r>
          </a:p>
        </p:txBody>
      </p:sp>
      <p:pic>
        <p:nvPicPr>
          <p:cNvPr id="9" name="Image 8">
            <a:extLst>
              <a:ext uri="{FF2B5EF4-FFF2-40B4-BE49-F238E27FC236}">
                <a16:creationId xmlns:a16="http://schemas.microsoft.com/office/drawing/2014/main" id="{AFADA55B-97CB-4092-B5FF-4DD84C5B607E}"/>
              </a:ext>
            </a:extLst>
          </p:cNvPr>
          <p:cNvPicPr>
            <a:picLocks noChangeAspect="1"/>
          </p:cNvPicPr>
          <p:nvPr/>
        </p:nvPicPr>
        <p:blipFill>
          <a:blip r:embed="rId5"/>
          <a:stretch>
            <a:fillRect/>
          </a:stretch>
        </p:blipFill>
        <p:spPr>
          <a:xfrm>
            <a:off x="5514640" y="4822177"/>
            <a:ext cx="866775" cy="571500"/>
          </a:xfrm>
          <a:prstGeom prst="rect">
            <a:avLst/>
          </a:prstGeom>
        </p:spPr>
      </p:pic>
      <p:sp>
        <p:nvSpPr>
          <p:cNvPr id="10" name="ZoneTexte 9">
            <a:extLst>
              <a:ext uri="{FF2B5EF4-FFF2-40B4-BE49-F238E27FC236}">
                <a16:creationId xmlns:a16="http://schemas.microsoft.com/office/drawing/2014/main" id="{DF9B2ACF-7C2B-4CF7-8B57-409902610245}"/>
              </a:ext>
            </a:extLst>
          </p:cNvPr>
          <p:cNvSpPr txBox="1"/>
          <p:nvPr/>
        </p:nvSpPr>
        <p:spPr>
          <a:xfrm>
            <a:off x="6294258" y="5092741"/>
            <a:ext cx="2345579" cy="307777"/>
          </a:xfrm>
          <a:prstGeom prst="rect">
            <a:avLst/>
          </a:prstGeom>
          <a:noFill/>
        </p:spPr>
        <p:txBody>
          <a:bodyPr wrap="none" rtlCol="0">
            <a:spAutoFit/>
          </a:bodyPr>
          <a:ls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CA" sz="1400" dirty="0"/>
              <a:t>Dépendance à la compilation </a:t>
            </a:r>
          </a:p>
        </p:txBody>
      </p:sp>
      <p:sp>
        <p:nvSpPr>
          <p:cNvPr id="11" name="ZoneTexte 10">
            <a:extLst>
              <a:ext uri="{FF2B5EF4-FFF2-40B4-BE49-F238E27FC236}">
                <a16:creationId xmlns:a16="http://schemas.microsoft.com/office/drawing/2014/main" id="{FFDCF3EB-2548-46DB-8B97-CDB064680B32}"/>
              </a:ext>
            </a:extLst>
          </p:cNvPr>
          <p:cNvSpPr txBox="1"/>
          <p:nvPr/>
        </p:nvSpPr>
        <p:spPr>
          <a:xfrm>
            <a:off x="6294258" y="4884252"/>
            <a:ext cx="2097754" cy="307777"/>
          </a:xfrm>
          <a:prstGeom prst="rect">
            <a:avLst/>
          </a:prstGeom>
          <a:noFill/>
        </p:spPr>
        <p:txBody>
          <a:bodyPr wrap="none" rtlCol="0">
            <a:spAutoFit/>
          </a:bodyPr>
          <a:ls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CA" sz="1400" dirty="0"/>
              <a:t>Dépendance à l’exécution </a:t>
            </a:r>
          </a:p>
        </p:txBody>
      </p:sp>
    </p:spTree>
    <p:extLst>
      <p:ext uri="{BB962C8B-B14F-4D97-AF65-F5344CB8AC3E}">
        <p14:creationId xmlns:p14="http://schemas.microsoft.com/office/powerpoint/2010/main" val="2903024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fontScale="90000"/>
          </a:bodyPr>
          <a:lstStyle/>
          <a:p>
            <a:r>
              <a:rPr lang="fr-CA" dirty="0"/>
              <a:t>Architecture de référence pour le TP3</a:t>
            </a:r>
            <a:endParaRPr lang="fr-CA" sz="4400" dirty="0"/>
          </a:p>
        </p:txBody>
      </p:sp>
      <p:sp>
        <p:nvSpPr>
          <p:cNvPr id="4099" name="Espace réservé du numéro de diapositive 4"/>
          <p:cNvSpPr>
            <a:spLocks noGrp="1"/>
          </p:cNvSpPr>
          <p:nvPr>
            <p:ph type="sldNum" sz="quarter" idx="12"/>
            <p:custDataLst>
              <p:tags r:id="rId2"/>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4</a:t>
            </a:fld>
            <a:endParaRPr lang="en-US" altLang="en-US"/>
          </a:p>
        </p:txBody>
      </p:sp>
      <p:pic>
        <p:nvPicPr>
          <p:cNvPr id="20" name="Image 19">
            <a:extLst>
              <a:ext uri="{FF2B5EF4-FFF2-40B4-BE49-F238E27FC236}">
                <a16:creationId xmlns:a16="http://schemas.microsoft.com/office/drawing/2014/main" id="{D7F1892E-2AA5-4935-B542-E144BEC7036D}"/>
              </a:ext>
            </a:extLst>
          </p:cNvPr>
          <p:cNvPicPr>
            <a:picLocks noChangeAspect="1"/>
          </p:cNvPicPr>
          <p:nvPr>
            <p:custDataLst>
              <p:tags r:id="rId3"/>
            </p:custDataLst>
          </p:nvPr>
        </p:nvPicPr>
        <p:blipFill>
          <a:blip r:embed="rId8"/>
          <a:stretch>
            <a:fillRect/>
          </a:stretch>
        </p:blipFill>
        <p:spPr>
          <a:xfrm>
            <a:off x="467544" y="1628800"/>
            <a:ext cx="8087920" cy="3797805"/>
          </a:xfrm>
          <a:prstGeom prst="rect">
            <a:avLst/>
          </a:prstGeom>
        </p:spPr>
      </p:pic>
      <p:pic>
        <p:nvPicPr>
          <p:cNvPr id="21" name="Image 20">
            <a:extLst>
              <a:ext uri="{FF2B5EF4-FFF2-40B4-BE49-F238E27FC236}">
                <a16:creationId xmlns:a16="http://schemas.microsoft.com/office/drawing/2014/main" id="{4DEECCD3-ED55-475D-8812-06BC791F8A35}"/>
              </a:ext>
            </a:extLst>
          </p:cNvPr>
          <p:cNvPicPr>
            <a:picLocks noChangeAspect="1"/>
          </p:cNvPicPr>
          <p:nvPr>
            <p:custDataLst>
              <p:tags r:id="rId4"/>
            </p:custDataLst>
          </p:nvPr>
        </p:nvPicPr>
        <p:blipFill>
          <a:blip r:embed="rId9"/>
          <a:stretch>
            <a:fillRect/>
          </a:stretch>
        </p:blipFill>
        <p:spPr>
          <a:xfrm>
            <a:off x="5596198" y="5088379"/>
            <a:ext cx="866775" cy="571500"/>
          </a:xfrm>
          <a:prstGeom prst="rect">
            <a:avLst/>
          </a:prstGeom>
        </p:spPr>
      </p:pic>
      <p:sp>
        <p:nvSpPr>
          <p:cNvPr id="22" name="ZoneTexte 21">
            <a:extLst>
              <a:ext uri="{FF2B5EF4-FFF2-40B4-BE49-F238E27FC236}">
                <a16:creationId xmlns:a16="http://schemas.microsoft.com/office/drawing/2014/main" id="{6B550BD0-3E1E-4ABA-B530-FCEB091E5A56}"/>
              </a:ext>
            </a:extLst>
          </p:cNvPr>
          <p:cNvSpPr txBox="1"/>
          <p:nvPr>
            <p:custDataLst>
              <p:tags r:id="rId5"/>
            </p:custDataLst>
          </p:nvPr>
        </p:nvSpPr>
        <p:spPr>
          <a:xfrm>
            <a:off x="6375816" y="5358943"/>
            <a:ext cx="2345579" cy="307777"/>
          </a:xfrm>
          <a:prstGeom prst="rect">
            <a:avLst/>
          </a:prstGeom>
          <a:noFill/>
        </p:spPr>
        <p:txBody>
          <a:bodyPr wrap="none" rtlCol="0">
            <a:spAutoFit/>
          </a:bodyPr>
          <a:lstStyle/>
          <a:p>
            <a:r>
              <a:rPr lang="fr-CA" sz="1400" dirty="0"/>
              <a:t>Dépendance à la compilation </a:t>
            </a:r>
          </a:p>
        </p:txBody>
      </p:sp>
      <p:sp>
        <p:nvSpPr>
          <p:cNvPr id="23" name="ZoneTexte 22">
            <a:extLst>
              <a:ext uri="{FF2B5EF4-FFF2-40B4-BE49-F238E27FC236}">
                <a16:creationId xmlns:a16="http://schemas.microsoft.com/office/drawing/2014/main" id="{EA280A72-32B7-4231-8D85-5278B7BB2CA5}"/>
              </a:ext>
            </a:extLst>
          </p:cNvPr>
          <p:cNvSpPr txBox="1"/>
          <p:nvPr>
            <p:custDataLst>
              <p:tags r:id="rId6"/>
            </p:custDataLst>
          </p:nvPr>
        </p:nvSpPr>
        <p:spPr>
          <a:xfrm>
            <a:off x="6375816" y="5150454"/>
            <a:ext cx="2097754" cy="307777"/>
          </a:xfrm>
          <a:prstGeom prst="rect">
            <a:avLst/>
          </a:prstGeom>
          <a:noFill/>
        </p:spPr>
        <p:txBody>
          <a:bodyPr wrap="none" rtlCol="0">
            <a:spAutoFit/>
          </a:bodyPr>
          <a:lstStyle/>
          <a:p>
            <a:r>
              <a:rPr lang="fr-CA" sz="1400" dirty="0"/>
              <a:t>Dépendance à l’exécution </a:t>
            </a:r>
          </a:p>
        </p:txBody>
      </p:sp>
      <p:grpSp>
        <p:nvGrpSpPr>
          <p:cNvPr id="2" name="Groupe 1">
            <a:extLst>
              <a:ext uri="{FF2B5EF4-FFF2-40B4-BE49-F238E27FC236}">
                <a16:creationId xmlns:a16="http://schemas.microsoft.com/office/drawing/2014/main" id="{B098D4A5-7254-4F20-A583-E88434785CF3}"/>
              </a:ext>
            </a:extLst>
          </p:cNvPr>
          <p:cNvGrpSpPr/>
          <p:nvPr/>
        </p:nvGrpSpPr>
        <p:grpSpPr>
          <a:xfrm>
            <a:off x="702984" y="2025096"/>
            <a:ext cx="2849732" cy="1142394"/>
            <a:chOff x="702984" y="2025096"/>
            <a:chExt cx="2849732" cy="1142394"/>
          </a:xfrm>
        </p:grpSpPr>
        <p:sp>
          <p:nvSpPr>
            <p:cNvPr id="25" name="ZoneTexte 24">
              <a:extLst>
                <a:ext uri="{FF2B5EF4-FFF2-40B4-BE49-F238E27FC236}">
                  <a16:creationId xmlns:a16="http://schemas.microsoft.com/office/drawing/2014/main" id="{A0807D09-D5E8-445F-9557-6B47ABB4CC8E}"/>
                </a:ext>
              </a:extLst>
            </p:cNvPr>
            <p:cNvSpPr txBox="1"/>
            <p:nvPr/>
          </p:nvSpPr>
          <p:spPr>
            <a:xfrm>
              <a:off x="702984" y="2025096"/>
              <a:ext cx="2849732" cy="656947"/>
            </a:xfrm>
            <a:prstGeom prst="rect">
              <a:avLst/>
            </a:prstGeom>
            <a:solidFill>
              <a:schemeClr val="bg1"/>
            </a:solidFill>
          </p:spPr>
          <p:txBody>
            <a:bodyPr wrap="square" rtlCol="0">
              <a:spAutoFit/>
            </a:bodyPr>
            <a:lstStyle/>
            <a:p>
              <a:endParaRPr lang="fr-CA" dirty="0"/>
            </a:p>
          </p:txBody>
        </p:sp>
        <p:sp>
          <p:nvSpPr>
            <p:cNvPr id="26" name="ZoneTexte 25">
              <a:extLst>
                <a:ext uri="{FF2B5EF4-FFF2-40B4-BE49-F238E27FC236}">
                  <a16:creationId xmlns:a16="http://schemas.microsoft.com/office/drawing/2014/main" id="{7140D3D4-D14D-4194-A828-83299645185C}"/>
                </a:ext>
              </a:extLst>
            </p:cNvPr>
            <p:cNvSpPr txBox="1"/>
            <p:nvPr/>
          </p:nvSpPr>
          <p:spPr>
            <a:xfrm>
              <a:off x="702984" y="2510543"/>
              <a:ext cx="1908699" cy="656947"/>
            </a:xfrm>
            <a:prstGeom prst="rect">
              <a:avLst/>
            </a:prstGeom>
            <a:solidFill>
              <a:schemeClr val="bg1"/>
            </a:solidFill>
          </p:spPr>
          <p:txBody>
            <a:bodyPr wrap="square" rtlCol="0">
              <a:spAutoFit/>
            </a:bodyPr>
            <a:lstStyle/>
            <a:p>
              <a:endParaRPr lang="fr-CA" dirty="0"/>
            </a:p>
          </p:txBody>
        </p:sp>
        <p:sp>
          <p:nvSpPr>
            <p:cNvPr id="27" name="Rectangle : coins arrondis 26">
              <a:extLst>
                <a:ext uri="{FF2B5EF4-FFF2-40B4-BE49-F238E27FC236}">
                  <a16:creationId xmlns:a16="http://schemas.microsoft.com/office/drawing/2014/main" id="{508E2D61-192C-44E8-B09B-5ECEBFB9CD2F}"/>
                </a:ext>
              </a:extLst>
            </p:cNvPr>
            <p:cNvSpPr/>
            <p:nvPr/>
          </p:nvSpPr>
          <p:spPr>
            <a:xfrm>
              <a:off x="1257097" y="2417423"/>
              <a:ext cx="1620175" cy="352282"/>
            </a:xfrm>
            <a:prstGeom prst="roundRect">
              <a:avLst/>
            </a:prstGeom>
            <a:solidFill>
              <a:schemeClr val="accent1">
                <a:lumMod val="60000"/>
                <a:lumOff val="4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1400" dirty="0"/>
                <a:t>Forms</a:t>
              </a:r>
            </a:p>
          </p:txBody>
        </p:sp>
      </p:grpSp>
      <p:sp>
        <p:nvSpPr>
          <p:cNvPr id="28" name="ZoneTexte 27">
            <a:extLst>
              <a:ext uri="{FF2B5EF4-FFF2-40B4-BE49-F238E27FC236}">
                <a16:creationId xmlns:a16="http://schemas.microsoft.com/office/drawing/2014/main" id="{F3A16A11-A9C8-41F4-8AA2-660F8EE8296B}"/>
              </a:ext>
            </a:extLst>
          </p:cNvPr>
          <p:cNvSpPr txBox="1"/>
          <p:nvPr/>
        </p:nvSpPr>
        <p:spPr>
          <a:xfrm>
            <a:off x="824312" y="1636436"/>
            <a:ext cx="2849732" cy="246221"/>
          </a:xfrm>
          <a:prstGeom prst="rect">
            <a:avLst/>
          </a:prstGeom>
          <a:solidFill>
            <a:schemeClr val="bg1"/>
          </a:solidFill>
        </p:spPr>
        <p:txBody>
          <a:bodyPr wrap="square" rtlCol="0">
            <a:spAutoFit/>
          </a:bodyPr>
          <a:lstStyle/>
          <a:p>
            <a:endParaRPr lang="fr-CA" sz="1000" dirty="0"/>
          </a:p>
        </p:txBody>
      </p:sp>
      <p:sp>
        <p:nvSpPr>
          <p:cNvPr id="29" name="ZoneTexte 28">
            <a:extLst>
              <a:ext uri="{FF2B5EF4-FFF2-40B4-BE49-F238E27FC236}">
                <a16:creationId xmlns:a16="http://schemas.microsoft.com/office/drawing/2014/main" id="{2CF8BB4C-DCCE-4B21-B309-D40FE47E4894}"/>
              </a:ext>
            </a:extLst>
          </p:cNvPr>
          <p:cNvSpPr txBox="1"/>
          <p:nvPr/>
        </p:nvSpPr>
        <p:spPr>
          <a:xfrm>
            <a:off x="824312" y="1628800"/>
            <a:ext cx="2485747" cy="307777"/>
          </a:xfrm>
          <a:prstGeom prst="rect">
            <a:avLst/>
          </a:prstGeom>
          <a:noFill/>
        </p:spPr>
        <p:txBody>
          <a:bodyPr wrap="square" rtlCol="0">
            <a:spAutoFit/>
          </a:bodyPr>
          <a:lstStyle/>
          <a:p>
            <a:r>
              <a:rPr lang="fr-CA" sz="1400" dirty="0">
                <a:solidFill>
                  <a:srgbClr val="3399FF"/>
                </a:solidFill>
              </a:rPr>
              <a:t>Windows Forms App</a:t>
            </a:r>
          </a:p>
        </p:txBody>
      </p:sp>
    </p:spTree>
    <p:extLst>
      <p:ext uri="{BB962C8B-B14F-4D97-AF65-F5344CB8AC3E}">
        <p14:creationId xmlns:p14="http://schemas.microsoft.com/office/powerpoint/2010/main" val="1439584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Espace réservé du numéro de diapositive 4"/>
          <p:cNvSpPr>
            <a:spLocks noGrp="1"/>
          </p:cNvSpPr>
          <p:nvPr>
            <p:ph type="sldNum" sz="quarter" idx="12"/>
            <p:custDataLst>
              <p:tags r:id="rId1"/>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5</a:t>
            </a:fld>
            <a:endParaRPr lang="en-US" altLang="en-US"/>
          </a:p>
        </p:txBody>
      </p:sp>
      <p:sp>
        <p:nvSpPr>
          <p:cNvPr id="3" name="Titre 2">
            <a:extLst>
              <a:ext uri="{FF2B5EF4-FFF2-40B4-BE49-F238E27FC236}">
                <a16:creationId xmlns:a16="http://schemas.microsoft.com/office/drawing/2014/main" id="{B1C4F7C9-2674-4CFF-A1E1-2DFC877728ED}"/>
              </a:ext>
            </a:extLst>
          </p:cNvPr>
          <p:cNvSpPr>
            <a:spLocks noGrp="1"/>
          </p:cNvSpPr>
          <p:nvPr>
            <p:ph type="title"/>
          </p:nvPr>
        </p:nvSpPr>
        <p:spPr/>
        <p:txBody>
          <a:bodyPr>
            <a:normAutofit fontScale="90000"/>
          </a:bodyPr>
          <a:lstStyle/>
          <a:p>
            <a:r>
              <a:rPr lang="fr-CA" dirty="0"/>
              <a:t>Autres types d’architecture de référence (cours INF37607)</a:t>
            </a:r>
          </a:p>
        </p:txBody>
      </p:sp>
      <p:pic>
        <p:nvPicPr>
          <p:cNvPr id="8" name="Image 7">
            <a:extLst>
              <a:ext uri="{FF2B5EF4-FFF2-40B4-BE49-F238E27FC236}">
                <a16:creationId xmlns:a16="http://schemas.microsoft.com/office/drawing/2014/main" id="{25CDBA2B-9659-4F62-A03A-3D68110DEB7B}"/>
              </a:ext>
            </a:extLst>
          </p:cNvPr>
          <p:cNvPicPr>
            <a:picLocks noChangeAspect="1"/>
          </p:cNvPicPr>
          <p:nvPr>
            <p:custDataLst>
              <p:tags r:id="rId2"/>
            </p:custDataLst>
          </p:nvPr>
        </p:nvPicPr>
        <p:blipFill>
          <a:blip r:embed="rId7"/>
          <a:stretch>
            <a:fillRect/>
          </a:stretch>
        </p:blipFill>
        <p:spPr>
          <a:xfrm>
            <a:off x="503548" y="1808820"/>
            <a:ext cx="8087920" cy="3797805"/>
          </a:xfrm>
          <a:prstGeom prst="rect">
            <a:avLst/>
          </a:prstGeom>
        </p:spPr>
      </p:pic>
      <p:pic>
        <p:nvPicPr>
          <p:cNvPr id="9" name="Image 8">
            <a:extLst>
              <a:ext uri="{FF2B5EF4-FFF2-40B4-BE49-F238E27FC236}">
                <a16:creationId xmlns:a16="http://schemas.microsoft.com/office/drawing/2014/main" id="{3B25E2D8-2A59-48BC-8CF6-527C43BBCDF8}"/>
              </a:ext>
            </a:extLst>
          </p:cNvPr>
          <p:cNvPicPr>
            <a:picLocks noChangeAspect="1"/>
          </p:cNvPicPr>
          <p:nvPr>
            <p:custDataLst>
              <p:tags r:id="rId3"/>
            </p:custDataLst>
          </p:nvPr>
        </p:nvPicPr>
        <p:blipFill>
          <a:blip r:embed="rId8"/>
          <a:stretch>
            <a:fillRect/>
          </a:stretch>
        </p:blipFill>
        <p:spPr>
          <a:xfrm>
            <a:off x="5632202" y="5268399"/>
            <a:ext cx="866775" cy="571500"/>
          </a:xfrm>
          <a:prstGeom prst="rect">
            <a:avLst/>
          </a:prstGeom>
        </p:spPr>
      </p:pic>
      <p:sp>
        <p:nvSpPr>
          <p:cNvPr id="10" name="ZoneTexte 9">
            <a:extLst>
              <a:ext uri="{FF2B5EF4-FFF2-40B4-BE49-F238E27FC236}">
                <a16:creationId xmlns:a16="http://schemas.microsoft.com/office/drawing/2014/main" id="{6E35743C-C53F-4E83-A81E-B179D23CB588}"/>
              </a:ext>
            </a:extLst>
          </p:cNvPr>
          <p:cNvSpPr txBox="1"/>
          <p:nvPr>
            <p:custDataLst>
              <p:tags r:id="rId4"/>
            </p:custDataLst>
          </p:nvPr>
        </p:nvSpPr>
        <p:spPr>
          <a:xfrm>
            <a:off x="6411820" y="5538963"/>
            <a:ext cx="2345579" cy="307777"/>
          </a:xfrm>
          <a:prstGeom prst="rect">
            <a:avLst/>
          </a:prstGeom>
          <a:noFill/>
        </p:spPr>
        <p:txBody>
          <a:bodyPr wrap="none" rtlCol="0">
            <a:spAutoFit/>
          </a:bodyPr>
          <a:lstStyle/>
          <a:p>
            <a:r>
              <a:rPr lang="fr-CA" sz="1400" dirty="0"/>
              <a:t>Dépendance à la compilation </a:t>
            </a:r>
          </a:p>
        </p:txBody>
      </p:sp>
      <p:sp>
        <p:nvSpPr>
          <p:cNvPr id="11" name="ZoneTexte 10">
            <a:extLst>
              <a:ext uri="{FF2B5EF4-FFF2-40B4-BE49-F238E27FC236}">
                <a16:creationId xmlns:a16="http://schemas.microsoft.com/office/drawing/2014/main" id="{A403FE8A-E828-4A00-8AD9-1AEA3980E524}"/>
              </a:ext>
            </a:extLst>
          </p:cNvPr>
          <p:cNvSpPr txBox="1"/>
          <p:nvPr>
            <p:custDataLst>
              <p:tags r:id="rId5"/>
            </p:custDataLst>
          </p:nvPr>
        </p:nvSpPr>
        <p:spPr>
          <a:xfrm>
            <a:off x="6411820" y="5330474"/>
            <a:ext cx="2097754" cy="307777"/>
          </a:xfrm>
          <a:prstGeom prst="rect">
            <a:avLst/>
          </a:prstGeom>
          <a:noFill/>
        </p:spPr>
        <p:txBody>
          <a:bodyPr wrap="none" rtlCol="0">
            <a:spAutoFit/>
          </a:bodyPr>
          <a:lstStyle/>
          <a:p>
            <a:r>
              <a:rPr lang="fr-CA" sz="1400" dirty="0"/>
              <a:t>Dépendance à l’exécution </a:t>
            </a:r>
          </a:p>
        </p:txBody>
      </p:sp>
      <p:grpSp>
        <p:nvGrpSpPr>
          <p:cNvPr id="5" name="Groupe 4">
            <a:extLst>
              <a:ext uri="{FF2B5EF4-FFF2-40B4-BE49-F238E27FC236}">
                <a16:creationId xmlns:a16="http://schemas.microsoft.com/office/drawing/2014/main" id="{AE5CAE86-04E9-4787-87BD-04255A54BB46}"/>
              </a:ext>
            </a:extLst>
          </p:cNvPr>
          <p:cNvGrpSpPr/>
          <p:nvPr/>
        </p:nvGrpSpPr>
        <p:grpSpPr>
          <a:xfrm>
            <a:off x="747865" y="2206627"/>
            <a:ext cx="2849732" cy="1142394"/>
            <a:chOff x="747865" y="2206627"/>
            <a:chExt cx="2849732" cy="1142394"/>
          </a:xfrm>
        </p:grpSpPr>
        <p:sp>
          <p:nvSpPr>
            <p:cNvPr id="13" name="ZoneTexte 12">
              <a:extLst>
                <a:ext uri="{FF2B5EF4-FFF2-40B4-BE49-F238E27FC236}">
                  <a16:creationId xmlns:a16="http://schemas.microsoft.com/office/drawing/2014/main" id="{BCA05888-1828-4780-9AD9-CB67508D2BC8}"/>
                </a:ext>
              </a:extLst>
            </p:cNvPr>
            <p:cNvSpPr txBox="1"/>
            <p:nvPr/>
          </p:nvSpPr>
          <p:spPr>
            <a:xfrm>
              <a:off x="747865" y="2206627"/>
              <a:ext cx="2849732" cy="656947"/>
            </a:xfrm>
            <a:prstGeom prst="rect">
              <a:avLst/>
            </a:prstGeom>
            <a:solidFill>
              <a:schemeClr val="bg1"/>
            </a:solidFill>
          </p:spPr>
          <p:txBody>
            <a:bodyPr wrap="square" rtlCol="0">
              <a:spAutoFit/>
            </a:bodyPr>
            <a:lstStyle/>
            <a:p>
              <a:endParaRPr lang="fr-CA" dirty="0"/>
            </a:p>
          </p:txBody>
        </p:sp>
        <p:sp>
          <p:nvSpPr>
            <p:cNvPr id="14" name="ZoneTexte 13">
              <a:extLst>
                <a:ext uri="{FF2B5EF4-FFF2-40B4-BE49-F238E27FC236}">
                  <a16:creationId xmlns:a16="http://schemas.microsoft.com/office/drawing/2014/main" id="{F552ABBA-0EFA-4BD2-9CE4-57BD883BC35F}"/>
                </a:ext>
              </a:extLst>
            </p:cNvPr>
            <p:cNvSpPr txBox="1"/>
            <p:nvPr/>
          </p:nvSpPr>
          <p:spPr>
            <a:xfrm>
              <a:off x="747865" y="2692074"/>
              <a:ext cx="1908699" cy="656947"/>
            </a:xfrm>
            <a:prstGeom prst="rect">
              <a:avLst/>
            </a:prstGeom>
            <a:solidFill>
              <a:schemeClr val="bg1"/>
            </a:solidFill>
          </p:spPr>
          <p:txBody>
            <a:bodyPr wrap="square" rtlCol="0">
              <a:spAutoFit/>
            </a:bodyPr>
            <a:lstStyle/>
            <a:p>
              <a:endParaRPr lang="fr-CA" dirty="0"/>
            </a:p>
          </p:txBody>
        </p:sp>
        <p:sp>
          <p:nvSpPr>
            <p:cNvPr id="15" name="Rectangle : coins arrondis 14">
              <a:extLst>
                <a:ext uri="{FF2B5EF4-FFF2-40B4-BE49-F238E27FC236}">
                  <a16:creationId xmlns:a16="http://schemas.microsoft.com/office/drawing/2014/main" id="{6DE06CC7-3677-4B80-AC95-636E2DFB99D2}"/>
                </a:ext>
              </a:extLst>
            </p:cNvPr>
            <p:cNvSpPr/>
            <p:nvPr/>
          </p:nvSpPr>
          <p:spPr>
            <a:xfrm>
              <a:off x="2150537" y="2317030"/>
              <a:ext cx="1012054" cy="352282"/>
            </a:xfrm>
            <a:prstGeom prst="roundRect">
              <a:avLst/>
            </a:prstGeom>
            <a:solidFill>
              <a:schemeClr val="accent1">
                <a:lumMod val="60000"/>
                <a:lumOff val="4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400" dirty="0"/>
                <a:t>Filters</a:t>
              </a:r>
            </a:p>
          </p:txBody>
        </p:sp>
        <p:sp>
          <p:nvSpPr>
            <p:cNvPr id="16" name="Rectangle : coins arrondis 15">
              <a:extLst>
                <a:ext uri="{FF2B5EF4-FFF2-40B4-BE49-F238E27FC236}">
                  <a16:creationId xmlns:a16="http://schemas.microsoft.com/office/drawing/2014/main" id="{ACCD049F-80E1-4B94-A2B8-4CF73517AB50}"/>
                </a:ext>
              </a:extLst>
            </p:cNvPr>
            <p:cNvSpPr/>
            <p:nvPr/>
          </p:nvSpPr>
          <p:spPr>
            <a:xfrm>
              <a:off x="838121" y="2317030"/>
              <a:ext cx="1012054" cy="352282"/>
            </a:xfrm>
            <a:prstGeom prst="roundRect">
              <a:avLst/>
            </a:prstGeom>
            <a:solidFill>
              <a:schemeClr val="accent1">
                <a:lumMod val="60000"/>
                <a:lumOff val="4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1400" dirty="0"/>
                <a:t>Pages</a:t>
              </a:r>
            </a:p>
          </p:txBody>
        </p:sp>
        <p:sp>
          <p:nvSpPr>
            <p:cNvPr id="17" name="Rectangle : coins arrondis 16">
              <a:extLst>
                <a:ext uri="{FF2B5EF4-FFF2-40B4-BE49-F238E27FC236}">
                  <a16:creationId xmlns:a16="http://schemas.microsoft.com/office/drawing/2014/main" id="{4D009136-54CD-4FB9-8C38-DF731C5AC98B}"/>
                </a:ext>
              </a:extLst>
            </p:cNvPr>
            <p:cNvSpPr/>
            <p:nvPr/>
          </p:nvSpPr>
          <p:spPr>
            <a:xfrm>
              <a:off x="838121" y="2844406"/>
              <a:ext cx="1012054" cy="352282"/>
            </a:xfrm>
            <a:prstGeom prst="roundRect">
              <a:avLst/>
            </a:prstGeom>
            <a:solidFill>
              <a:schemeClr val="accent1">
                <a:lumMod val="60000"/>
                <a:lumOff val="4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1400" dirty="0"/>
                <a:t>Handlers</a:t>
              </a:r>
            </a:p>
          </p:txBody>
        </p:sp>
        <p:sp>
          <p:nvSpPr>
            <p:cNvPr id="18" name="Rectangle : coins arrondis 17">
              <a:extLst>
                <a:ext uri="{FF2B5EF4-FFF2-40B4-BE49-F238E27FC236}">
                  <a16:creationId xmlns:a16="http://schemas.microsoft.com/office/drawing/2014/main" id="{C1EF11EE-9C69-40BC-9D59-88C3921AD865}"/>
                </a:ext>
              </a:extLst>
            </p:cNvPr>
            <p:cNvSpPr/>
            <p:nvPr/>
          </p:nvSpPr>
          <p:spPr>
            <a:xfrm>
              <a:off x="2094492" y="2846349"/>
              <a:ext cx="1032589" cy="352282"/>
            </a:xfrm>
            <a:prstGeom prst="roundRect">
              <a:avLst/>
            </a:prstGeom>
            <a:solidFill>
              <a:schemeClr val="accent1">
                <a:lumMod val="60000"/>
                <a:lumOff val="4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400" dirty="0"/>
                <a:t>Commands</a:t>
              </a:r>
            </a:p>
          </p:txBody>
        </p:sp>
      </p:grpSp>
      <p:sp>
        <p:nvSpPr>
          <p:cNvPr id="19" name="ZoneTexte 18">
            <a:extLst>
              <a:ext uri="{FF2B5EF4-FFF2-40B4-BE49-F238E27FC236}">
                <a16:creationId xmlns:a16="http://schemas.microsoft.com/office/drawing/2014/main" id="{C494B62E-0226-46ED-BAA2-7C802FDF2B39}"/>
              </a:ext>
            </a:extLst>
          </p:cNvPr>
          <p:cNvSpPr txBox="1"/>
          <p:nvPr/>
        </p:nvSpPr>
        <p:spPr>
          <a:xfrm>
            <a:off x="869193" y="1817967"/>
            <a:ext cx="2849732" cy="246221"/>
          </a:xfrm>
          <a:prstGeom prst="rect">
            <a:avLst/>
          </a:prstGeom>
          <a:solidFill>
            <a:schemeClr val="bg1"/>
          </a:solidFill>
        </p:spPr>
        <p:txBody>
          <a:bodyPr wrap="square" rtlCol="0">
            <a:spAutoFit/>
          </a:bodyPr>
          <a:lstStyle/>
          <a:p>
            <a:endParaRPr lang="fr-CA" sz="1000" dirty="0"/>
          </a:p>
        </p:txBody>
      </p:sp>
      <p:sp>
        <p:nvSpPr>
          <p:cNvPr id="20" name="ZoneTexte 19">
            <a:extLst>
              <a:ext uri="{FF2B5EF4-FFF2-40B4-BE49-F238E27FC236}">
                <a16:creationId xmlns:a16="http://schemas.microsoft.com/office/drawing/2014/main" id="{3FC18883-6D39-4D96-BF91-178E279A58A3}"/>
              </a:ext>
            </a:extLst>
          </p:cNvPr>
          <p:cNvSpPr txBox="1"/>
          <p:nvPr/>
        </p:nvSpPr>
        <p:spPr>
          <a:xfrm>
            <a:off x="1233177" y="1810331"/>
            <a:ext cx="2121763" cy="307777"/>
          </a:xfrm>
          <a:prstGeom prst="rect">
            <a:avLst/>
          </a:prstGeom>
          <a:noFill/>
        </p:spPr>
        <p:txBody>
          <a:bodyPr wrap="square" rtlCol="0">
            <a:spAutoFit/>
          </a:bodyPr>
          <a:lstStyle/>
          <a:p>
            <a:r>
              <a:rPr lang="fr-CA" sz="1400" dirty="0" err="1">
                <a:solidFill>
                  <a:srgbClr val="3399FF"/>
                </a:solidFill>
              </a:rPr>
              <a:t>ASP.Net</a:t>
            </a:r>
            <a:r>
              <a:rPr lang="fr-CA" sz="1400" dirty="0">
                <a:solidFill>
                  <a:srgbClr val="3399FF"/>
                </a:solidFill>
              </a:rPr>
              <a:t> Web App</a:t>
            </a:r>
          </a:p>
        </p:txBody>
      </p:sp>
    </p:spTree>
    <p:extLst>
      <p:ext uri="{BB962C8B-B14F-4D97-AF65-F5344CB8AC3E}">
        <p14:creationId xmlns:p14="http://schemas.microsoft.com/office/powerpoint/2010/main" val="625158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Espace réservé du numéro de diapositive 4"/>
          <p:cNvSpPr>
            <a:spLocks noGrp="1"/>
          </p:cNvSpPr>
          <p:nvPr>
            <p:ph type="sldNum" sz="quarter" idx="12"/>
            <p:custDataLst>
              <p:tags r:id="rId1"/>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6</a:t>
            </a:fld>
            <a:endParaRPr lang="en-US" altLang="en-US"/>
          </a:p>
        </p:txBody>
      </p:sp>
      <p:sp>
        <p:nvSpPr>
          <p:cNvPr id="3" name="Titre 2">
            <a:extLst>
              <a:ext uri="{FF2B5EF4-FFF2-40B4-BE49-F238E27FC236}">
                <a16:creationId xmlns:a16="http://schemas.microsoft.com/office/drawing/2014/main" id="{B1C4F7C9-2674-4CFF-A1E1-2DFC877728ED}"/>
              </a:ext>
            </a:extLst>
          </p:cNvPr>
          <p:cNvSpPr>
            <a:spLocks noGrp="1"/>
          </p:cNvSpPr>
          <p:nvPr>
            <p:ph type="title"/>
          </p:nvPr>
        </p:nvSpPr>
        <p:spPr/>
        <p:txBody>
          <a:bodyPr>
            <a:normAutofit fontScale="90000"/>
          </a:bodyPr>
          <a:lstStyle/>
          <a:p>
            <a:r>
              <a:rPr lang="fr-CA" dirty="0"/>
              <a:t>Autres types d’architecture de référence (cours INF37607)</a:t>
            </a:r>
          </a:p>
        </p:txBody>
      </p:sp>
      <p:pic>
        <p:nvPicPr>
          <p:cNvPr id="4" name="Image 3">
            <a:extLst>
              <a:ext uri="{FF2B5EF4-FFF2-40B4-BE49-F238E27FC236}">
                <a16:creationId xmlns:a16="http://schemas.microsoft.com/office/drawing/2014/main" id="{17A222E0-5980-4A2E-A5FE-A85BEF0D8AF7}"/>
              </a:ext>
            </a:extLst>
          </p:cNvPr>
          <p:cNvPicPr>
            <a:picLocks noChangeAspect="1"/>
          </p:cNvPicPr>
          <p:nvPr>
            <p:custDataLst>
              <p:tags r:id="rId2"/>
            </p:custDataLst>
          </p:nvPr>
        </p:nvPicPr>
        <p:blipFill>
          <a:blip r:embed="rId7"/>
          <a:stretch>
            <a:fillRect/>
          </a:stretch>
        </p:blipFill>
        <p:spPr>
          <a:xfrm>
            <a:off x="827584" y="1952836"/>
            <a:ext cx="7639416" cy="3797805"/>
          </a:xfrm>
          <a:prstGeom prst="rect">
            <a:avLst/>
          </a:prstGeom>
        </p:spPr>
      </p:pic>
      <p:pic>
        <p:nvPicPr>
          <p:cNvPr id="5" name="Image 4">
            <a:extLst>
              <a:ext uri="{FF2B5EF4-FFF2-40B4-BE49-F238E27FC236}">
                <a16:creationId xmlns:a16="http://schemas.microsoft.com/office/drawing/2014/main" id="{047B6588-6452-48EA-9290-7A1E3A86BB61}"/>
              </a:ext>
            </a:extLst>
          </p:cNvPr>
          <p:cNvPicPr>
            <a:picLocks noChangeAspect="1"/>
          </p:cNvPicPr>
          <p:nvPr>
            <p:custDataLst>
              <p:tags r:id="rId3"/>
            </p:custDataLst>
          </p:nvPr>
        </p:nvPicPr>
        <p:blipFill>
          <a:blip r:embed="rId8"/>
          <a:stretch>
            <a:fillRect/>
          </a:stretch>
        </p:blipFill>
        <p:spPr>
          <a:xfrm>
            <a:off x="5507734" y="5412415"/>
            <a:ext cx="866775" cy="571500"/>
          </a:xfrm>
          <a:prstGeom prst="rect">
            <a:avLst/>
          </a:prstGeom>
        </p:spPr>
      </p:pic>
      <p:sp>
        <p:nvSpPr>
          <p:cNvPr id="6" name="ZoneTexte 5">
            <a:extLst>
              <a:ext uri="{FF2B5EF4-FFF2-40B4-BE49-F238E27FC236}">
                <a16:creationId xmlns:a16="http://schemas.microsoft.com/office/drawing/2014/main" id="{8A361D74-B81B-4D8D-977E-A73919C87B3A}"/>
              </a:ext>
            </a:extLst>
          </p:cNvPr>
          <p:cNvSpPr txBox="1"/>
          <p:nvPr>
            <p:custDataLst>
              <p:tags r:id="rId4"/>
            </p:custDataLst>
          </p:nvPr>
        </p:nvSpPr>
        <p:spPr>
          <a:xfrm>
            <a:off x="6287352" y="5682979"/>
            <a:ext cx="2345579" cy="307777"/>
          </a:xfrm>
          <a:prstGeom prst="rect">
            <a:avLst/>
          </a:prstGeom>
          <a:noFill/>
        </p:spPr>
        <p:txBody>
          <a:bodyPr wrap="none" rtlCol="0">
            <a:spAutoFit/>
          </a:bodyPr>
          <a:lstStyle/>
          <a:p>
            <a:r>
              <a:rPr lang="fr-CA" sz="1400" dirty="0"/>
              <a:t>Dépendance à la compilation </a:t>
            </a:r>
          </a:p>
        </p:txBody>
      </p:sp>
      <p:sp>
        <p:nvSpPr>
          <p:cNvPr id="7" name="ZoneTexte 6">
            <a:extLst>
              <a:ext uri="{FF2B5EF4-FFF2-40B4-BE49-F238E27FC236}">
                <a16:creationId xmlns:a16="http://schemas.microsoft.com/office/drawing/2014/main" id="{146B452B-8982-4B08-AFD9-1168098C8F7B}"/>
              </a:ext>
            </a:extLst>
          </p:cNvPr>
          <p:cNvSpPr txBox="1"/>
          <p:nvPr>
            <p:custDataLst>
              <p:tags r:id="rId5"/>
            </p:custDataLst>
          </p:nvPr>
        </p:nvSpPr>
        <p:spPr>
          <a:xfrm>
            <a:off x="6287352" y="5474490"/>
            <a:ext cx="2097754" cy="307777"/>
          </a:xfrm>
          <a:prstGeom prst="rect">
            <a:avLst/>
          </a:prstGeom>
          <a:noFill/>
        </p:spPr>
        <p:txBody>
          <a:bodyPr wrap="none" rtlCol="0">
            <a:spAutoFit/>
          </a:bodyPr>
          <a:lstStyle/>
          <a:p>
            <a:r>
              <a:rPr lang="fr-CA" sz="1400" dirty="0"/>
              <a:t>Dépendance à l’exécution </a:t>
            </a:r>
          </a:p>
        </p:txBody>
      </p:sp>
      <p:sp>
        <p:nvSpPr>
          <p:cNvPr id="8" name="ZoneTexte 7">
            <a:extLst>
              <a:ext uri="{FF2B5EF4-FFF2-40B4-BE49-F238E27FC236}">
                <a16:creationId xmlns:a16="http://schemas.microsoft.com/office/drawing/2014/main" id="{678B3E3D-17A0-423D-BFBB-C241AF7E9299}"/>
              </a:ext>
            </a:extLst>
          </p:cNvPr>
          <p:cNvSpPr txBox="1"/>
          <p:nvPr/>
        </p:nvSpPr>
        <p:spPr>
          <a:xfrm>
            <a:off x="485793" y="1475025"/>
            <a:ext cx="2898075" cy="307777"/>
          </a:xfrm>
          <a:prstGeom prst="rect">
            <a:avLst/>
          </a:prstGeom>
          <a:solidFill>
            <a:schemeClr val="bg2">
              <a:lumMod val="50000"/>
            </a:schemeClr>
          </a:solidFill>
          <a:ln>
            <a:solidFill>
              <a:schemeClr val="bg2">
                <a:lumMod val="50000"/>
              </a:schemeClr>
            </a:solidFill>
            <a:prstDash val="dash"/>
          </a:ln>
        </p:spPr>
        <p:txBody>
          <a:bodyPr wrap="square" rtlCol="0">
            <a:spAutoFit/>
          </a:bodyPr>
          <a:lstStyle/>
          <a:p>
            <a:r>
              <a:rPr lang="fr-CA" sz="1400" dirty="0"/>
              <a:t>Front End (</a:t>
            </a:r>
            <a:r>
              <a:rPr lang="fr-CA" sz="1400" dirty="0" err="1"/>
              <a:t>Angular</a:t>
            </a:r>
            <a:r>
              <a:rPr lang="fr-CA" sz="1400" dirty="0"/>
              <a:t>, </a:t>
            </a:r>
            <a:r>
              <a:rPr lang="fr-CA" sz="1400" dirty="0" err="1"/>
              <a:t>React</a:t>
            </a:r>
            <a:r>
              <a:rPr lang="fr-CA" sz="1400" dirty="0"/>
              <a:t> ou Vue)</a:t>
            </a:r>
          </a:p>
        </p:txBody>
      </p:sp>
      <p:sp>
        <p:nvSpPr>
          <p:cNvPr id="10" name="ZoneTexte 9">
            <a:extLst>
              <a:ext uri="{FF2B5EF4-FFF2-40B4-BE49-F238E27FC236}">
                <a16:creationId xmlns:a16="http://schemas.microsoft.com/office/drawing/2014/main" id="{B2573C90-4276-4A6B-8615-4305C541D42B}"/>
              </a:ext>
            </a:extLst>
          </p:cNvPr>
          <p:cNvSpPr txBox="1"/>
          <p:nvPr/>
        </p:nvSpPr>
        <p:spPr>
          <a:xfrm>
            <a:off x="1040646" y="2349132"/>
            <a:ext cx="2767408" cy="656947"/>
          </a:xfrm>
          <a:prstGeom prst="rect">
            <a:avLst/>
          </a:prstGeom>
          <a:solidFill>
            <a:schemeClr val="bg1"/>
          </a:solidFill>
        </p:spPr>
        <p:txBody>
          <a:bodyPr wrap="square" rtlCol="0">
            <a:spAutoFit/>
          </a:bodyPr>
          <a:lstStyle/>
          <a:p>
            <a:endParaRPr lang="fr-CA" dirty="0"/>
          </a:p>
        </p:txBody>
      </p:sp>
      <p:sp>
        <p:nvSpPr>
          <p:cNvPr id="11" name="ZoneTexte 10">
            <a:extLst>
              <a:ext uri="{FF2B5EF4-FFF2-40B4-BE49-F238E27FC236}">
                <a16:creationId xmlns:a16="http://schemas.microsoft.com/office/drawing/2014/main" id="{561B3482-3137-403F-A193-5AFBFC4AC21A}"/>
              </a:ext>
            </a:extLst>
          </p:cNvPr>
          <p:cNvSpPr txBox="1"/>
          <p:nvPr/>
        </p:nvSpPr>
        <p:spPr>
          <a:xfrm>
            <a:off x="1040646" y="2834579"/>
            <a:ext cx="1853560" cy="656947"/>
          </a:xfrm>
          <a:prstGeom prst="rect">
            <a:avLst/>
          </a:prstGeom>
          <a:solidFill>
            <a:schemeClr val="bg1"/>
          </a:solidFill>
        </p:spPr>
        <p:txBody>
          <a:bodyPr wrap="square" rtlCol="0">
            <a:spAutoFit/>
          </a:bodyPr>
          <a:lstStyle/>
          <a:p>
            <a:endParaRPr lang="fr-CA" dirty="0"/>
          </a:p>
        </p:txBody>
      </p:sp>
      <p:sp>
        <p:nvSpPr>
          <p:cNvPr id="12" name="Rectangle : coins arrondis 11">
            <a:extLst>
              <a:ext uri="{FF2B5EF4-FFF2-40B4-BE49-F238E27FC236}">
                <a16:creationId xmlns:a16="http://schemas.microsoft.com/office/drawing/2014/main" id="{516F8AFA-876C-4AB3-BCCD-025605AB9E27}"/>
              </a:ext>
            </a:extLst>
          </p:cNvPr>
          <p:cNvSpPr/>
          <p:nvPr/>
        </p:nvSpPr>
        <p:spPr>
          <a:xfrm>
            <a:off x="1190467" y="2650348"/>
            <a:ext cx="1113365" cy="352282"/>
          </a:xfrm>
          <a:prstGeom prst="roundRect">
            <a:avLst/>
          </a:prstGeom>
          <a:solidFill>
            <a:schemeClr val="accent1">
              <a:lumMod val="60000"/>
              <a:lumOff val="4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1400" dirty="0" err="1"/>
              <a:t>Controllers</a:t>
            </a:r>
            <a:endParaRPr lang="fr-CA" sz="1400" dirty="0"/>
          </a:p>
        </p:txBody>
      </p:sp>
      <p:sp>
        <p:nvSpPr>
          <p:cNvPr id="13" name="ZoneTexte 12">
            <a:extLst>
              <a:ext uri="{FF2B5EF4-FFF2-40B4-BE49-F238E27FC236}">
                <a16:creationId xmlns:a16="http://schemas.microsoft.com/office/drawing/2014/main" id="{61A52477-94C2-410A-BE72-E4DC63DEE1CD}"/>
              </a:ext>
            </a:extLst>
          </p:cNvPr>
          <p:cNvSpPr txBox="1"/>
          <p:nvPr/>
        </p:nvSpPr>
        <p:spPr>
          <a:xfrm>
            <a:off x="1158469" y="1960472"/>
            <a:ext cx="2767408" cy="246221"/>
          </a:xfrm>
          <a:prstGeom prst="rect">
            <a:avLst/>
          </a:prstGeom>
          <a:solidFill>
            <a:schemeClr val="bg1"/>
          </a:solidFill>
        </p:spPr>
        <p:txBody>
          <a:bodyPr wrap="square" rtlCol="0">
            <a:spAutoFit/>
          </a:bodyPr>
          <a:lstStyle/>
          <a:p>
            <a:endParaRPr lang="fr-CA" sz="1000" dirty="0"/>
          </a:p>
        </p:txBody>
      </p:sp>
      <p:sp>
        <p:nvSpPr>
          <p:cNvPr id="14" name="ZoneTexte 13">
            <a:extLst>
              <a:ext uri="{FF2B5EF4-FFF2-40B4-BE49-F238E27FC236}">
                <a16:creationId xmlns:a16="http://schemas.microsoft.com/office/drawing/2014/main" id="{DD50FB6F-9335-42F2-8953-FA96F3755C58}"/>
              </a:ext>
            </a:extLst>
          </p:cNvPr>
          <p:cNvSpPr txBox="1"/>
          <p:nvPr/>
        </p:nvSpPr>
        <p:spPr>
          <a:xfrm>
            <a:off x="1439652" y="1952836"/>
            <a:ext cx="2375986" cy="307777"/>
          </a:xfrm>
          <a:prstGeom prst="rect">
            <a:avLst/>
          </a:prstGeom>
          <a:noFill/>
        </p:spPr>
        <p:txBody>
          <a:bodyPr wrap="square" rtlCol="0">
            <a:spAutoFit/>
          </a:bodyPr>
          <a:lstStyle/>
          <a:p>
            <a:r>
              <a:rPr lang="fr-CA" sz="1400" dirty="0" err="1">
                <a:solidFill>
                  <a:srgbClr val="3399FF"/>
                </a:solidFill>
              </a:rPr>
              <a:t>ASP.Net</a:t>
            </a:r>
            <a:r>
              <a:rPr lang="fr-CA" sz="1400" dirty="0">
                <a:solidFill>
                  <a:srgbClr val="3399FF"/>
                </a:solidFill>
              </a:rPr>
              <a:t> Web App (API)</a:t>
            </a:r>
          </a:p>
        </p:txBody>
      </p:sp>
      <p:cxnSp>
        <p:nvCxnSpPr>
          <p:cNvPr id="15" name="Connecteur droit avec flèche 14">
            <a:extLst>
              <a:ext uri="{FF2B5EF4-FFF2-40B4-BE49-F238E27FC236}">
                <a16:creationId xmlns:a16="http://schemas.microsoft.com/office/drawing/2014/main" id="{7F7CCF99-240A-4AEC-BB21-5152D4D2ECF0}"/>
              </a:ext>
            </a:extLst>
          </p:cNvPr>
          <p:cNvCxnSpPr>
            <a:cxnSpLocks/>
          </p:cNvCxnSpPr>
          <p:nvPr/>
        </p:nvCxnSpPr>
        <p:spPr>
          <a:xfrm flipH="1">
            <a:off x="1410887" y="1796056"/>
            <a:ext cx="1" cy="47219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 coins arrondis 15">
            <a:extLst>
              <a:ext uri="{FF2B5EF4-FFF2-40B4-BE49-F238E27FC236}">
                <a16:creationId xmlns:a16="http://schemas.microsoft.com/office/drawing/2014/main" id="{EB7E705E-60AE-4A27-A7C0-10FCF6B1E518}"/>
              </a:ext>
            </a:extLst>
          </p:cNvPr>
          <p:cNvSpPr/>
          <p:nvPr/>
        </p:nvSpPr>
        <p:spPr>
          <a:xfrm>
            <a:off x="2525775" y="2656909"/>
            <a:ext cx="1113365" cy="352282"/>
          </a:xfrm>
          <a:prstGeom prst="roundRect">
            <a:avLst/>
          </a:prstGeom>
          <a:solidFill>
            <a:schemeClr val="accent1">
              <a:lumMod val="60000"/>
              <a:lumOff val="4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1400" dirty="0" err="1"/>
              <a:t>DTOs</a:t>
            </a:r>
            <a:endParaRPr lang="fr-CA" sz="1400" dirty="0"/>
          </a:p>
        </p:txBody>
      </p:sp>
    </p:spTree>
    <p:extLst>
      <p:ext uri="{BB962C8B-B14F-4D97-AF65-F5344CB8AC3E}">
        <p14:creationId xmlns:p14="http://schemas.microsoft.com/office/powerpoint/2010/main" val="42699896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fontScale="90000"/>
          </a:bodyPr>
          <a:lstStyle/>
          <a:p>
            <a:r>
              <a:rPr lang="fr-CA" dirty="0"/>
              <a:t>Couches de l’implémentation choisie</a:t>
            </a:r>
            <a:endParaRPr lang="fr-CA" sz="4400" dirty="0"/>
          </a:p>
        </p:txBody>
      </p:sp>
      <p:sp>
        <p:nvSpPr>
          <p:cNvPr id="4101" name="Rectangle 3"/>
          <p:cNvSpPr>
            <a:spLocks noGrp="1" noChangeArrowheads="1"/>
          </p:cNvSpPr>
          <p:nvPr>
            <p:ph idx="1"/>
            <p:custDataLst>
              <p:tags r:id="rId2"/>
            </p:custDataLst>
          </p:nvPr>
        </p:nvSpPr>
        <p:spPr>
          <a:xfrm>
            <a:off x="228600" y="1403874"/>
            <a:ext cx="8686800" cy="5013458"/>
          </a:xfrm>
        </p:spPr>
        <p:txBody>
          <a:bodyPr>
            <a:noAutofit/>
          </a:bodyPr>
          <a:lstStyle/>
          <a:p>
            <a:r>
              <a:rPr lang="fr-CA" sz="2400" dirty="0" err="1"/>
              <a:t>SharedKernel</a:t>
            </a:r>
            <a:endParaRPr lang="fr-CA" sz="2400" dirty="0"/>
          </a:p>
          <a:p>
            <a:r>
              <a:rPr lang="fr-CA" sz="2400" dirty="0"/>
              <a:t>Infrastructure</a:t>
            </a:r>
          </a:p>
          <a:p>
            <a:r>
              <a:rPr lang="fr-CA" sz="2400" dirty="0" err="1"/>
              <a:t>Core</a:t>
            </a:r>
            <a:endParaRPr lang="fr-CA" sz="2400" dirty="0"/>
          </a:p>
          <a:p>
            <a:r>
              <a:rPr lang="fr-CA" sz="2400" dirty="0" err="1"/>
              <a:t>InterfaceUtilisateur</a:t>
            </a:r>
            <a:endParaRPr lang="fr-CA" sz="2400" dirty="0"/>
          </a:p>
          <a:p>
            <a:r>
              <a:rPr lang="fr-CA" sz="2400" dirty="0"/>
              <a:t>Tests</a:t>
            </a:r>
          </a:p>
          <a:p>
            <a:r>
              <a:rPr lang="fr-CA" sz="2400" dirty="0"/>
              <a:t>Référence de l’architecture: </a:t>
            </a:r>
            <a:r>
              <a:rPr lang="fr-CA" sz="2200" dirty="0">
                <a:hlinkClick r:id="rId5"/>
              </a:rPr>
              <a:t>https://github.com/ardalis/cleanarchitecture</a:t>
            </a:r>
            <a:endParaRPr lang="fr-CA" sz="2200" dirty="0"/>
          </a:p>
          <a:p>
            <a:r>
              <a:rPr lang="fr-CA" sz="2400" dirty="0"/>
              <a:t>Note!</a:t>
            </a:r>
            <a:r>
              <a:rPr lang="fr-CA" sz="2200" dirty="0"/>
              <a:t> </a:t>
            </a:r>
            <a:r>
              <a:rPr lang="fr-CA" sz="2200" dirty="0">
                <a:solidFill>
                  <a:srgbClr val="FF0000"/>
                </a:solidFill>
              </a:rPr>
              <a:t>Dans ce qui suit, je vous donne les étapes que vous devez faire pour votre propre solution en illustrant avec l’exemple de l’étude de cas</a:t>
            </a:r>
          </a:p>
        </p:txBody>
      </p:sp>
      <p:sp>
        <p:nvSpPr>
          <p:cNvPr id="4099" name="Espace réservé du numéro de diapositive 4"/>
          <p:cNvSpPr>
            <a:spLocks noGrp="1"/>
          </p:cNvSpPr>
          <p:nvPr>
            <p:ph type="sldNum" sz="quarter" idx="12"/>
            <p:custDataLst>
              <p:tags r:id="rId3"/>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7</a:t>
            </a:fld>
            <a:endParaRPr lang="en-US" altLang="en-US"/>
          </a:p>
        </p:txBody>
      </p:sp>
    </p:spTree>
    <p:extLst>
      <p:ext uri="{BB962C8B-B14F-4D97-AF65-F5344CB8AC3E}">
        <p14:creationId xmlns:p14="http://schemas.microsoft.com/office/powerpoint/2010/main" val="27738820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a:bodyPr>
          <a:lstStyle/>
          <a:p>
            <a:r>
              <a:rPr lang="fr-CA" dirty="0" err="1"/>
              <a:t>SharedKernel</a:t>
            </a:r>
            <a:endParaRPr lang="fr-CA" sz="4400" dirty="0"/>
          </a:p>
        </p:txBody>
      </p:sp>
      <p:sp>
        <p:nvSpPr>
          <p:cNvPr id="4101" name="Rectangle 3"/>
          <p:cNvSpPr>
            <a:spLocks noGrp="1" noChangeArrowheads="1"/>
          </p:cNvSpPr>
          <p:nvPr>
            <p:ph idx="1"/>
            <p:custDataLst>
              <p:tags r:id="rId2"/>
            </p:custDataLst>
          </p:nvPr>
        </p:nvSpPr>
        <p:spPr>
          <a:xfrm>
            <a:off x="228600" y="1403874"/>
            <a:ext cx="8686800" cy="5013458"/>
          </a:xfrm>
        </p:spPr>
        <p:txBody>
          <a:bodyPr>
            <a:noAutofit/>
          </a:bodyPr>
          <a:lstStyle/>
          <a:p>
            <a:r>
              <a:rPr lang="fr-CA" sz="2400" dirty="0"/>
              <a:t>Je vous le donne</a:t>
            </a:r>
          </a:p>
          <a:p>
            <a:pPr lvl="1"/>
            <a:r>
              <a:rPr lang="fr-CA" sz="2000" dirty="0"/>
              <a:t>Voir le site du cours : le  « Code de départ » </a:t>
            </a:r>
          </a:p>
          <a:p>
            <a:r>
              <a:rPr lang="fr-CA" sz="2400" dirty="0"/>
              <a:t>Les éléments notables</a:t>
            </a:r>
          </a:p>
          <a:p>
            <a:pPr lvl="1"/>
            <a:r>
              <a:rPr lang="fr-CA" sz="2000" dirty="0" err="1"/>
              <a:t>BaseEntity</a:t>
            </a:r>
            <a:r>
              <a:rPr lang="fr-CA" sz="2000" dirty="0"/>
              <a:t>: toutes les entités doivent hériter de cette classe</a:t>
            </a:r>
          </a:p>
          <a:p>
            <a:pPr lvl="1"/>
            <a:r>
              <a:rPr lang="fr-CA" sz="2000" dirty="0" err="1"/>
              <a:t>IAggregateRoot</a:t>
            </a:r>
            <a:r>
              <a:rPr lang="fr-CA" sz="2000" dirty="0"/>
              <a:t>: interface utilisée pour marquer les entités racine dans les agrégations</a:t>
            </a:r>
          </a:p>
          <a:p>
            <a:pPr lvl="1"/>
            <a:r>
              <a:rPr lang="fr-CA" sz="2000" dirty="0" err="1"/>
              <a:t>ISpecification</a:t>
            </a:r>
            <a:r>
              <a:rPr lang="fr-CA" sz="2000" dirty="0"/>
              <a:t>: pour définir les filtres à utiliser lors de l’extraction d’entités avec un Repository (recherche)</a:t>
            </a:r>
          </a:p>
          <a:p>
            <a:pPr lvl="1"/>
            <a:r>
              <a:rPr lang="fr-CA" sz="2000" dirty="0" err="1"/>
              <a:t>IAsyncRepository</a:t>
            </a:r>
            <a:r>
              <a:rPr lang="fr-CA" sz="2000" dirty="0"/>
              <a:t>: fournit une abstraction (interface) sur les données afin que votre application puisse fonctionner quel que soit le mode de persistance des données</a:t>
            </a:r>
          </a:p>
          <a:p>
            <a:pPr lvl="1"/>
            <a:r>
              <a:rPr lang="fr-CA" sz="2000"/>
              <a:t>IRepository</a:t>
            </a:r>
            <a:r>
              <a:rPr lang="fr-CA" sz="2000" dirty="0"/>
              <a:t> : même rôle que </a:t>
            </a:r>
            <a:r>
              <a:rPr lang="fr-CA" sz="2000" dirty="0" err="1"/>
              <a:t>IAsyncRepository</a:t>
            </a:r>
            <a:r>
              <a:rPr lang="fr-CA" sz="2000" dirty="0"/>
              <a:t> mais en mode synchrone</a:t>
            </a:r>
            <a:endParaRPr lang="fr-CA" sz="1800" dirty="0"/>
          </a:p>
        </p:txBody>
      </p:sp>
      <p:sp>
        <p:nvSpPr>
          <p:cNvPr id="4099" name="Espace réservé du numéro de diapositive 4"/>
          <p:cNvSpPr>
            <a:spLocks noGrp="1"/>
          </p:cNvSpPr>
          <p:nvPr>
            <p:ph type="sldNum" sz="quarter" idx="12"/>
            <p:custDataLst>
              <p:tags r:id="rId3"/>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8</a:t>
            </a:fld>
            <a:endParaRPr lang="en-US" altLang="en-US"/>
          </a:p>
        </p:txBody>
      </p:sp>
    </p:spTree>
    <p:extLst>
      <p:ext uri="{BB962C8B-B14F-4D97-AF65-F5344CB8AC3E}">
        <p14:creationId xmlns:p14="http://schemas.microsoft.com/office/powerpoint/2010/main" val="403473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a:bodyPr>
          <a:lstStyle/>
          <a:p>
            <a:r>
              <a:rPr lang="fr-CA" dirty="0"/>
              <a:t>Vue de l’architecture</a:t>
            </a:r>
            <a:endParaRPr lang="fr-CA" sz="4400" dirty="0"/>
          </a:p>
        </p:txBody>
      </p:sp>
      <p:sp>
        <p:nvSpPr>
          <p:cNvPr id="4099" name="Espace réservé du numéro de diapositive 4"/>
          <p:cNvSpPr>
            <a:spLocks noGrp="1"/>
          </p:cNvSpPr>
          <p:nvPr>
            <p:ph type="sldNum" sz="quarter" idx="12"/>
            <p:custDataLst>
              <p:tags r:id="rId2"/>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9</a:t>
            </a:fld>
            <a:endParaRPr lang="en-US" altLang="en-US"/>
          </a:p>
        </p:txBody>
      </p:sp>
      <p:pic>
        <p:nvPicPr>
          <p:cNvPr id="5" name="Image 4">
            <a:extLst>
              <a:ext uri="{FF2B5EF4-FFF2-40B4-BE49-F238E27FC236}">
                <a16:creationId xmlns:a16="http://schemas.microsoft.com/office/drawing/2014/main" id="{85969166-4E5C-1537-B33B-15278CF81A73}"/>
              </a:ext>
            </a:extLst>
          </p:cNvPr>
          <p:cNvPicPr>
            <a:picLocks noChangeAspect="1"/>
          </p:cNvPicPr>
          <p:nvPr/>
        </p:nvPicPr>
        <p:blipFill>
          <a:blip r:embed="rId4"/>
          <a:stretch>
            <a:fillRect/>
          </a:stretch>
        </p:blipFill>
        <p:spPr>
          <a:xfrm>
            <a:off x="143508" y="1484784"/>
            <a:ext cx="8820980" cy="4780123"/>
          </a:xfrm>
          <a:prstGeom prst="rect">
            <a:avLst/>
          </a:prstGeom>
        </p:spPr>
      </p:pic>
    </p:spTree>
    <p:extLst>
      <p:ext uri="{BB962C8B-B14F-4D97-AF65-F5344CB8AC3E}">
        <p14:creationId xmlns:p14="http://schemas.microsoft.com/office/powerpoint/2010/main" val="3035855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a:bodyPr>
          <a:lstStyle/>
          <a:p>
            <a:r>
              <a:rPr lang="fr-CA" dirty="0"/>
              <a:t>Création des solutions</a:t>
            </a:r>
            <a:endParaRPr lang="fr-CA" sz="4400" dirty="0"/>
          </a:p>
        </p:txBody>
      </p:sp>
      <p:sp>
        <p:nvSpPr>
          <p:cNvPr id="4101" name="Rectangle 3"/>
          <p:cNvSpPr>
            <a:spLocks noGrp="1" noChangeArrowheads="1"/>
          </p:cNvSpPr>
          <p:nvPr>
            <p:ph idx="1"/>
            <p:custDataLst>
              <p:tags r:id="rId2"/>
            </p:custDataLst>
          </p:nvPr>
        </p:nvSpPr>
        <p:spPr>
          <a:xfrm>
            <a:off x="228600" y="1403874"/>
            <a:ext cx="8686800" cy="4545406"/>
          </a:xfrm>
        </p:spPr>
        <p:txBody>
          <a:bodyPr>
            <a:noAutofit/>
          </a:bodyPr>
          <a:lstStyle/>
          <a:p>
            <a:r>
              <a:rPr lang="fr-CA" sz="2400" dirty="0"/>
              <a:t>Étapes conseillées</a:t>
            </a:r>
          </a:p>
          <a:p>
            <a:pPr lvl="1"/>
            <a:r>
              <a:rPr lang="fr-CA" sz="2000" dirty="0"/>
              <a:t>Créer une solution vide</a:t>
            </a:r>
          </a:p>
          <a:p>
            <a:pPr lvl="1"/>
            <a:r>
              <a:rPr lang="fr-CA" sz="2000" dirty="0"/>
              <a:t>Ajouter le projet « </a:t>
            </a:r>
            <a:r>
              <a:rPr lang="fr-CA" sz="2000" dirty="0" err="1"/>
              <a:t>SystèmeGestionStationService.SharedKernel</a:t>
            </a:r>
            <a:r>
              <a:rPr lang="fr-CA" sz="2000" dirty="0"/>
              <a:t> » (à l’aide de Ajouter/Projet existants…, préalablement copié dans le répertoire de la solution)</a:t>
            </a:r>
          </a:p>
          <a:p>
            <a:pPr lvl="1"/>
            <a:r>
              <a:rPr lang="fr-CA" sz="2000" dirty="0"/>
              <a:t>Ajouter un nouveau projet «  </a:t>
            </a:r>
            <a:r>
              <a:rPr lang="fr-CA" sz="2000" dirty="0" err="1"/>
              <a:t>SystèmeGestionStationService.Core</a:t>
            </a:r>
            <a:r>
              <a:rPr lang="fr-CA" sz="2000" dirty="0"/>
              <a:t> » de type « Bibliothèque de classes (.NET 5) »</a:t>
            </a:r>
          </a:p>
          <a:p>
            <a:pPr lvl="1"/>
            <a:r>
              <a:rPr lang="fr-CA" sz="2000" dirty="0"/>
              <a:t>Ajouter un nouveau projet «  </a:t>
            </a:r>
            <a:r>
              <a:rPr lang="fr-CA" sz="2000" dirty="0" err="1"/>
              <a:t>SystèmeGestionStationService.Infrastructure</a:t>
            </a:r>
            <a:r>
              <a:rPr lang="fr-CA" sz="2000" dirty="0"/>
              <a:t> » du même type</a:t>
            </a:r>
          </a:p>
          <a:p>
            <a:pPr lvl="1"/>
            <a:r>
              <a:rPr lang="fr-CA" sz="2000" dirty="0"/>
              <a:t>Ajouter un nouveau projet «  </a:t>
            </a:r>
            <a:r>
              <a:rPr lang="fr-CA" sz="2000" dirty="0" err="1"/>
              <a:t>SystèmeGestionStationService.ConsoleTestApp</a:t>
            </a:r>
            <a:r>
              <a:rPr lang="fr-CA" sz="2000" dirty="0"/>
              <a:t> » de type « Application console (.NET 5) »</a:t>
            </a:r>
          </a:p>
          <a:p>
            <a:pPr lvl="1"/>
            <a:endParaRPr lang="fr-CA" sz="2000" dirty="0"/>
          </a:p>
        </p:txBody>
      </p:sp>
      <p:sp>
        <p:nvSpPr>
          <p:cNvPr id="4099" name="Espace réservé du numéro de diapositive 4"/>
          <p:cNvSpPr>
            <a:spLocks noGrp="1"/>
          </p:cNvSpPr>
          <p:nvPr>
            <p:ph type="sldNum" sz="quarter" idx="12"/>
            <p:custDataLst>
              <p:tags r:id="rId3"/>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10</a:t>
            </a:fld>
            <a:endParaRPr lang="en-US" altLang="en-US"/>
          </a:p>
        </p:txBody>
      </p:sp>
    </p:spTree>
    <p:extLst>
      <p:ext uri="{BB962C8B-B14F-4D97-AF65-F5344CB8AC3E}">
        <p14:creationId xmlns:p14="http://schemas.microsoft.com/office/powerpoint/2010/main" val="3134415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a:bodyPr>
          <a:lstStyle/>
          <a:p>
            <a:r>
              <a:rPr lang="fr-CA" altLang="fr-FR" dirty="0"/>
              <a:t>Entités</a:t>
            </a:r>
            <a:endParaRPr lang="en-US" altLang="fr-FR" dirty="0"/>
          </a:p>
        </p:txBody>
      </p:sp>
      <p:sp>
        <p:nvSpPr>
          <p:cNvPr id="4101" name="Rectangle 3"/>
          <p:cNvSpPr>
            <a:spLocks noGrp="1" noChangeArrowheads="1"/>
          </p:cNvSpPr>
          <p:nvPr>
            <p:ph idx="1"/>
            <p:custDataLst>
              <p:tags r:id="rId2"/>
            </p:custDataLst>
          </p:nvPr>
        </p:nvSpPr>
        <p:spPr>
          <a:xfrm>
            <a:off x="228600" y="1403874"/>
            <a:ext cx="8686800" cy="4653418"/>
          </a:xfrm>
        </p:spPr>
        <p:txBody>
          <a:bodyPr>
            <a:noAutofit/>
          </a:bodyPr>
          <a:lstStyle/>
          <a:p>
            <a:r>
              <a:rPr lang="fr-CA" sz="2400" dirty="0"/>
              <a:t>En anglais, </a:t>
            </a:r>
            <a:r>
              <a:rPr lang="en-CA" sz="2400" b="1" dirty="0"/>
              <a:t>Entities</a:t>
            </a:r>
          </a:p>
          <a:p>
            <a:r>
              <a:rPr lang="fr-CA" sz="2400" dirty="0"/>
              <a:t>De nombreux objets ne sont pas fondamentalement définis par leurs attributs, mais plutôt par leur identité</a:t>
            </a:r>
          </a:p>
          <a:p>
            <a:r>
              <a:rPr lang="fr-CA" sz="2400" dirty="0"/>
              <a:t>Les </a:t>
            </a:r>
            <a:r>
              <a:rPr lang="fr-CA" sz="2400" b="1" dirty="0"/>
              <a:t>entités ont des identités et sont mutables</a:t>
            </a:r>
          </a:p>
        </p:txBody>
      </p:sp>
      <p:sp>
        <p:nvSpPr>
          <p:cNvPr id="4099" name="Espace réservé du numéro de diapositive 4"/>
          <p:cNvSpPr>
            <a:spLocks noGrp="1"/>
          </p:cNvSpPr>
          <p:nvPr>
            <p:ph type="sldNum" sz="quarter" idx="12"/>
            <p:custDataLst>
              <p:tags r:id="rId3"/>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11</a:t>
            </a:fld>
            <a:endParaRPr lang="en-US" altLang="en-US"/>
          </a:p>
        </p:txBody>
      </p:sp>
    </p:spTree>
    <p:extLst>
      <p:ext uri="{BB962C8B-B14F-4D97-AF65-F5344CB8AC3E}">
        <p14:creationId xmlns:p14="http://schemas.microsoft.com/office/powerpoint/2010/main" val="19661292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a:bodyPr>
          <a:lstStyle/>
          <a:p>
            <a:r>
              <a:rPr lang="fr-CA" altLang="fr-FR" dirty="0"/>
              <a:t>Objets de valeur</a:t>
            </a:r>
            <a:endParaRPr lang="en-US" altLang="fr-FR" dirty="0"/>
          </a:p>
        </p:txBody>
      </p:sp>
      <p:sp>
        <p:nvSpPr>
          <p:cNvPr id="4101" name="Rectangle 3"/>
          <p:cNvSpPr>
            <a:spLocks noGrp="1" noChangeArrowheads="1"/>
          </p:cNvSpPr>
          <p:nvPr>
            <p:ph idx="1"/>
            <p:custDataLst>
              <p:tags r:id="rId2"/>
            </p:custDataLst>
          </p:nvPr>
        </p:nvSpPr>
        <p:spPr>
          <a:xfrm>
            <a:off x="228600" y="1403874"/>
            <a:ext cx="8686800" cy="4653418"/>
          </a:xfrm>
        </p:spPr>
        <p:txBody>
          <a:bodyPr>
            <a:noAutofit/>
          </a:bodyPr>
          <a:lstStyle/>
          <a:p>
            <a:r>
              <a:rPr lang="fr-CA" sz="2400" dirty="0"/>
              <a:t>En anglais, </a:t>
            </a:r>
            <a:r>
              <a:rPr lang="en-CA" sz="2400" b="1" dirty="0"/>
              <a:t>Value Objects</a:t>
            </a:r>
          </a:p>
          <a:p>
            <a:r>
              <a:rPr lang="fr-CA" sz="2400" dirty="0"/>
              <a:t>Mesure, quantifie ou </a:t>
            </a:r>
            <a:r>
              <a:rPr lang="fr-CA" sz="2400"/>
              <a:t>décrit une </a:t>
            </a:r>
            <a:r>
              <a:rPr lang="fr-CA" sz="2400" dirty="0"/>
              <a:t>chose dans le domaine</a:t>
            </a:r>
          </a:p>
          <a:p>
            <a:r>
              <a:rPr lang="fr-CA" sz="2400" dirty="0"/>
              <a:t>L'identité est basée sur la composition des valeurs immuables</a:t>
            </a:r>
          </a:p>
          <a:p>
            <a:r>
              <a:rPr lang="fr-CA" sz="2400" b="1" dirty="0"/>
              <a:t>L’égalité n’est pas basée sur l’identité, mais sur toutes les valeurs</a:t>
            </a:r>
          </a:p>
          <a:p>
            <a:r>
              <a:rPr lang="fr-CA" sz="2400" dirty="0"/>
              <a:t>Exemples</a:t>
            </a:r>
          </a:p>
          <a:p>
            <a:pPr lvl="1"/>
            <a:r>
              <a:rPr lang="en-CA" sz="2000" i="1" dirty="0"/>
              <a:t>Money</a:t>
            </a:r>
          </a:p>
          <a:p>
            <a:pPr lvl="1"/>
            <a:r>
              <a:rPr lang="en-CA" sz="2000" i="1" dirty="0" err="1"/>
              <a:t>DateRange</a:t>
            </a:r>
            <a:endParaRPr lang="en-CA" sz="2000" dirty="0"/>
          </a:p>
        </p:txBody>
      </p:sp>
      <p:sp>
        <p:nvSpPr>
          <p:cNvPr id="4099" name="Espace réservé du numéro de diapositive 4"/>
          <p:cNvSpPr>
            <a:spLocks noGrp="1"/>
          </p:cNvSpPr>
          <p:nvPr>
            <p:ph type="sldNum" sz="quarter" idx="12"/>
            <p:custDataLst>
              <p:tags r:id="rId3"/>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12</a:t>
            </a:fld>
            <a:endParaRPr lang="en-US" altLang="en-US"/>
          </a:p>
        </p:txBody>
      </p:sp>
    </p:spTree>
    <p:extLst>
      <p:ext uri="{BB962C8B-B14F-4D97-AF65-F5344CB8AC3E}">
        <p14:creationId xmlns:p14="http://schemas.microsoft.com/office/powerpoint/2010/main" val="2541244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a:bodyPr>
          <a:lstStyle/>
          <a:p>
            <a:r>
              <a:rPr lang="fr-CA" altLang="fr-FR" dirty="0"/>
              <a:t>Agrégats</a:t>
            </a:r>
            <a:endParaRPr lang="en-US" altLang="fr-FR" dirty="0"/>
          </a:p>
        </p:txBody>
      </p:sp>
      <p:sp>
        <p:nvSpPr>
          <p:cNvPr id="4101" name="Rectangle 3"/>
          <p:cNvSpPr>
            <a:spLocks noGrp="1" noChangeArrowheads="1"/>
          </p:cNvSpPr>
          <p:nvPr>
            <p:ph idx="1"/>
            <p:custDataLst>
              <p:tags r:id="rId2"/>
            </p:custDataLst>
          </p:nvPr>
        </p:nvSpPr>
        <p:spPr>
          <a:xfrm>
            <a:off x="228600" y="1403874"/>
            <a:ext cx="8686800" cy="4653418"/>
          </a:xfrm>
        </p:spPr>
        <p:txBody>
          <a:bodyPr>
            <a:noAutofit/>
          </a:bodyPr>
          <a:lstStyle/>
          <a:p>
            <a:r>
              <a:rPr lang="fr-CA" sz="2400" dirty="0"/>
              <a:t>Agrégat - </a:t>
            </a:r>
            <a:r>
              <a:rPr lang="fr-CA" sz="2400" b="1" dirty="0"/>
              <a:t>«grappes» d’éléments </a:t>
            </a:r>
            <a:r>
              <a:rPr lang="fr-CA" sz="2400" dirty="0"/>
              <a:t>étroitement liés entre eux dans un contexte donné</a:t>
            </a:r>
          </a:p>
          <a:p>
            <a:r>
              <a:rPr lang="fr-CA" sz="2400" dirty="0"/>
              <a:t>L'agrégat prend soin de conserver son état cohérent</a:t>
            </a:r>
          </a:p>
          <a:p>
            <a:r>
              <a:rPr lang="fr-CA" sz="2400" dirty="0"/>
              <a:t>Du point de vue des développeurs, un agrégat est la portée d’une transaction</a:t>
            </a:r>
          </a:p>
          <a:p>
            <a:pPr lvl="1"/>
            <a:r>
              <a:rPr lang="fr-CA" sz="2000" dirty="0"/>
              <a:t>Tous les éléments dans l'agrégat sont enregistrés avec succès ou dans le cas d’un échec, on revient à l’état d’avant</a:t>
            </a:r>
          </a:p>
          <a:p>
            <a:r>
              <a:rPr lang="fr-CA" sz="2400" dirty="0"/>
              <a:t>Racine d’agrégat (</a:t>
            </a:r>
            <a:r>
              <a:rPr lang="en-CA" sz="2400" b="1" dirty="0"/>
              <a:t>Aggregate Root</a:t>
            </a:r>
            <a:r>
              <a:rPr lang="fr-CA" sz="2400" dirty="0"/>
              <a:t>)</a:t>
            </a:r>
          </a:p>
          <a:p>
            <a:pPr lvl="1"/>
            <a:r>
              <a:rPr lang="fr-CA" sz="2000" dirty="0"/>
              <a:t>Élément </a:t>
            </a:r>
            <a:r>
              <a:rPr lang="fr-CA" sz="2000" b="1" dirty="0"/>
              <a:t>principal</a:t>
            </a:r>
            <a:r>
              <a:rPr lang="fr-CA" sz="2000" dirty="0"/>
              <a:t> de l'agrégat</a:t>
            </a:r>
          </a:p>
          <a:p>
            <a:pPr lvl="1"/>
            <a:r>
              <a:rPr lang="fr-CA" sz="2000" b="1" dirty="0"/>
              <a:t>Tous les accès à l'agrégat sont effectués uniquement via la racine d’agrégat</a:t>
            </a:r>
            <a:endParaRPr lang="fr-FR" sz="2000" b="1" dirty="0"/>
          </a:p>
        </p:txBody>
      </p:sp>
      <p:sp>
        <p:nvSpPr>
          <p:cNvPr id="4099" name="Espace réservé du numéro de diapositive 4"/>
          <p:cNvSpPr>
            <a:spLocks noGrp="1"/>
          </p:cNvSpPr>
          <p:nvPr>
            <p:ph type="sldNum" sz="quarter" idx="12"/>
            <p:custDataLst>
              <p:tags r:id="rId3"/>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13</a:t>
            </a:fld>
            <a:endParaRPr lang="en-US" altLang="en-US"/>
          </a:p>
        </p:txBody>
      </p:sp>
    </p:spTree>
    <p:extLst>
      <p:ext uri="{BB962C8B-B14F-4D97-AF65-F5344CB8AC3E}">
        <p14:creationId xmlns:p14="http://schemas.microsoft.com/office/powerpoint/2010/main" val="17156925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a:bodyPr>
          <a:lstStyle/>
          <a:p>
            <a:r>
              <a:rPr lang="fr-CA" altLang="fr-FR" dirty="0"/>
              <a:t>Exemple</a:t>
            </a:r>
            <a:endParaRPr lang="en-US" altLang="fr-FR" dirty="0"/>
          </a:p>
        </p:txBody>
      </p:sp>
      <p:sp>
        <p:nvSpPr>
          <p:cNvPr id="4099" name="Espace réservé du numéro de diapositive 4"/>
          <p:cNvSpPr>
            <a:spLocks noGrp="1"/>
          </p:cNvSpPr>
          <p:nvPr>
            <p:ph type="sldNum" sz="quarter" idx="12"/>
            <p:custDataLst>
              <p:tags r:id="rId2"/>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14</a:t>
            </a:fld>
            <a:endParaRPr lang="en-US" altLang="en-US"/>
          </a:p>
        </p:txBody>
      </p:sp>
      <p:pic>
        <p:nvPicPr>
          <p:cNvPr id="4" name="Image 3">
            <a:extLst>
              <a:ext uri="{FF2B5EF4-FFF2-40B4-BE49-F238E27FC236}">
                <a16:creationId xmlns:a16="http://schemas.microsoft.com/office/drawing/2014/main" id="{8B20F3C3-D9A6-27A1-B7EE-87E46002C021}"/>
              </a:ext>
            </a:extLst>
          </p:cNvPr>
          <p:cNvPicPr>
            <a:picLocks noChangeAspect="1"/>
          </p:cNvPicPr>
          <p:nvPr>
            <p:custDataLst>
              <p:tags r:id="rId3"/>
            </p:custDataLst>
          </p:nvPr>
        </p:nvPicPr>
        <p:blipFill>
          <a:blip r:embed="rId9"/>
          <a:stretch>
            <a:fillRect/>
          </a:stretch>
        </p:blipFill>
        <p:spPr>
          <a:xfrm>
            <a:off x="885593" y="2638610"/>
            <a:ext cx="7248525" cy="1314450"/>
          </a:xfrm>
          <a:prstGeom prst="rect">
            <a:avLst/>
          </a:prstGeom>
        </p:spPr>
      </p:pic>
      <p:sp>
        <p:nvSpPr>
          <p:cNvPr id="5" name="Ellipse 4">
            <a:extLst>
              <a:ext uri="{FF2B5EF4-FFF2-40B4-BE49-F238E27FC236}">
                <a16:creationId xmlns:a16="http://schemas.microsoft.com/office/drawing/2014/main" id="{A6FA07D9-D5D7-A78F-19C5-62509C16F0B1}"/>
              </a:ext>
            </a:extLst>
          </p:cNvPr>
          <p:cNvSpPr/>
          <p:nvPr>
            <p:custDataLst>
              <p:tags r:id="rId4"/>
            </p:custDataLst>
          </p:nvPr>
        </p:nvSpPr>
        <p:spPr>
          <a:xfrm>
            <a:off x="337352" y="2006353"/>
            <a:ext cx="8451542" cy="2521259"/>
          </a:xfrm>
          <a:prstGeom prst="ellipse">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 name="ZoneTexte 5">
            <a:extLst>
              <a:ext uri="{FF2B5EF4-FFF2-40B4-BE49-F238E27FC236}">
                <a16:creationId xmlns:a16="http://schemas.microsoft.com/office/drawing/2014/main" id="{7FE2505A-C6DC-A5FE-F06A-C3F42D577AEC}"/>
              </a:ext>
            </a:extLst>
          </p:cNvPr>
          <p:cNvSpPr txBox="1"/>
          <p:nvPr>
            <p:custDataLst>
              <p:tags r:id="rId5"/>
            </p:custDataLst>
          </p:nvPr>
        </p:nvSpPr>
        <p:spPr>
          <a:xfrm>
            <a:off x="4065973" y="4527612"/>
            <a:ext cx="1547411" cy="461665"/>
          </a:xfrm>
          <a:prstGeom prst="rect">
            <a:avLst/>
          </a:prstGeom>
          <a:noFill/>
        </p:spPr>
        <p:txBody>
          <a:bodyPr wrap="none" rtlCol="0">
            <a:spAutoFit/>
          </a:bodyPr>
          <a:lstStyle/>
          <a:p>
            <a:r>
              <a:rPr lang="fr-CA" sz="2400" dirty="0">
                <a:solidFill>
                  <a:srgbClr val="FF0000"/>
                </a:solidFill>
              </a:rPr>
              <a:t>Un agrégat</a:t>
            </a:r>
          </a:p>
        </p:txBody>
      </p:sp>
      <p:sp>
        <p:nvSpPr>
          <p:cNvPr id="7" name="ZoneTexte 6">
            <a:extLst>
              <a:ext uri="{FF2B5EF4-FFF2-40B4-BE49-F238E27FC236}">
                <a16:creationId xmlns:a16="http://schemas.microsoft.com/office/drawing/2014/main" id="{52EDEA48-5585-928D-0064-E5787BE30C53}"/>
              </a:ext>
            </a:extLst>
          </p:cNvPr>
          <p:cNvSpPr txBox="1"/>
          <p:nvPr>
            <p:custDataLst>
              <p:tags r:id="rId6"/>
            </p:custDataLst>
          </p:nvPr>
        </p:nvSpPr>
        <p:spPr>
          <a:xfrm>
            <a:off x="885593" y="4527611"/>
            <a:ext cx="1399742" cy="830997"/>
          </a:xfrm>
          <a:prstGeom prst="rect">
            <a:avLst/>
          </a:prstGeom>
          <a:noFill/>
        </p:spPr>
        <p:txBody>
          <a:bodyPr wrap="none" rtlCol="0">
            <a:spAutoFit/>
          </a:bodyPr>
          <a:lstStyle/>
          <a:p>
            <a:r>
              <a:rPr lang="fr-CA" sz="2400" dirty="0">
                <a:solidFill>
                  <a:srgbClr val="FF0000"/>
                </a:solidFill>
              </a:rPr>
              <a:t>Racine de</a:t>
            </a:r>
          </a:p>
          <a:p>
            <a:r>
              <a:rPr lang="fr-CA" sz="2400" dirty="0">
                <a:solidFill>
                  <a:srgbClr val="FF0000"/>
                </a:solidFill>
              </a:rPr>
              <a:t>l’agrégat</a:t>
            </a:r>
          </a:p>
        </p:txBody>
      </p:sp>
      <p:cxnSp>
        <p:nvCxnSpPr>
          <p:cNvPr id="8" name="Connecteur droit avec flèche 7">
            <a:extLst>
              <a:ext uri="{FF2B5EF4-FFF2-40B4-BE49-F238E27FC236}">
                <a16:creationId xmlns:a16="http://schemas.microsoft.com/office/drawing/2014/main" id="{7385312D-8292-32A0-FEB0-B5E9C5D91BC3}"/>
              </a:ext>
            </a:extLst>
          </p:cNvPr>
          <p:cNvCxnSpPr>
            <a:stCxn id="7" idx="0"/>
          </p:cNvCxnSpPr>
          <p:nvPr>
            <p:custDataLst>
              <p:tags r:id="rId7"/>
            </p:custDataLst>
          </p:nvPr>
        </p:nvCxnSpPr>
        <p:spPr>
          <a:xfrm flipV="1">
            <a:off x="1585464" y="3879542"/>
            <a:ext cx="287724" cy="64806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34271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a:xfrm>
            <a:off x="228600" y="76200"/>
            <a:ext cx="7655768" cy="1143000"/>
          </a:xfrm>
        </p:spPr>
        <p:txBody>
          <a:bodyPr>
            <a:noAutofit/>
          </a:bodyPr>
          <a:lstStyle/>
          <a:p>
            <a:r>
              <a:rPr lang="fr-CA" sz="3600" dirty="0"/>
              <a:t>Paramétrisation du modèle d’analyse avec les décisions de conception</a:t>
            </a:r>
          </a:p>
        </p:txBody>
      </p:sp>
      <p:sp>
        <p:nvSpPr>
          <p:cNvPr id="4099" name="Espace réservé du numéro de diapositive 4"/>
          <p:cNvSpPr>
            <a:spLocks noGrp="1"/>
          </p:cNvSpPr>
          <p:nvPr>
            <p:ph type="sldNum" sz="quarter" idx="12"/>
            <p:custDataLst>
              <p:tags r:id="rId2"/>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15</a:t>
            </a:fld>
            <a:endParaRPr lang="en-US" altLang="en-US"/>
          </a:p>
        </p:txBody>
      </p:sp>
      <p:pic>
        <p:nvPicPr>
          <p:cNvPr id="10" name="Image 9">
            <a:extLst>
              <a:ext uri="{FF2B5EF4-FFF2-40B4-BE49-F238E27FC236}">
                <a16:creationId xmlns:a16="http://schemas.microsoft.com/office/drawing/2014/main" id="{73CFE36A-B9A7-7369-96D9-172F4761DB8B}"/>
              </a:ext>
            </a:extLst>
          </p:cNvPr>
          <p:cNvPicPr>
            <a:picLocks noChangeAspect="1"/>
          </p:cNvPicPr>
          <p:nvPr/>
        </p:nvPicPr>
        <p:blipFill>
          <a:blip r:embed="rId4"/>
          <a:stretch>
            <a:fillRect/>
          </a:stretch>
        </p:blipFill>
        <p:spPr>
          <a:xfrm>
            <a:off x="0" y="1196752"/>
            <a:ext cx="9144000" cy="5508612"/>
          </a:xfrm>
          <a:prstGeom prst="rect">
            <a:avLst/>
          </a:prstGeom>
        </p:spPr>
      </p:pic>
    </p:spTree>
    <p:extLst>
      <p:ext uri="{BB962C8B-B14F-4D97-AF65-F5344CB8AC3E}">
        <p14:creationId xmlns:p14="http://schemas.microsoft.com/office/powerpoint/2010/main" val="698585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a:xfrm>
            <a:off x="228600" y="76200"/>
            <a:ext cx="7655768" cy="1143000"/>
          </a:xfrm>
        </p:spPr>
        <p:txBody>
          <a:bodyPr>
            <a:noAutofit/>
          </a:bodyPr>
          <a:lstStyle/>
          <a:p>
            <a:r>
              <a:rPr lang="fr-CA" sz="3600" dirty="0"/>
              <a:t>Couche </a:t>
            </a:r>
            <a:r>
              <a:rPr lang="fr-CA" sz="3600" dirty="0" err="1"/>
              <a:t>Core</a:t>
            </a:r>
            <a:endParaRPr lang="fr-CA" sz="3600" dirty="0"/>
          </a:p>
        </p:txBody>
      </p:sp>
      <p:sp>
        <p:nvSpPr>
          <p:cNvPr id="4099" name="Espace réservé du numéro de diapositive 4"/>
          <p:cNvSpPr>
            <a:spLocks noGrp="1"/>
          </p:cNvSpPr>
          <p:nvPr>
            <p:ph type="sldNum" sz="quarter" idx="12"/>
            <p:custDataLst>
              <p:tags r:id="rId2"/>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16</a:t>
            </a:fld>
            <a:endParaRPr lang="en-US" altLang="en-US"/>
          </a:p>
        </p:txBody>
      </p:sp>
      <p:pic>
        <p:nvPicPr>
          <p:cNvPr id="5" name="Image 4">
            <a:extLst>
              <a:ext uri="{FF2B5EF4-FFF2-40B4-BE49-F238E27FC236}">
                <a16:creationId xmlns:a16="http://schemas.microsoft.com/office/drawing/2014/main" id="{32CBDB3C-BFB7-B10A-4C6A-75D5DDADFC70}"/>
              </a:ext>
            </a:extLst>
          </p:cNvPr>
          <p:cNvPicPr>
            <a:picLocks noChangeAspect="1"/>
          </p:cNvPicPr>
          <p:nvPr/>
        </p:nvPicPr>
        <p:blipFill>
          <a:blip r:embed="rId4"/>
          <a:stretch>
            <a:fillRect/>
          </a:stretch>
        </p:blipFill>
        <p:spPr>
          <a:xfrm>
            <a:off x="71500" y="1340768"/>
            <a:ext cx="9072500" cy="4968552"/>
          </a:xfrm>
          <a:prstGeom prst="rect">
            <a:avLst/>
          </a:prstGeom>
        </p:spPr>
      </p:pic>
    </p:spTree>
    <p:extLst>
      <p:ext uri="{BB962C8B-B14F-4D97-AF65-F5344CB8AC3E}">
        <p14:creationId xmlns:p14="http://schemas.microsoft.com/office/powerpoint/2010/main" val="12979764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a:bodyPr>
          <a:lstStyle/>
          <a:p>
            <a:r>
              <a:rPr lang="fr-CA" dirty="0"/>
              <a:t>Projet </a:t>
            </a:r>
            <a:r>
              <a:rPr lang="fr-CA" dirty="0" err="1"/>
              <a:t>Core</a:t>
            </a:r>
            <a:endParaRPr lang="fr-CA" sz="4400" dirty="0"/>
          </a:p>
        </p:txBody>
      </p:sp>
      <p:sp>
        <p:nvSpPr>
          <p:cNvPr id="4101" name="Rectangle 3"/>
          <p:cNvSpPr>
            <a:spLocks noGrp="1" noChangeArrowheads="1"/>
          </p:cNvSpPr>
          <p:nvPr>
            <p:ph idx="1"/>
            <p:custDataLst>
              <p:tags r:id="rId2"/>
            </p:custDataLst>
          </p:nvPr>
        </p:nvSpPr>
        <p:spPr>
          <a:xfrm>
            <a:off x="228600" y="1403874"/>
            <a:ext cx="8686800" cy="5265486"/>
          </a:xfrm>
        </p:spPr>
        <p:txBody>
          <a:bodyPr>
            <a:noAutofit/>
          </a:bodyPr>
          <a:lstStyle/>
          <a:p>
            <a:r>
              <a:rPr lang="fr-CA" sz="2400" dirty="0"/>
              <a:t>Ajouter la dépendance au </a:t>
            </a:r>
            <a:r>
              <a:rPr lang="fr-CA" sz="2400" dirty="0" err="1"/>
              <a:t>SharedKernel</a:t>
            </a:r>
            <a:endParaRPr lang="fr-CA" sz="2400" dirty="0"/>
          </a:p>
          <a:p>
            <a:r>
              <a:rPr lang="fr-CA" sz="2400" dirty="0"/>
              <a:t>Créer un dossier « </a:t>
            </a:r>
            <a:r>
              <a:rPr lang="fr-CA" sz="2400" dirty="0" err="1"/>
              <a:t>Entities</a:t>
            </a:r>
            <a:r>
              <a:rPr lang="fr-CA" sz="2400" dirty="0"/>
              <a:t> »</a:t>
            </a:r>
          </a:p>
          <a:p>
            <a:r>
              <a:rPr lang="fr-CA" sz="2400" dirty="0"/>
              <a:t>Créer les entités dans ce dossier</a:t>
            </a:r>
          </a:p>
          <a:p>
            <a:r>
              <a:rPr lang="fr-CA" sz="2400" dirty="0"/>
              <a:t>Pour les agrégats</a:t>
            </a:r>
          </a:p>
          <a:p>
            <a:pPr lvl="1"/>
            <a:r>
              <a:rPr lang="fr-CA" sz="2400" dirty="0"/>
              <a:t>Ajouter donc l’interface </a:t>
            </a:r>
            <a:r>
              <a:rPr lang="fr-CA" sz="2400" dirty="0" err="1"/>
              <a:t>IAggregateRoot</a:t>
            </a:r>
            <a:endParaRPr lang="fr-CA" sz="2400" dirty="0"/>
          </a:p>
          <a:p>
            <a:r>
              <a:rPr lang="fr-CA" sz="2400" dirty="0"/>
              <a:t>Créer les autres classes dans la racine du projet</a:t>
            </a:r>
          </a:p>
          <a:p>
            <a:r>
              <a:rPr lang="fr-CA" sz="2400" dirty="0"/>
              <a:t>Créer un dossier « </a:t>
            </a:r>
            <a:r>
              <a:rPr lang="fr-CA" sz="2400" dirty="0" err="1"/>
              <a:t>Specifications</a:t>
            </a:r>
            <a:r>
              <a:rPr lang="fr-CA" sz="2400" dirty="0"/>
              <a:t> »</a:t>
            </a:r>
          </a:p>
          <a:p>
            <a:r>
              <a:rPr lang="fr-CA" sz="2400" dirty="0"/>
              <a:t>Insérer également la classe « </a:t>
            </a:r>
            <a:r>
              <a:rPr lang="fr-CA" sz="2400" dirty="0" err="1"/>
              <a:t>BaseSpecification</a:t>
            </a:r>
            <a:r>
              <a:rPr lang="fr-CA" sz="2400" dirty="0"/>
              <a:t> » dans le dossier « </a:t>
            </a:r>
            <a:r>
              <a:rPr lang="fr-CA" sz="2400" dirty="0" err="1"/>
              <a:t>Specifications</a:t>
            </a:r>
            <a:r>
              <a:rPr lang="fr-CA" sz="2400" dirty="0"/>
              <a:t> »</a:t>
            </a:r>
          </a:p>
          <a:p>
            <a:pPr lvl="1"/>
            <a:r>
              <a:rPr lang="fr-CA" sz="2400" dirty="0"/>
              <a:t>La classe est fournie dans le « Code de départ »</a:t>
            </a:r>
          </a:p>
        </p:txBody>
      </p:sp>
      <p:sp>
        <p:nvSpPr>
          <p:cNvPr id="4099" name="Espace réservé du numéro de diapositive 4"/>
          <p:cNvSpPr>
            <a:spLocks noGrp="1"/>
          </p:cNvSpPr>
          <p:nvPr>
            <p:ph type="sldNum" sz="quarter" idx="12"/>
            <p:custDataLst>
              <p:tags r:id="rId3"/>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17</a:t>
            </a:fld>
            <a:endParaRPr lang="en-US" altLang="en-US"/>
          </a:p>
        </p:txBody>
      </p:sp>
    </p:spTree>
    <p:extLst>
      <p:ext uri="{BB962C8B-B14F-4D97-AF65-F5344CB8AC3E}">
        <p14:creationId xmlns:p14="http://schemas.microsoft.com/office/powerpoint/2010/main" val="9097225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fontScale="90000"/>
          </a:bodyPr>
          <a:lstStyle/>
          <a:p>
            <a:r>
              <a:rPr lang="fr-CA" dirty="0"/>
              <a:t>Les attributs </a:t>
            </a:r>
            <a:r>
              <a:rPr lang="en-CA" dirty="0" err="1"/>
              <a:t>NotMapped</a:t>
            </a:r>
            <a:r>
              <a:rPr lang="fr-CA" dirty="0"/>
              <a:t> et </a:t>
            </a:r>
            <a:r>
              <a:rPr lang="en-CA" dirty="0" err="1"/>
              <a:t>NotMappedAtttribute</a:t>
            </a:r>
            <a:endParaRPr lang="en-CA" sz="4400" dirty="0"/>
          </a:p>
        </p:txBody>
      </p:sp>
      <p:sp>
        <p:nvSpPr>
          <p:cNvPr id="4101" name="Rectangle 3"/>
          <p:cNvSpPr>
            <a:spLocks noGrp="1" noChangeArrowheads="1"/>
          </p:cNvSpPr>
          <p:nvPr>
            <p:ph idx="1"/>
            <p:custDataLst>
              <p:tags r:id="rId2"/>
            </p:custDataLst>
          </p:nvPr>
        </p:nvSpPr>
        <p:spPr>
          <a:xfrm>
            <a:off x="228600" y="1403874"/>
            <a:ext cx="8686800" cy="2025126"/>
          </a:xfrm>
        </p:spPr>
        <p:txBody>
          <a:bodyPr>
            <a:noAutofit/>
          </a:bodyPr>
          <a:lstStyle/>
          <a:p>
            <a:r>
              <a:rPr lang="fr-CA" sz="2400" dirty="0"/>
              <a:t>L’attribut </a:t>
            </a:r>
            <a:r>
              <a:rPr lang="en-CA" sz="2400" dirty="0" err="1"/>
              <a:t>NotMapped</a:t>
            </a:r>
            <a:r>
              <a:rPr lang="fr-CA" sz="2400" dirty="0"/>
              <a:t> est appliqué aux classes entités pour laquelle nous ne voulons pas créer une table dans la BD</a:t>
            </a:r>
          </a:p>
          <a:p>
            <a:r>
              <a:rPr lang="fr-CA" sz="2400" dirty="0"/>
              <a:t>L’attribut </a:t>
            </a:r>
            <a:r>
              <a:rPr lang="fr-CA" sz="2400" dirty="0" err="1"/>
              <a:t>NotMappedAttribute</a:t>
            </a:r>
            <a:r>
              <a:rPr lang="fr-CA" sz="2400" dirty="0"/>
              <a:t> est appliques aux attributs  d’une classe d’entité pour laquelle nous ne voulons pas créer de colonnes correspondantes dans la BD</a:t>
            </a:r>
          </a:p>
        </p:txBody>
      </p:sp>
      <p:sp>
        <p:nvSpPr>
          <p:cNvPr id="4099" name="Espace réservé du numéro de diapositive 4"/>
          <p:cNvSpPr>
            <a:spLocks noGrp="1"/>
          </p:cNvSpPr>
          <p:nvPr>
            <p:ph type="sldNum" sz="quarter" idx="12"/>
            <p:custDataLst>
              <p:tags r:id="rId3"/>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18</a:t>
            </a:fld>
            <a:endParaRPr lang="en-US" altLang="en-US"/>
          </a:p>
        </p:txBody>
      </p:sp>
      <p:sp>
        <p:nvSpPr>
          <p:cNvPr id="7" name="Rectangle 6">
            <a:extLst>
              <a:ext uri="{FF2B5EF4-FFF2-40B4-BE49-F238E27FC236}">
                <a16:creationId xmlns:a16="http://schemas.microsoft.com/office/drawing/2014/main" id="{18FEB2FF-5844-48A3-9981-E5AECBAE18FB}"/>
              </a:ext>
            </a:extLst>
          </p:cNvPr>
          <p:cNvSpPr/>
          <p:nvPr/>
        </p:nvSpPr>
        <p:spPr>
          <a:xfrm>
            <a:off x="5904" y="3501008"/>
            <a:ext cx="4572000" cy="2554545"/>
          </a:xfrm>
          <a:prstGeom prst="rect">
            <a:avLst/>
          </a:prstGeom>
        </p:spPr>
        <p:txBody>
          <a:bodyPr>
            <a:spAutoFit/>
          </a:bodyPr>
          <a:lstStyle/>
          <a:p>
            <a:r>
              <a:rPr lang="fr-CA" sz="1600" dirty="0">
                <a:solidFill>
                  <a:srgbClr val="000000"/>
                </a:solidFill>
                <a:latin typeface="Consolas" panose="020B0609020204030204" pitchFamily="49" charset="0"/>
              </a:rPr>
              <a:t>[</a:t>
            </a:r>
            <a:r>
              <a:rPr lang="fr-CA" sz="1600" dirty="0" err="1">
                <a:solidFill>
                  <a:srgbClr val="000000"/>
                </a:solidFill>
                <a:latin typeface="Consolas" panose="020B0609020204030204" pitchFamily="49" charset="0"/>
              </a:rPr>
              <a:t>NotMapped</a:t>
            </a:r>
            <a:r>
              <a:rPr lang="fr-CA" sz="1600" dirty="0">
                <a:solidFill>
                  <a:srgbClr val="000000"/>
                </a:solidFill>
                <a:latin typeface="Consolas" panose="020B0609020204030204" pitchFamily="49" charset="0"/>
              </a:rPr>
              <a:t>]</a:t>
            </a:r>
          </a:p>
          <a:p>
            <a:r>
              <a:rPr lang="fr-CA" sz="1600" dirty="0">
                <a:solidFill>
                  <a:srgbClr val="0000FF"/>
                </a:solidFill>
                <a:latin typeface="Consolas" panose="020B0609020204030204" pitchFamily="49" charset="0"/>
              </a:rPr>
              <a:t>public</a:t>
            </a:r>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class</a:t>
            </a:r>
            <a:r>
              <a:rPr lang="fr-CA" sz="1600" dirty="0">
                <a:solidFill>
                  <a:srgbClr val="000000"/>
                </a:solidFill>
                <a:latin typeface="Consolas" panose="020B0609020204030204" pitchFamily="49" charset="0"/>
              </a:rPr>
              <a:t> </a:t>
            </a:r>
            <a:r>
              <a:rPr lang="fr-CA" sz="1600" dirty="0">
                <a:solidFill>
                  <a:srgbClr val="2B91AF"/>
                </a:solidFill>
                <a:latin typeface="Consolas" panose="020B0609020204030204" pitchFamily="49" charset="0"/>
              </a:rPr>
              <a:t>Moteur</a:t>
            </a:r>
            <a:endParaRPr lang="fr-CA" sz="1600" dirty="0">
              <a:solidFill>
                <a:srgbClr val="000000"/>
              </a:solidFill>
              <a:latin typeface="Consolas" panose="020B0609020204030204" pitchFamily="49" charset="0"/>
            </a:endParaRPr>
          </a:p>
          <a:p>
            <a:r>
              <a:rPr lang="fr-CA"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Pompe</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Pompe</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get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Numéro</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return</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Pompe.Id</a:t>
            </a:r>
            <a:r>
              <a:rPr lang="en-US" sz="1600" dirty="0">
                <a:solidFill>
                  <a:srgbClr val="000000"/>
                </a:solidFill>
                <a:latin typeface="Consolas" panose="020B0609020204030204" pitchFamily="49" charset="0"/>
              </a:rPr>
              <a:t>; }</a:t>
            </a:r>
          </a:p>
          <a:p>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private</a:t>
            </a: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ÉtatMoteur</a:t>
            </a:r>
            <a:r>
              <a:rPr lang="fr-CA" sz="1600" dirty="0">
                <a:solidFill>
                  <a:srgbClr val="000000"/>
                </a:solidFill>
                <a:latin typeface="Consolas" panose="020B0609020204030204" pitchFamily="49" charset="0"/>
              </a:rPr>
              <a:t> État { </a:t>
            </a:r>
            <a:r>
              <a:rPr lang="fr-CA" sz="1600" dirty="0" err="1">
                <a:solidFill>
                  <a:srgbClr val="0000FF"/>
                </a:solidFill>
                <a:latin typeface="Consolas" panose="020B0609020204030204" pitchFamily="49" charset="0"/>
              </a:rPr>
              <a:t>get</a:t>
            </a:r>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set</a:t>
            </a:r>
            <a:r>
              <a:rPr lang="fr-CA" sz="1600" dirty="0">
                <a:solidFill>
                  <a:srgbClr val="000000"/>
                </a:solidFill>
                <a:latin typeface="Consolas" panose="020B0609020204030204" pitchFamily="49" charset="0"/>
              </a:rPr>
              <a:t>;}</a:t>
            </a:r>
          </a:p>
          <a:p>
            <a:r>
              <a:rPr lang="fr-CA" sz="1600" dirty="0">
                <a:solidFill>
                  <a:srgbClr val="000000"/>
                </a:solidFill>
                <a:latin typeface="Consolas" panose="020B0609020204030204" pitchFamily="49" charset="0"/>
              </a:rPr>
              <a:t>  …..</a:t>
            </a:r>
          </a:p>
          <a:p>
            <a:r>
              <a:rPr lang="fr-CA" sz="1600" dirty="0">
                <a:solidFill>
                  <a:srgbClr val="000000"/>
                </a:solidFill>
                <a:latin typeface="Consolas" panose="020B0609020204030204" pitchFamily="49" charset="0"/>
              </a:rPr>
              <a:t>        </a:t>
            </a:r>
          </a:p>
          <a:p>
            <a:r>
              <a:rPr lang="fr-CA" sz="1600" dirty="0">
                <a:solidFill>
                  <a:srgbClr val="000000"/>
                </a:solidFill>
                <a:latin typeface="Consolas" panose="020B0609020204030204" pitchFamily="49" charset="0"/>
              </a:rPr>
              <a:t>}</a:t>
            </a:r>
            <a:endParaRPr lang="fr-CA" sz="1600" dirty="0">
              <a:solidFill>
                <a:srgbClr val="000000"/>
              </a:solidFill>
            </a:endParaRPr>
          </a:p>
        </p:txBody>
      </p:sp>
      <p:sp>
        <p:nvSpPr>
          <p:cNvPr id="8" name="Rectangle 7">
            <a:extLst>
              <a:ext uri="{FF2B5EF4-FFF2-40B4-BE49-F238E27FC236}">
                <a16:creationId xmlns:a16="http://schemas.microsoft.com/office/drawing/2014/main" id="{12D0B90B-3A2A-4D35-B7A1-CB571D364CD6}"/>
              </a:ext>
            </a:extLst>
          </p:cNvPr>
          <p:cNvSpPr/>
          <p:nvPr/>
        </p:nvSpPr>
        <p:spPr>
          <a:xfrm>
            <a:off x="4355976" y="3405552"/>
            <a:ext cx="4716524" cy="3447098"/>
          </a:xfrm>
          <a:prstGeom prst="rect">
            <a:avLst/>
          </a:prstGeom>
        </p:spPr>
        <p:txBody>
          <a:bodyPr wrap="square">
            <a:spAutoFit/>
          </a:bodyPr>
          <a:lstStyle/>
          <a:p>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class</a:t>
            </a:r>
            <a:r>
              <a:rPr lang="en-US" sz="1600" dirty="0">
                <a:solidFill>
                  <a:srgbClr val="000000"/>
                </a:solidFill>
                <a:latin typeface="Consolas" panose="020B0609020204030204" pitchFamily="49" charset="0"/>
              </a:rPr>
              <a:t> </a:t>
            </a:r>
            <a:r>
              <a:rPr lang="en-US" sz="1600" dirty="0" err="1">
                <a:solidFill>
                  <a:srgbClr val="2B91AF"/>
                </a:solidFill>
                <a:latin typeface="Consolas" panose="020B0609020204030204" pitchFamily="49" charset="0"/>
              </a:rPr>
              <a:t>Pompe</a:t>
            </a:r>
            <a:r>
              <a:rPr lang="en-US" sz="1600" dirty="0">
                <a:solidFill>
                  <a:srgbClr val="000000"/>
                </a:solidFill>
                <a:latin typeface="Consolas" panose="020B0609020204030204" pitchFamily="49" charset="0"/>
              </a:rPr>
              <a:t> : </a:t>
            </a:r>
            <a:r>
              <a:rPr lang="en-US" sz="1600" dirty="0" err="1">
                <a:solidFill>
                  <a:srgbClr val="000000"/>
                </a:solidFill>
                <a:latin typeface="Consolas" panose="020B0609020204030204" pitchFamily="49" charset="0"/>
              </a:rPr>
              <a:t>BaseEntity</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IAggregateRoot</a:t>
            </a:r>
            <a:r>
              <a:rPr lang="en-US" sz="1600" dirty="0">
                <a:solidFill>
                  <a:srgbClr val="000000"/>
                </a:solidFill>
                <a:latin typeface="Consolas" panose="020B0609020204030204" pitchFamily="49" charset="0"/>
              </a:rPr>
              <a:t>, Subject</a:t>
            </a:r>
          </a:p>
          <a:p>
            <a:r>
              <a:rPr lang="fr-CA"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static</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Pompe</a:t>
            </a:r>
            <a:r>
              <a:rPr lang="en-US" sz="1600" dirty="0">
                <a:solidFill>
                  <a:srgbClr val="000000"/>
                </a:solidFill>
                <a:latin typeface="Consolas" panose="020B0609020204030204" pitchFamily="49" charset="0"/>
              </a:rPr>
              <a:t>[] Instances { </a:t>
            </a:r>
            <a:r>
              <a:rPr lang="en-US" sz="1600" dirty="0">
                <a:solidFill>
                  <a:srgbClr val="0000FF"/>
                </a:solidFill>
                <a:latin typeface="Consolas" panose="020B0609020204030204" pitchFamily="49" charset="0"/>
              </a:rPr>
              <a:t>get</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 }</a:t>
            </a:r>
          </a:p>
          <a:p>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private</a:t>
            </a:r>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const</a:t>
            </a:r>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int</a:t>
            </a:r>
            <a:r>
              <a:rPr lang="fr-CA" sz="1600" dirty="0">
                <a:solidFill>
                  <a:srgbClr val="000000"/>
                </a:solidFill>
                <a:latin typeface="Consolas" panose="020B0609020204030204" pitchFamily="49" charset="0"/>
              </a:rPr>
              <a:t> _</a:t>
            </a:r>
            <a:r>
              <a:rPr lang="fr-CA" sz="1600" dirty="0" err="1">
                <a:solidFill>
                  <a:srgbClr val="000000"/>
                </a:solidFill>
                <a:latin typeface="Consolas" panose="020B0609020204030204" pitchFamily="49" charset="0"/>
              </a:rPr>
              <a:t>NomrePompes</a:t>
            </a:r>
            <a:r>
              <a:rPr lang="fr-CA" sz="1600" dirty="0">
                <a:solidFill>
                  <a:srgbClr val="000000"/>
                </a:solidFill>
                <a:latin typeface="Consolas" panose="020B0609020204030204" pitchFamily="49" charset="0"/>
              </a:rPr>
              <a:t> = 3;</a:t>
            </a:r>
          </a:p>
          <a:p>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private</a:t>
            </a:r>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decimal</a:t>
            </a:r>
            <a:r>
              <a:rPr lang="fr-CA" sz="1600" dirty="0">
                <a:solidFill>
                  <a:srgbClr val="000000"/>
                </a:solidFill>
                <a:latin typeface="Consolas" panose="020B0609020204030204" pitchFamily="49" charset="0"/>
              </a:rPr>
              <a:t> _</a:t>
            </a:r>
            <a:r>
              <a:rPr lang="fr-CA" sz="1600" dirty="0" err="1">
                <a:solidFill>
                  <a:srgbClr val="000000"/>
                </a:solidFill>
                <a:latin typeface="Consolas" panose="020B0609020204030204" pitchFamily="49" charset="0"/>
              </a:rPr>
              <a:t>montantDemandé</a:t>
            </a:r>
            <a:r>
              <a:rPr lang="fr-CA" sz="1600" dirty="0">
                <a:solidFill>
                  <a:srgbClr val="000000"/>
                </a:solidFill>
                <a:latin typeface="Consolas" panose="020B0609020204030204" pitchFamily="49" charset="0"/>
              </a:rPr>
              <a:t>;</a:t>
            </a:r>
            <a:r>
              <a:rPr lang="fr-CA" sz="1600" dirty="0"/>
              <a:t> </a:t>
            </a:r>
          </a:p>
          <a:p>
            <a:r>
              <a:rPr lang="fr-CA" sz="1600" dirty="0"/>
              <a:t>    ……</a:t>
            </a:r>
          </a:p>
          <a:p>
            <a:r>
              <a:rPr lang="fr-CA" sz="1600" dirty="0"/>
              <a:t>    </a:t>
            </a:r>
            <a:r>
              <a:rPr lang="fr-CA" sz="1600" dirty="0">
                <a:solidFill>
                  <a:srgbClr val="000000"/>
                </a:solidFill>
                <a:latin typeface="Consolas" panose="020B0609020204030204" pitchFamily="49" charset="0"/>
              </a:rPr>
              <a:t>[</a:t>
            </a:r>
            <a:r>
              <a:rPr lang="fr-CA" sz="1600" dirty="0" err="1">
                <a:solidFill>
                  <a:srgbClr val="000000"/>
                </a:solidFill>
                <a:latin typeface="Consolas" panose="020B0609020204030204" pitchFamily="49" charset="0"/>
              </a:rPr>
              <a:t>NotMappedAttribute</a:t>
            </a:r>
            <a:r>
              <a:rPr lang="fr-CA" sz="1600" dirty="0">
                <a:solidFill>
                  <a:srgbClr val="000000"/>
                </a:solidFill>
                <a:latin typeface="Consolas" panose="020B0609020204030204" pitchFamily="49" charset="0"/>
              </a:rPr>
              <a:t>]</a:t>
            </a:r>
          </a:p>
          <a:p>
            <a:r>
              <a:rPr lang="fr-CA" sz="1600" dirty="0">
                <a:solidFill>
                  <a:srgbClr val="000000"/>
                </a:solidFill>
                <a:latin typeface="Consolas" panose="020B0609020204030204" pitchFamily="49" charset="0"/>
              </a:rPr>
              <a:t>  p</a:t>
            </a:r>
            <a:r>
              <a:rPr lang="fr-CA" sz="1600" dirty="0">
                <a:solidFill>
                  <a:srgbClr val="0000FF"/>
                </a:solidFill>
                <a:latin typeface="Consolas" panose="020B0609020204030204" pitchFamily="49" charset="0"/>
              </a:rPr>
              <a:t>ublic</a:t>
            </a:r>
            <a:r>
              <a:rPr lang="fr-CA" sz="1600" dirty="0">
                <a:solidFill>
                  <a:srgbClr val="000000"/>
                </a:solidFill>
                <a:latin typeface="Consolas" panose="020B0609020204030204" pitchFamily="49" charset="0"/>
              </a:rPr>
              <a:t> Moteur </a:t>
            </a:r>
            <a:r>
              <a:rPr lang="fr-CA" sz="1600" dirty="0" err="1">
                <a:solidFill>
                  <a:srgbClr val="000000"/>
                </a:solidFill>
                <a:latin typeface="Consolas" panose="020B0609020204030204" pitchFamily="49" charset="0"/>
              </a:rPr>
              <a:t>Moteur</a:t>
            </a:r>
            <a:r>
              <a:rPr lang="fr-CA" sz="1600" dirty="0">
                <a:solidFill>
                  <a:srgbClr val="000000"/>
                </a:solidFill>
                <a:latin typeface="Consolas" panose="020B0609020204030204" pitchFamily="49" charset="0"/>
              </a:rPr>
              <a:t> { </a:t>
            </a:r>
            <a:r>
              <a:rPr lang="fr-CA" sz="1600" dirty="0" err="1">
                <a:solidFill>
                  <a:srgbClr val="0000FF"/>
                </a:solidFill>
                <a:latin typeface="Consolas" panose="020B0609020204030204" pitchFamily="49" charset="0"/>
              </a:rPr>
              <a:t>get</a:t>
            </a:r>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private</a:t>
            </a:r>
            <a:r>
              <a:rPr lang="fr-CA" sz="1600" dirty="0">
                <a:solidFill>
                  <a:srgbClr val="000000"/>
                </a:solidFill>
                <a:latin typeface="Consolas" panose="020B0609020204030204" pitchFamily="49" charset="0"/>
              </a:rPr>
              <a:t> </a:t>
            </a:r>
          </a:p>
          <a:p>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set</a:t>
            </a:r>
            <a:r>
              <a:rPr lang="fr-CA" sz="1600" dirty="0">
                <a:solidFill>
                  <a:srgbClr val="000000"/>
                </a:solidFill>
                <a:latin typeface="Consolas" panose="020B0609020204030204" pitchFamily="49" charset="0"/>
              </a:rPr>
              <a:t>; }</a:t>
            </a:r>
            <a:r>
              <a:rPr lang="fr-CA" sz="1600" dirty="0"/>
              <a:t>    </a:t>
            </a:r>
          </a:p>
          <a:p>
            <a:r>
              <a:rPr lang="fr-CA" dirty="0"/>
              <a:t>   ……</a:t>
            </a:r>
          </a:p>
          <a:p>
            <a:r>
              <a:rPr lang="fr-CA" dirty="0"/>
              <a:t> }</a:t>
            </a:r>
          </a:p>
        </p:txBody>
      </p:sp>
    </p:spTree>
    <p:extLst>
      <p:ext uri="{BB962C8B-B14F-4D97-AF65-F5344CB8AC3E}">
        <p14:creationId xmlns:p14="http://schemas.microsoft.com/office/powerpoint/2010/main" val="12430311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fontScale="90000"/>
          </a:bodyPr>
          <a:lstStyle/>
          <a:p>
            <a:r>
              <a:rPr lang="fr-CA" dirty="0"/>
              <a:t>Association de multiplicité 1 à 1: navigation des deux côtés</a:t>
            </a:r>
            <a:endParaRPr lang="fr-CA" sz="4400" dirty="0"/>
          </a:p>
        </p:txBody>
      </p:sp>
      <p:sp>
        <p:nvSpPr>
          <p:cNvPr id="4099" name="Espace réservé du numéro de diapositive 4"/>
          <p:cNvSpPr>
            <a:spLocks noGrp="1"/>
          </p:cNvSpPr>
          <p:nvPr>
            <p:ph type="sldNum" sz="quarter" idx="12"/>
            <p:custDataLst>
              <p:tags r:id="rId2"/>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19</a:t>
            </a:fld>
            <a:endParaRPr lang="en-US" altLang="en-US"/>
          </a:p>
        </p:txBody>
      </p:sp>
      <p:sp>
        <p:nvSpPr>
          <p:cNvPr id="8" name="Rectangle 7">
            <a:extLst>
              <a:ext uri="{FF2B5EF4-FFF2-40B4-BE49-F238E27FC236}">
                <a16:creationId xmlns:a16="http://schemas.microsoft.com/office/drawing/2014/main" id="{75F69862-7F60-45A9-86EA-04ACC3FBD974}"/>
              </a:ext>
            </a:extLst>
          </p:cNvPr>
          <p:cNvSpPr/>
          <p:nvPr/>
        </p:nvSpPr>
        <p:spPr>
          <a:xfrm>
            <a:off x="395536" y="1592796"/>
            <a:ext cx="6627181" cy="2308324"/>
          </a:xfrm>
          <a:prstGeom prst="rect">
            <a:avLst/>
          </a:prstGeom>
        </p:spPr>
        <p:txBody>
          <a:bodyPr wrap="square">
            <a:spAutoFit/>
          </a:bodyPr>
          <a:lstStyle/>
          <a:p>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class</a:t>
            </a:r>
            <a:r>
              <a:rPr lang="en-US" sz="1600" dirty="0">
                <a:solidFill>
                  <a:srgbClr val="000000"/>
                </a:solidFill>
                <a:latin typeface="Consolas" panose="020B0609020204030204" pitchFamily="49" charset="0"/>
              </a:rPr>
              <a:t> </a:t>
            </a:r>
            <a:r>
              <a:rPr lang="en-US" sz="1600" dirty="0" err="1">
                <a:solidFill>
                  <a:srgbClr val="2B91AF"/>
                </a:solidFill>
                <a:latin typeface="Consolas" panose="020B0609020204030204" pitchFamily="49" charset="0"/>
              </a:rPr>
              <a:t>Pompe</a:t>
            </a:r>
            <a:r>
              <a:rPr lang="en-US" sz="1600" dirty="0">
                <a:solidFill>
                  <a:srgbClr val="000000"/>
                </a:solidFill>
                <a:latin typeface="Consolas" panose="020B0609020204030204" pitchFamily="49" charset="0"/>
              </a:rPr>
              <a:t> : </a:t>
            </a:r>
            <a:r>
              <a:rPr lang="en-US" sz="1600" dirty="0" err="1">
                <a:solidFill>
                  <a:srgbClr val="000000"/>
                </a:solidFill>
                <a:latin typeface="Consolas" panose="020B0609020204030204" pitchFamily="49" charset="0"/>
              </a:rPr>
              <a:t>BaseEntity</a:t>
            </a:r>
            <a:r>
              <a:rPr lang="fr-CA" sz="1600" dirty="0"/>
              <a:t>…</a:t>
            </a:r>
          </a:p>
          <a:p>
            <a:r>
              <a:rPr lang="fr-CA" sz="1600" dirty="0"/>
              <a:t> {</a:t>
            </a:r>
          </a:p>
          <a:p>
            <a:r>
              <a:rPr lang="fr-CA" sz="1600" dirty="0"/>
              <a:t>    ….</a:t>
            </a:r>
          </a:p>
          <a:p>
            <a:r>
              <a:rPr lang="fr-CA" sz="1600" dirty="0">
                <a:solidFill>
                  <a:srgbClr val="0000FF"/>
                </a:solidFill>
                <a:latin typeface="Consolas" panose="020B0609020204030204" pitchFamily="49" charset="0"/>
              </a:rPr>
              <a:t>  </a:t>
            </a:r>
            <a:r>
              <a:rPr lang="fr-CA" sz="1600" dirty="0" err="1">
                <a:solidFill>
                  <a:srgbClr val="0000FF"/>
                </a:solidFill>
                <a:latin typeface="Consolas" panose="020B0609020204030204" pitchFamily="49" charset="0"/>
              </a:rPr>
              <a:t>private</a:t>
            </a:r>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const</a:t>
            </a:r>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int</a:t>
            </a:r>
            <a:r>
              <a:rPr lang="fr-CA" sz="1600" dirty="0">
                <a:solidFill>
                  <a:srgbClr val="000000"/>
                </a:solidFill>
                <a:latin typeface="Consolas" panose="020B0609020204030204" pitchFamily="49" charset="0"/>
              </a:rPr>
              <a:t> _</a:t>
            </a:r>
            <a:r>
              <a:rPr lang="fr-CA" sz="1600" dirty="0" err="1">
                <a:solidFill>
                  <a:srgbClr val="000000"/>
                </a:solidFill>
                <a:latin typeface="Consolas" panose="020B0609020204030204" pitchFamily="49" charset="0"/>
              </a:rPr>
              <a:t>NomrePompes</a:t>
            </a:r>
            <a:r>
              <a:rPr lang="fr-CA" sz="1600" dirty="0">
                <a:solidFill>
                  <a:srgbClr val="000000"/>
                </a:solidFill>
                <a:latin typeface="Consolas" panose="020B0609020204030204" pitchFamily="49" charset="0"/>
              </a:rPr>
              <a:t> = 3;</a:t>
            </a:r>
          </a:p>
          <a:p>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private</a:t>
            </a:r>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decimal</a:t>
            </a:r>
            <a:r>
              <a:rPr lang="fr-CA" sz="1600" dirty="0">
                <a:solidFill>
                  <a:srgbClr val="000000"/>
                </a:solidFill>
                <a:latin typeface="Consolas" panose="020B0609020204030204" pitchFamily="49" charset="0"/>
              </a:rPr>
              <a:t> _</a:t>
            </a:r>
            <a:r>
              <a:rPr lang="fr-CA" sz="1600" dirty="0" err="1">
                <a:solidFill>
                  <a:srgbClr val="000000"/>
                </a:solidFill>
                <a:latin typeface="Consolas" panose="020B0609020204030204" pitchFamily="49" charset="0"/>
              </a:rPr>
              <a:t>montantDemandé</a:t>
            </a:r>
            <a:r>
              <a:rPr lang="fr-CA" sz="1600" dirty="0">
                <a:solidFill>
                  <a:srgbClr val="000000"/>
                </a:solidFill>
                <a:latin typeface="Consolas" panose="020B0609020204030204" pitchFamily="49" charset="0"/>
              </a:rPr>
              <a:t>;</a:t>
            </a:r>
            <a:r>
              <a:rPr lang="fr-CA" sz="1600" dirty="0"/>
              <a:t> </a:t>
            </a:r>
          </a:p>
          <a:p>
            <a:r>
              <a:rPr lang="fr-CA" sz="1600" dirty="0"/>
              <a:t>     …..</a:t>
            </a:r>
          </a:p>
          <a:p>
            <a:r>
              <a:rPr lang="fr-CA" sz="1600" dirty="0"/>
              <a:t>    </a:t>
            </a:r>
            <a:r>
              <a:rPr lang="fr-CA" sz="1600" dirty="0">
                <a:solidFill>
                  <a:srgbClr val="0000FF"/>
                </a:solidFill>
                <a:latin typeface="Consolas" panose="020B0609020204030204" pitchFamily="49" charset="0"/>
              </a:rPr>
              <a:t>public</a:t>
            </a:r>
            <a:r>
              <a:rPr lang="fr-CA" sz="1600" dirty="0">
                <a:solidFill>
                  <a:srgbClr val="000000"/>
                </a:solidFill>
                <a:latin typeface="Consolas" panose="020B0609020204030204" pitchFamily="49" charset="0"/>
              </a:rPr>
              <a:t> Réservoir </a:t>
            </a:r>
            <a:r>
              <a:rPr lang="fr-CA" sz="1600" dirty="0" err="1">
                <a:solidFill>
                  <a:srgbClr val="000000"/>
                </a:solidFill>
                <a:latin typeface="Consolas" panose="020B0609020204030204" pitchFamily="49" charset="0"/>
              </a:rPr>
              <a:t>Réservoir</a:t>
            </a:r>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get</a:t>
            </a:r>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set</a:t>
            </a:r>
            <a:r>
              <a:rPr lang="fr-CA" sz="1600" dirty="0">
                <a:solidFill>
                  <a:srgbClr val="000000"/>
                </a:solidFill>
                <a:latin typeface="Consolas" panose="020B0609020204030204" pitchFamily="49" charset="0"/>
              </a:rPr>
              <a:t>;} }</a:t>
            </a:r>
            <a:endParaRPr lang="fr-CA" sz="1600" dirty="0"/>
          </a:p>
          <a:p>
            <a:r>
              <a:rPr lang="fr-CA" sz="1600" dirty="0"/>
              <a:t>     ……</a:t>
            </a:r>
          </a:p>
          <a:p>
            <a:r>
              <a:rPr lang="fr-CA" sz="1600" dirty="0"/>
              <a:t>}</a:t>
            </a:r>
          </a:p>
        </p:txBody>
      </p:sp>
      <p:sp>
        <p:nvSpPr>
          <p:cNvPr id="9" name="Rectangle 8">
            <a:extLst>
              <a:ext uri="{FF2B5EF4-FFF2-40B4-BE49-F238E27FC236}">
                <a16:creationId xmlns:a16="http://schemas.microsoft.com/office/drawing/2014/main" id="{C342D3AB-D365-4265-B323-2FDD91243E7C}"/>
              </a:ext>
            </a:extLst>
          </p:cNvPr>
          <p:cNvSpPr/>
          <p:nvPr/>
        </p:nvSpPr>
        <p:spPr>
          <a:xfrm>
            <a:off x="215516" y="3933056"/>
            <a:ext cx="7596844" cy="2800767"/>
          </a:xfrm>
          <a:prstGeom prst="rect">
            <a:avLst/>
          </a:prstGeom>
        </p:spPr>
        <p:txBody>
          <a:bodyPr wrap="square">
            <a:spAutoFit/>
          </a:bodyPr>
          <a:lstStyle/>
          <a:p>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class</a:t>
            </a:r>
            <a:r>
              <a:rPr lang="en-US" sz="1600" dirty="0">
                <a:solidFill>
                  <a:srgbClr val="000000"/>
                </a:solidFill>
                <a:latin typeface="Consolas" panose="020B0609020204030204" pitchFamily="49" charset="0"/>
              </a:rPr>
              <a:t> </a:t>
            </a:r>
            <a:r>
              <a:rPr lang="en-US" sz="1600" dirty="0" err="1">
                <a:solidFill>
                  <a:srgbClr val="2B91AF"/>
                </a:solidFill>
                <a:latin typeface="Consolas" panose="020B0609020204030204" pitchFamily="49" charset="0"/>
              </a:rPr>
              <a:t>Réservoir</a:t>
            </a:r>
            <a:r>
              <a:rPr lang="fr-CA" sz="1600" dirty="0"/>
              <a:t> : ..</a:t>
            </a:r>
          </a:p>
          <a:p>
            <a:r>
              <a:rPr lang="fr-CA" sz="1600" dirty="0"/>
              <a:t>    {</a:t>
            </a:r>
          </a:p>
          <a:p>
            <a:r>
              <a:rPr lang="fr-CA" sz="1600" dirty="0"/>
              <a:t>       </a:t>
            </a:r>
            <a:r>
              <a:rPr lang="fr-CA" sz="1600" dirty="0" err="1">
                <a:solidFill>
                  <a:srgbClr val="0000FF"/>
                </a:solidFill>
                <a:latin typeface="Consolas" panose="020B0609020204030204" pitchFamily="49" charset="0"/>
              </a:rPr>
              <a:t>private</a:t>
            </a:r>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const</a:t>
            </a:r>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int</a:t>
            </a:r>
            <a:r>
              <a:rPr lang="fr-CA" sz="1600" dirty="0">
                <a:solidFill>
                  <a:srgbClr val="000000"/>
                </a:solidFill>
                <a:latin typeface="Consolas" panose="020B0609020204030204" pitchFamily="49" charset="0"/>
              </a:rPr>
              <a:t> </a:t>
            </a:r>
            <a:r>
              <a:rPr lang="fr-CA" sz="1600" dirty="0"/>
              <a:t>= 0.04M;</a:t>
            </a:r>
          </a:p>
          <a:p>
            <a:r>
              <a:rPr lang="fr-CA" sz="1600" dirty="0"/>
              <a:t>       </a:t>
            </a:r>
            <a:r>
              <a:rPr lang="fr-CA" sz="1600" dirty="0" err="1">
                <a:solidFill>
                  <a:srgbClr val="0000FF"/>
                </a:solidFill>
                <a:latin typeface="Consolas" panose="020B0609020204030204" pitchFamily="49" charset="0"/>
              </a:rPr>
              <a:t>private</a:t>
            </a:r>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const</a:t>
            </a:r>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decimal</a:t>
            </a:r>
            <a:r>
              <a:rPr lang="fr-CA" sz="1600" dirty="0"/>
              <a:t> _Incrément = 1.0M / 100.0M;   // 1/100 de litre</a:t>
            </a:r>
          </a:p>
          <a:p>
            <a:r>
              <a:rPr lang="fr-CA" sz="1600" dirty="0"/>
              <a:t>       </a:t>
            </a:r>
            <a:r>
              <a:rPr lang="fr-CA" sz="1600" dirty="0" err="1">
                <a:solidFill>
                  <a:srgbClr val="0000FF"/>
                </a:solidFill>
                <a:latin typeface="Consolas" panose="020B0609020204030204" pitchFamily="49" charset="0"/>
              </a:rPr>
              <a:t>private</a:t>
            </a:r>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decimal</a:t>
            </a:r>
            <a:r>
              <a:rPr lang="fr-CA" sz="1600" dirty="0">
                <a:solidFill>
                  <a:srgbClr val="000000"/>
                </a:solidFill>
                <a:latin typeface="Consolas" panose="020B0609020204030204" pitchFamily="49" charset="0"/>
              </a:rPr>
              <a:t> </a:t>
            </a:r>
            <a:r>
              <a:rPr lang="fr-CA" sz="1600" dirty="0"/>
              <a:t>niveau;</a:t>
            </a:r>
          </a:p>
          <a:p>
            <a:r>
              <a:rPr lang="fr-CA" sz="1600" dirty="0"/>
              <a:t>       ….</a:t>
            </a:r>
          </a:p>
          <a:p>
            <a:r>
              <a:rPr lang="fr-CA" sz="1600" dirty="0">
                <a:solidFill>
                  <a:srgbClr val="0000FF"/>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PompeId</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get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Pompe</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Pompe</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get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private</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a:t>
            </a:r>
            <a:r>
              <a:rPr lang="fr-CA" sz="1600" dirty="0"/>
              <a:t>       </a:t>
            </a:r>
          </a:p>
          <a:p>
            <a:endParaRPr lang="fr-CA" sz="1600" dirty="0"/>
          </a:p>
          <a:p>
            <a:r>
              <a:rPr lang="fr-CA" sz="1600" dirty="0"/>
              <a:t>        ….</a:t>
            </a:r>
          </a:p>
          <a:p>
            <a:r>
              <a:rPr lang="fr-CA" sz="1600" dirty="0"/>
              <a:t> }</a:t>
            </a:r>
          </a:p>
        </p:txBody>
      </p:sp>
      <p:pic>
        <p:nvPicPr>
          <p:cNvPr id="10" name="Image 9">
            <a:extLst>
              <a:ext uri="{FF2B5EF4-FFF2-40B4-BE49-F238E27FC236}">
                <a16:creationId xmlns:a16="http://schemas.microsoft.com/office/drawing/2014/main" id="{B1CB2DD1-BA01-4F93-B698-A4A569E3E271}"/>
              </a:ext>
            </a:extLst>
          </p:cNvPr>
          <p:cNvPicPr>
            <a:picLocks noChangeAspect="1"/>
          </p:cNvPicPr>
          <p:nvPr/>
        </p:nvPicPr>
        <p:blipFill>
          <a:blip r:embed="rId4"/>
          <a:stretch>
            <a:fillRect/>
          </a:stretch>
        </p:blipFill>
        <p:spPr>
          <a:xfrm>
            <a:off x="4932040" y="1376772"/>
            <a:ext cx="4147127" cy="2635539"/>
          </a:xfrm>
          <a:prstGeom prst="rect">
            <a:avLst/>
          </a:prstGeom>
        </p:spPr>
      </p:pic>
      <p:sp>
        <p:nvSpPr>
          <p:cNvPr id="11" name="Rectangle 10">
            <a:extLst>
              <a:ext uri="{FF2B5EF4-FFF2-40B4-BE49-F238E27FC236}">
                <a16:creationId xmlns:a16="http://schemas.microsoft.com/office/drawing/2014/main" id="{A261A766-8A07-48BB-9E76-8B31FB81F864}"/>
              </a:ext>
            </a:extLst>
          </p:cNvPr>
          <p:cNvSpPr/>
          <p:nvPr/>
        </p:nvSpPr>
        <p:spPr>
          <a:xfrm>
            <a:off x="647564" y="3068960"/>
            <a:ext cx="4320480" cy="3240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2" name="Rectangle 11">
            <a:extLst>
              <a:ext uri="{FF2B5EF4-FFF2-40B4-BE49-F238E27FC236}">
                <a16:creationId xmlns:a16="http://schemas.microsoft.com/office/drawing/2014/main" id="{BECD6BBB-E26D-45AB-BCF3-C598242CD707}"/>
              </a:ext>
            </a:extLst>
          </p:cNvPr>
          <p:cNvSpPr/>
          <p:nvPr/>
        </p:nvSpPr>
        <p:spPr>
          <a:xfrm>
            <a:off x="575556" y="5481228"/>
            <a:ext cx="4500500" cy="5760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4" name="ZoneTexte 3">
            <a:extLst>
              <a:ext uri="{FF2B5EF4-FFF2-40B4-BE49-F238E27FC236}">
                <a16:creationId xmlns:a16="http://schemas.microsoft.com/office/drawing/2014/main" id="{EB80EAD6-B983-4639-8CDB-A5D52FFAFD79}"/>
              </a:ext>
            </a:extLst>
          </p:cNvPr>
          <p:cNvSpPr txBox="1"/>
          <p:nvPr/>
        </p:nvSpPr>
        <p:spPr>
          <a:xfrm>
            <a:off x="5112060" y="5445224"/>
            <a:ext cx="3816424" cy="646331"/>
          </a:xfrm>
          <a:prstGeom prst="rect">
            <a:avLst/>
          </a:prstGeom>
          <a:noFill/>
        </p:spPr>
        <p:txBody>
          <a:bodyPr wrap="square" rtlCol="0">
            <a:spAutoFit/>
          </a:bodyPr>
          <a:lstStyle/>
          <a:p>
            <a:r>
              <a:rPr lang="fr-CA" dirty="0">
                <a:solidFill>
                  <a:srgbClr val="FF0000"/>
                </a:solidFill>
              </a:rPr>
              <a:t>La clé étrangère sera dans la table Réservoirs</a:t>
            </a:r>
          </a:p>
        </p:txBody>
      </p:sp>
    </p:spTree>
    <p:extLst>
      <p:ext uri="{BB962C8B-B14F-4D97-AF65-F5344CB8AC3E}">
        <p14:creationId xmlns:p14="http://schemas.microsoft.com/office/powerpoint/2010/main" val="9608724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fontScale="90000"/>
          </a:bodyPr>
          <a:lstStyle/>
          <a:p>
            <a:r>
              <a:rPr lang="fr-CA" dirty="0"/>
              <a:t>Association de multiplicité 1 à *</a:t>
            </a:r>
            <a:endParaRPr lang="fr-CA" sz="4400" dirty="0"/>
          </a:p>
        </p:txBody>
      </p:sp>
      <p:sp>
        <p:nvSpPr>
          <p:cNvPr id="4099" name="Espace réservé du numéro de diapositive 4"/>
          <p:cNvSpPr>
            <a:spLocks noGrp="1"/>
          </p:cNvSpPr>
          <p:nvPr>
            <p:ph type="sldNum" sz="quarter" idx="12"/>
            <p:custDataLst>
              <p:tags r:id="rId2"/>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20</a:t>
            </a:fld>
            <a:endParaRPr lang="en-US" altLang="en-US"/>
          </a:p>
        </p:txBody>
      </p:sp>
      <p:sp>
        <p:nvSpPr>
          <p:cNvPr id="5" name="Rectangle 4">
            <a:extLst>
              <a:ext uri="{FF2B5EF4-FFF2-40B4-BE49-F238E27FC236}">
                <a16:creationId xmlns:a16="http://schemas.microsoft.com/office/drawing/2014/main" id="{FE0D38D0-6DF0-41A2-A24B-C428C99047B2}"/>
              </a:ext>
            </a:extLst>
          </p:cNvPr>
          <p:cNvSpPr/>
          <p:nvPr/>
        </p:nvSpPr>
        <p:spPr>
          <a:xfrm>
            <a:off x="287524" y="2996952"/>
            <a:ext cx="8280412" cy="3785652"/>
          </a:xfrm>
          <a:prstGeom prst="rect">
            <a:avLst/>
          </a:prstGeom>
        </p:spPr>
        <p:txBody>
          <a:bodyPr wrap="square">
            <a:spAutoFit/>
          </a:bodyPr>
          <a:lstStyle/>
          <a:p>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class</a:t>
            </a:r>
            <a:r>
              <a:rPr lang="en-US" sz="1600" dirty="0">
                <a:solidFill>
                  <a:srgbClr val="000000"/>
                </a:solidFill>
                <a:latin typeface="Consolas" panose="020B0609020204030204" pitchFamily="49" charset="0"/>
              </a:rPr>
              <a:t> </a:t>
            </a:r>
            <a:r>
              <a:rPr lang="en-US" sz="1600" dirty="0">
                <a:solidFill>
                  <a:srgbClr val="2B91AF"/>
                </a:solidFill>
                <a:latin typeface="Consolas" panose="020B0609020204030204" pitchFamily="49" charset="0"/>
              </a:rPr>
              <a:t>Transaction</a:t>
            </a:r>
            <a:r>
              <a:rPr lang="en-US" sz="1600" dirty="0">
                <a:solidFill>
                  <a:srgbClr val="000000"/>
                </a:solidFill>
                <a:latin typeface="Consolas" panose="020B0609020204030204" pitchFamily="49" charset="0"/>
              </a:rPr>
              <a:t> </a:t>
            </a:r>
            <a:r>
              <a:rPr lang="fr-CA" sz="1600" dirty="0"/>
              <a:t>: </a:t>
            </a:r>
            <a:r>
              <a:rPr lang="fr-CA" sz="1600" dirty="0" err="1"/>
              <a:t>BaseEntity</a:t>
            </a:r>
            <a:r>
              <a:rPr lang="fr-CA" sz="1600" dirty="0"/>
              <a:t>…</a:t>
            </a:r>
          </a:p>
          <a:p>
            <a:r>
              <a:rPr lang="fr-CA" sz="1600" dirty="0"/>
              <a:t>    { ….</a:t>
            </a:r>
          </a:p>
          <a:p>
            <a:r>
              <a:rPr lang="fr-CA" sz="1600" dirty="0"/>
              <a:t>       ….</a:t>
            </a:r>
          </a:p>
          <a:p>
            <a:r>
              <a:rPr lang="fr-CA" sz="1600" dirty="0"/>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virtual</a:t>
            </a:r>
            <a:r>
              <a:rPr lang="en-US" sz="1600" dirty="0">
                <a:solidFill>
                  <a:srgbClr val="000000"/>
                </a:solidFill>
                <a:latin typeface="Consolas" panose="020B0609020204030204" pitchFamily="49" charset="0"/>
              </a:rPr>
              <a:t> List&lt;</a:t>
            </a:r>
            <a:r>
              <a:rPr lang="en-US" sz="1600" dirty="0" err="1">
                <a:solidFill>
                  <a:srgbClr val="000000"/>
                </a:solidFill>
                <a:latin typeface="Consolas" panose="020B0609020204030204" pitchFamily="49" charset="0"/>
              </a:rPr>
              <a:t>Paiement</a:t>
            </a:r>
            <a:r>
              <a:rPr lang="en-US" sz="1600" dirty="0">
                <a:solidFill>
                  <a:srgbClr val="000000"/>
                </a:solidFill>
                <a:latin typeface="Consolas" panose="020B0609020204030204" pitchFamily="49" charset="0"/>
              </a:rPr>
              <a:t>&gt; </a:t>
            </a:r>
            <a:r>
              <a:rPr lang="en-US" sz="1600" dirty="0" err="1">
                <a:solidFill>
                  <a:srgbClr val="000000"/>
                </a:solidFill>
                <a:latin typeface="Consolas" panose="020B0609020204030204" pitchFamily="49" charset="0"/>
              </a:rPr>
              <a:t>Paiements</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get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private</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 } = </a:t>
            </a:r>
            <a:r>
              <a:rPr lang="en-US" sz="1600" dirty="0">
                <a:solidFill>
                  <a:srgbClr val="0000FF"/>
                </a:solidFill>
                <a:latin typeface="Consolas" panose="020B0609020204030204" pitchFamily="49" charset="0"/>
              </a:rPr>
              <a:t>new</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List&lt;</a:t>
            </a:r>
            <a:r>
              <a:rPr lang="en-US" sz="1600" dirty="0" err="1">
                <a:solidFill>
                  <a:srgbClr val="000000"/>
                </a:solidFill>
                <a:latin typeface="Consolas" panose="020B0609020204030204" pitchFamily="49" charset="0"/>
              </a:rPr>
              <a:t>Paiement</a:t>
            </a:r>
            <a:r>
              <a:rPr lang="en-US" sz="1600" dirty="0">
                <a:solidFill>
                  <a:srgbClr val="000000"/>
                </a:solidFill>
                <a:latin typeface="Consolas" panose="020B0609020204030204" pitchFamily="49" charset="0"/>
              </a:rPr>
              <a:t>&gt;();</a:t>
            </a:r>
            <a:endParaRPr lang="fr-CA" sz="1600" dirty="0"/>
          </a:p>
          <a:p>
            <a:r>
              <a:rPr lang="fr-CA" sz="1600" dirty="0"/>
              <a:t>      </a:t>
            </a:r>
            <a:r>
              <a:rPr lang="fr-CA" sz="1600" dirty="0">
                <a:solidFill>
                  <a:srgbClr val="0000FF"/>
                </a:solidFill>
                <a:latin typeface="Consolas" panose="020B0609020204030204" pitchFamily="49" charset="0"/>
              </a:rPr>
              <a:t>public</a:t>
            </a:r>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void</a:t>
            </a: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AddPaiement</a:t>
            </a:r>
            <a:r>
              <a:rPr lang="fr-CA" sz="1600" dirty="0">
                <a:solidFill>
                  <a:srgbClr val="000000"/>
                </a:solidFill>
                <a:latin typeface="Consolas" panose="020B0609020204030204" pitchFamily="49" charset="0"/>
              </a:rPr>
              <a:t>(Paiement </a:t>
            </a:r>
            <a:r>
              <a:rPr lang="fr-CA" sz="1600" dirty="0" err="1">
                <a:solidFill>
                  <a:srgbClr val="000000"/>
                </a:solidFill>
                <a:latin typeface="Consolas" panose="020B0609020204030204" pitchFamily="49" charset="0"/>
              </a:rPr>
              <a:t>paiement</a:t>
            </a:r>
            <a:r>
              <a:rPr lang="fr-CA" sz="1600" dirty="0">
                <a:solidFill>
                  <a:srgbClr val="000000"/>
                </a:solidFill>
                <a:latin typeface="Consolas" panose="020B0609020204030204" pitchFamily="49" charset="0"/>
              </a:rPr>
              <a:t>)</a:t>
            </a:r>
          </a:p>
          <a:p>
            <a:r>
              <a:rPr lang="fr-CA" sz="1600" dirty="0">
                <a:solidFill>
                  <a:srgbClr val="000000"/>
                </a:solidFill>
                <a:latin typeface="Consolas" panose="020B0609020204030204" pitchFamily="49" charset="0"/>
              </a:rPr>
              <a:t>    {</a:t>
            </a:r>
          </a:p>
          <a:p>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Paiements.Add</a:t>
            </a:r>
            <a:r>
              <a:rPr lang="fr-CA" sz="1600" dirty="0">
                <a:solidFill>
                  <a:srgbClr val="000000"/>
                </a:solidFill>
                <a:latin typeface="Consolas" panose="020B0609020204030204" pitchFamily="49" charset="0"/>
              </a:rPr>
              <a:t>(paiement);</a:t>
            </a:r>
          </a:p>
          <a:p>
            <a:r>
              <a:rPr lang="fr-CA" sz="1600" dirty="0">
                <a:solidFill>
                  <a:srgbClr val="000000"/>
                </a:solidFill>
                <a:latin typeface="Consolas" panose="020B0609020204030204" pitchFamily="49" charset="0"/>
              </a:rPr>
              <a:t>    }</a:t>
            </a:r>
          </a:p>
          <a:p>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public</a:t>
            </a:r>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void</a:t>
            </a: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RemovePaiement</a:t>
            </a:r>
            <a:r>
              <a:rPr lang="fr-CA" sz="1600" dirty="0">
                <a:solidFill>
                  <a:srgbClr val="000000"/>
                </a:solidFill>
                <a:latin typeface="Consolas" panose="020B0609020204030204" pitchFamily="49" charset="0"/>
              </a:rPr>
              <a:t>(Paiement </a:t>
            </a:r>
            <a:r>
              <a:rPr lang="fr-CA" sz="1600" dirty="0" err="1">
                <a:solidFill>
                  <a:srgbClr val="000000"/>
                </a:solidFill>
                <a:latin typeface="Consolas" panose="020B0609020204030204" pitchFamily="49" charset="0"/>
              </a:rPr>
              <a:t>paiement</a:t>
            </a:r>
            <a:r>
              <a:rPr lang="fr-CA" sz="1600" dirty="0">
                <a:solidFill>
                  <a:srgbClr val="000000"/>
                </a:solidFill>
                <a:latin typeface="Consolas" panose="020B0609020204030204" pitchFamily="49" charset="0"/>
              </a:rPr>
              <a:t>)</a:t>
            </a:r>
          </a:p>
          <a:p>
            <a:r>
              <a:rPr lang="fr-CA" sz="1600" dirty="0">
                <a:solidFill>
                  <a:srgbClr val="000000"/>
                </a:solidFill>
                <a:latin typeface="Consolas" panose="020B0609020204030204" pitchFamily="49" charset="0"/>
              </a:rPr>
              <a:t>    {</a:t>
            </a:r>
          </a:p>
          <a:p>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Paiements.Remove</a:t>
            </a:r>
            <a:r>
              <a:rPr lang="fr-CA" sz="1600" dirty="0">
                <a:solidFill>
                  <a:srgbClr val="000000"/>
                </a:solidFill>
                <a:latin typeface="Consolas" panose="020B0609020204030204" pitchFamily="49" charset="0"/>
              </a:rPr>
              <a:t>(paiement);</a:t>
            </a:r>
          </a:p>
          <a:p>
            <a:r>
              <a:rPr lang="fr-CA" sz="1600" dirty="0">
                <a:solidFill>
                  <a:srgbClr val="000000"/>
                </a:solidFill>
                <a:latin typeface="Consolas" panose="020B0609020204030204" pitchFamily="49" charset="0"/>
              </a:rPr>
              <a:t>    }</a:t>
            </a:r>
            <a:r>
              <a:rPr lang="fr-CA" sz="1600" dirty="0"/>
              <a:t>        </a:t>
            </a:r>
          </a:p>
          <a:p>
            <a:r>
              <a:rPr lang="fr-CA" sz="1600" dirty="0"/>
              <a:t>      ….</a:t>
            </a:r>
          </a:p>
          <a:p>
            <a:r>
              <a:rPr lang="fr-CA" sz="1600" dirty="0"/>
              <a:t>    }</a:t>
            </a:r>
          </a:p>
        </p:txBody>
      </p:sp>
      <p:pic>
        <p:nvPicPr>
          <p:cNvPr id="6" name="Image 5">
            <a:extLst>
              <a:ext uri="{FF2B5EF4-FFF2-40B4-BE49-F238E27FC236}">
                <a16:creationId xmlns:a16="http://schemas.microsoft.com/office/drawing/2014/main" id="{3F345433-F882-4FE6-BC3E-AF5A01EB789A}"/>
              </a:ext>
            </a:extLst>
          </p:cNvPr>
          <p:cNvPicPr>
            <a:picLocks noChangeAspect="1"/>
          </p:cNvPicPr>
          <p:nvPr/>
        </p:nvPicPr>
        <p:blipFill>
          <a:blip r:embed="rId4"/>
          <a:stretch>
            <a:fillRect/>
          </a:stretch>
        </p:blipFill>
        <p:spPr>
          <a:xfrm>
            <a:off x="4608004" y="1304765"/>
            <a:ext cx="4539812" cy="2304256"/>
          </a:xfrm>
          <a:prstGeom prst="rect">
            <a:avLst/>
          </a:prstGeom>
        </p:spPr>
      </p:pic>
      <p:sp>
        <p:nvSpPr>
          <p:cNvPr id="7" name="Rectangle 6">
            <a:extLst>
              <a:ext uri="{FF2B5EF4-FFF2-40B4-BE49-F238E27FC236}">
                <a16:creationId xmlns:a16="http://schemas.microsoft.com/office/drawing/2014/main" id="{3F219EDC-A08A-43A7-A04A-EB5C0CDBEC1B}"/>
              </a:ext>
            </a:extLst>
          </p:cNvPr>
          <p:cNvSpPr/>
          <p:nvPr/>
        </p:nvSpPr>
        <p:spPr>
          <a:xfrm>
            <a:off x="611560" y="3717032"/>
            <a:ext cx="7884876" cy="25202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37767188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fontScale="90000"/>
          </a:bodyPr>
          <a:lstStyle/>
          <a:p>
            <a:r>
              <a:rPr lang="fr-CA" dirty="0"/>
              <a:t>Association de multiplicité * à *</a:t>
            </a:r>
            <a:endParaRPr lang="fr-CA" sz="4400" dirty="0"/>
          </a:p>
        </p:txBody>
      </p:sp>
      <p:sp>
        <p:nvSpPr>
          <p:cNvPr id="4101" name="Rectangle 3"/>
          <p:cNvSpPr>
            <a:spLocks noGrp="1" noChangeArrowheads="1"/>
          </p:cNvSpPr>
          <p:nvPr>
            <p:ph idx="1"/>
            <p:custDataLst>
              <p:tags r:id="rId2"/>
            </p:custDataLst>
          </p:nvPr>
        </p:nvSpPr>
        <p:spPr>
          <a:xfrm>
            <a:off x="228600" y="1403874"/>
            <a:ext cx="8686800" cy="4509402"/>
          </a:xfrm>
        </p:spPr>
        <p:txBody>
          <a:bodyPr>
            <a:noAutofit/>
          </a:bodyPr>
          <a:lstStyle/>
          <a:p>
            <a:r>
              <a:rPr lang="fr-CA" sz="2400" dirty="0"/>
              <a:t>Auparavant, l’association * à * n’était pas supportée par EF </a:t>
            </a:r>
            <a:r>
              <a:rPr lang="fr-CA" sz="2400" dirty="0" err="1"/>
              <a:t>Core</a:t>
            </a:r>
            <a:endParaRPr lang="fr-CA" sz="2400" dirty="0"/>
          </a:p>
          <a:p>
            <a:r>
              <a:rPr lang="fr-CA" sz="2400" dirty="0"/>
              <a:t>Pour que cela fonctionne, le développeur doit créer une classe d'entité jointe</a:t>
            </a:r>
          </a:p>
          <a:p>
            <a:r>
              <a:rPr lang="fr-CA" sz="2400" dirty="0"/>
              <a:t>Depuis </a:t>
            </a:r>
            <a:r>
              <a:rPr lang="fr-CA" sz="2400" dirty="0" err="1"/>
              <a:t>Entity</a:t>
            </a:r>
            <a:r>
              <a:rPr lang="fr-CA" sz="2400" dirty="0"/>
              <a:t> Framework </a:t>
            </a:r>
            <a:r>
              <a:rPr lang="fr-CA" sz="2400" dirty="0" err="1"/>
              <a:t>Core</a:t>
            </a:r>
            <a:r>
              <a:rPr lang="fr-CA" sz="2400" dirty="0"/>
              <a:t> 5.0, le </a:t>
            </a:r>
            <a:r>
              <a:rPr lang="fr-CA" sz="2400" dirty="0" err="1"/>
              <a:t>framework</a:t>
            </a:r>
            <a:r>
              <a:rPr lang="fr-CA" sz="2400" dirty="0"/>
              <a:t> prend entièrement responsable les associations * à * sans mapper explicitement la table de jointure</a:t>
            </a:r>
          </a:p>
          <a:p>
            <a:r>
              <a:rPr lang="fr-CA" sz="2400" dirty="0"/>
              <a:t>Les propriétés de navigation ignorent la table de jointure et pointent directement vers l’autre entité</a:t>
            </a:r>
          </a:p>
          <a:p>
            <a:r>
              <a:rPr lang="fr-CA" sz="2400" dirty="0"/>
              <a:t>Cela permet d'écrire des requêtes plus propres et de simplifier l’utilisation du résultat de la requête </a:t>
            </a:r>
          </a:p>
        </p:txBody>
      </p:sp>
      <p:sp>
        <p:nvSpPr>
          <p:cNvPr id="4099" name="Espace réservé du numéro de diapositive 4"/>
          <p:cNvSpPr>
            <a:spLocks noGrp="1"/>
          </p:cNvSpPr>
          <p:nvPr>
            <p:ph type="sldNum" sz="quarter" idx="12"/>
            <p:custDataLst>
              <p:tags r:id="rId3"/>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21</a:t>
            </a:fld>
            <a:endParaRPr lang="en-US" altLang="en-US"/>
          </a:p>
        </p:txBody>
      </p:sp>
    </p:spTree>
    <p:extLst>
      <p:ext uri="{BB962C8B-B14F-4D97-AF65-F5344CB8AC3E}">
        <p14:creationId xmlns:p14="http://schemas.microsoft.com/office/powerpoint/2010/main" val="25863850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fontScale="90000"/>
          </a:bodyPr>
          <a:lstStyle/>
          <a:p>
            <a:r>
              <a:rPr lang="fr-CA" dirty="0"/>
              <a:t>Association de multiplicité * à *</a:t>
            </a:r>
            <a:endParaRPr lang="fr-CA" sz="4400" dirty="0"/>
          </a:p>
        </p:txBody>
      </p:sp>
      <p:sp>
        <p:nvSpPr>
          <p:cNvPr id="4101" name="Rectangle 3"/>
          <p:cNvSpPr>
            <a:spLocks noGrp="1" noChangeArrowheads="1"/>
          </p:cNvSpPr>
          <p:nvPr>
            <p:ph idx="1"/>
            <p:custDataLst>
              <p:tags r:id="rId2"/>
            </p:custDataLst>
          </p:nvPr>
        </p:nvSpPr>
        <p:spPr>
          <a:xfrm>
            <a:off x="228600" y="1403874"/>
            <a:ext cx="8686800" cy="5157474"/>
          </a:xfrm>
        </p:spPr>
        <p:txBody>
          <a:bodyPr>
            <a:noAutofit/>
          </a:bodyPr>
          <a:lstStyle/>
          <a:p>
            <a:r>
              <a:rPr lang="fr-CA" sz="2400" dirty="0"/>
              <a:t>L’implémentation de notre étude de cas n’utilise pas ce genre d’association</a:t>
            </a:r>
          </a:p>
          <a:p>
            <a:r>
              <a:rPr lang="fr-CA" sz="2400" dirty="0"/>
              <a:t>Voir le document « </a:t>
            </a:r>
            <a:r>
              <a:rPr lang="fr-CA" sz="2400" dirty="0" err="1"/>
              <a:t>Entity</a:t>
            </a:r>
            <a:r>
              <a:rPr lang="fr-CA" sz="2400" dirty="0"/>
              <a:t> Framework </a:t>
            </a:r>
            <a:r>
              <a:rPr lang="fr-CA" sz="2400" dirty="0" err="1"/>
              <a:t>Core</a:t>
            </a:r>
            <a:r>
              <a:rPr lang="fr-CA" sz="2400" dirty="0"/>
              <a:t> — Associations de multiplicité * à * » </a:t>
            </a:r>
            <a:r>
              <a:rPr lang="fr-CA" sz="2400"/>
              <a:t>en ligne</a:t>
            </a:r>
            <a:endParaRPr lang="fr-CA" sz="2400" dirty="0"/>
          </a:p>
          <a:p>
            <a:endParaRPr lang="fr-CA" sz="2400" dirty="0"/>
          </a:p>
        </p:txBody>
      </p:sp>
      <p:sp>
        <p:nvSpPr>
          <p:cNvPr id="4099" name="Espace réservé du numéro de diapositive 4"/>
          <p:cNvSpPr>
            <a:spLocks noGrp="1"/>
          </p:cNvSpPr>
          <p:nvPr>
            <p:ph type="sldNum" sz="quarter" idx="12"/>
            <p:custDataLst>
              <p:tags r:id="rId3"/>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22</a:t>
            </a:fld>
            <a:endParaRPr lang="en-US" altLang="en-US"/>
          </a:p>
        </p:txBody>
      </p:sp>
    </p:spTree>
    <p:extLst>
      <p:ext uri="{BB962C8B-B14F-4D97-AF65-F5344CB8AC3E}">
        <p14:creationId xmlns:p14="http://schemas.microsoft.com/office/powerpoint/2010/main" val="35456264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fontScale="90000"/>
          </a:bodyPr>
          <a:lstStyle/>
          <a:p>
            <a:r>
              <a:rPr lang="fr-CA" dirty="0"/>
              <a:t>Application du patron État : le modèle</a:t>
            </a:r>
            <a:endParaRPr lang="fr-CA" sz="4400" dirty="0"/>
          </a:p>
        </p:txBody>
      </p:sp>
      <p:sp>
        <p:nvSpPr>
          <p:cNvPr id="4099" name="Espace réservé du numéro de diapositive 4"/>
          <p:cNvSpPr>
            <a:spLocks noGrp="1"/>
          </p:cNvSpPr>
          <p:nvPr>
            <p:ph type="sldNum" sz="quarter" idx="12"/>
            <p:custDataLst>
              <p:tags r:id="rId2"/>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23</a:t>
            </a:fld>
            <a:endParaRPr lang="en-US" altLang="en-US"/>
          </a:p>
        </p:txBody>
      </p:sp>
      <p:pic>
        <p:nvPicPr>
          <p:cNvPr id="12" name="Picture 4">
            <a:extLst>
              <a:ext uri="{FF2B5EF4-FFF2-40B4-BE49-F238E27FC236}">
                <a16:creationId xmlns:a16="http://schemas.microsoft.com/office/drawing/2014/main" id="{28FF19DD-D404-4469-AE27-6238AFE2E224}"/>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a:xfrm>
            <a:off x="1367644" y="1844824"/>
            <a:ext cx="6445250" cy="2700338"/>
          </a:xfrm>
          <a:noFill/>
        </p:spPr>
      </p:pic>
    </p:spTree>
    <p:extLst>
      <p:ext uri="{BB962C8B-B14F-4D97-AF65-F5344CB8AC3E}">
        <p14:creationId xmlns:p14="http://schemas.microsoft.com/office/powerpoint/2010/main" val="32736182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a:bodyPr>
          <a:lstStyle/>
          <a:p>
            <a:r>
              <a:rPr lang="fr-CA" dirty="0"/>
              <a:t>Application du patron État</a:t>
            </a:r>
            <a:endParaRPr lang="fr-CA" sz="4400" dirty="0"/>
          </a:p>
        </p:txBody>
      </p:sp>
      <p:sp>
        <p:nvSpPr>
          <p:cNvPr id="4101" name="Rectangle 3"/>
          <p:cNvSpPr>
            <a:spLocks noGrp="1" noChangeArrowheads="1"/>
          </p:cNvSpPr>
          <p:nvPr>
            <p:ph idx="1"/>
            <p:custDataLst>
              <p:tags r:id="rId2"/>
            </p:custDataLst>
          </p:nvPr>
        </p:nvSpPr>
        <p:spPr>
          <a:xfrm>
            <a:off x="228600" y="1403874"/>
            <a:ext cx="8686800" cy="2601190"/>
          </a:xfrm>
        </p:spPr>
        <p:txBody>
          <a:bodyPr>
            <a:noAutofit/>
          </a:bodyPr>
          <a:lstStyle/>
          <a:p>
            <a:r>
              <a:rPr lang="fr-CA" sz="2400" dirty="0"/>
              <a:t>Créer un dossier « </a:t>
            </a:r>
            <a:r>
              <a:rPr lang="fr-CA" sz="2400" dirty="0" err="1"/>
              <a:t>DesignPatterns</a:t>
            </a:r>
            <a:r>
              <a:rPr lang="fr-CA" sz="2400" dirty="0"/>
              <a:t> »</a:t>
            </a:r>
          </a:p>
          <a:p>
            <a:r>
              <a:rPr lang="fr-CA" sz="2400" dirty="0"/>
              <a:t>Créer un sous-dossier « </a:t>
            </a:r>
            <a:r>
              <a:rPr lang="fr-CA" sz="2400" dirty="0" err="1"/>
              <a:t>StateDesignPatterns</a:t>
            </a:r>
            <a:r>
              <a:rPr lang="fr-CA" sz="2400" dirty="0"/>
              <a:t> »</a:t>
            </a:r>
          </a:p>
          <a:p>
            <a:r>
              <a:rPr lang="fr-CA" sz="2400" dirty="0"/>
              <a:t>Et un sous-dossier pour chaque classe ayant un comportement dynamique fort (ayant un diagramme d’états-transitions</a:t>
            </a:r>
          </a:p>
          <a:p>
            <a:r>
              <a:rPr lang="fr-CA" sz="2400" dirty="0">
                <a:solidFill>
                  <a:srgbClr val="FF0000"/>
                </a:solidFill>
              </a:rPr>
              <a:t>Note! Nous allons supporter le comportement de la classe Pompe d’une autre manière</a:t>
            </a:r>
          </a:p>
        </p:txBody>
      </p:sp>
      <p:sp>
        <p:nvSpPr>
          <p:cNvPr id="4099" name="Espace réservé du numéro de diapositive 4"/>
          <p:cNvSpPr>
            <a:spLocks noGrp="1"/>
          </p:cNvSpPr>
          <p:nvPr>
            <p:ph type="sldNum" sz="quarter" idx="12"/>
            <p:custDataLst>
              <p:tags r:id="rId3"/>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24</a:t>
            </a:fld>
            <a:endParaRPr lang="en-US" altLang="en-US"/>
          </a:p>
        </p:txBody>
      </p:sp>
      <p:pic>
        <p:nvPicPr>
          <p:cNvPr id="7" name="Image 6">
            <a:extLst>
              <a:ext uri="{FF2B5EF4-FFF2-40B4-BE49-F238E27FC236}">
                <a16:creationId xmlns:a16="http://schemas.microsoft.com/office/drawing/2014/main" id="{ABA1E3C1-82C5-42EF-A34C-A09A4D313E95}"/>
              </a:ext>
            </a:extLst>
          </p:cNvPr>
          <p:cNvPicPr>
            <a:picLocks noChangeAspect="1"/>
          </p:cNvPicPr>
          <p:nvPr/>
        </p:nvPicPr>
        <p:blipFill>
          <a:blip r:embed="rId5"/>
          <a:stretch>
            <a:fillRect/>
          </a:stretch>
        </p:blipFill>
        <p:spPr>
          <a:xfrm>
            <a:off x="2807804" y="4221088"/>
            <a:ext cx="2896432" cy="1393794"/>
          </a:xfrm>
          <a:prstGeom prst="rect">
            <a:avLst/>
          </a:prstGeom>
        </p:spPr>
      </p:pic>
    </p:spTree>
    <p:extLst>
      <p:ext uri="{BB962C8B-B14F-4D97-AF65-F5344CB8AC3E}">
        <p14:creationId xmlns:p14="http://schemas.microsoft.com/office/powerpoint/2010/main" val="38411555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a:bodyPr>
          <a:lstStyle/>
          <a:p>
            <a:r>
              <a:rPr lang="fr-CA" dirty="0"/>
              <a:t>La classe Moteur</a:t>
            </a:r>
            <a:endParaRPr lang="fr-CA" sz="4400" dirty="0"/>
          </a:p>
        </p:txBody>
      </p:sp>
      <p:sp>
        <p:nvSpPr>
          <p:cNvPr id="4101" name="Rectangle 3"/>
          <p:cNvSpPr>
            <a:spLocks noGrp="1" noChangeArrowheads="1"/>
          </p:cNvSpPr>
          <p:nvPr>
            <p:ph idx="1"/>
            <p:custDataLst>
              <p:tags r:id="rId2"/>
            </p:custDataLst>
          </p:nvPr>
        </p:nvSpPr>
        <p:spPr>
          <a:xfrm>
            <a:off x="539552" y="3465004"/>
            <a:ext cx="8686800" cy="540060"/>
          </a:xfrm>
        </p:spPr>
        <p:txBody>
          <a:bodyPr>
            <a:noAutofit/>
          </a:bodyPr>
          <a:lstStyle/>
          <a:p>
            <a:r>
              <a:rPr lang="fr-CA" sz="2400" dirty="0"/>
              <a:t>Résultat de l’application du patron État dans le code</a:t>
            </a:r>
          </a:p>
        </p:txBody>
      </p:sp>
      <p:sp>
        <p:nvSpPr>
          <p:cNvPr id="4099" name="Espace réservé du numéro de diapositive 4"/>
          <p:cNvSpPr>
            <a:spLocks noGrp="1"/>
          </p:cNvSpPr>
          <p:nvPr>
            <p:ph type="sldNum" sz="quarter" idx="12"/>
            <p:custDataLst>
              <p:tags r:id="rId3"/>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25</a:t>
            </a:fld>
            <a:endParaRPr lang="en-US" altLang="en-US"/>
          </a:p>
        </p:txBody>
      </p:sp>
      <p:pic>
        <p:nvPicPr>
          <p:cNvPr id="3" name="Image 2">
            <a:extLst>
              <a:ext uri="{FF2B5EF4-FFF2-40B4-BE49-F238E27FC236}">
                <a16:creationId xmlns:a16="http://schemas.microsoft.com/office/drawing/2014/main" id="{E613C946-2BAB-4A41-B0A6-7F730EA01468}"/>
              </a:ext>
            </a:extLst>
          </p:cNvPr>
          <p:cNvPicPr>
            <a:picLocks noChangeAspect="1"/>
          </p:cNvPicPr>
          <p:nvPr/>
        </p:nvPicPr>
        <p:blipFill>
          <a:blip r:embed="rId5"/>
          <a:stretch>
            <a:fillRect/>
          </a:stretch>
        </p:blipFill>
        <p:spPr>
          <a:xfrm>
            <a:off x="431540" y="1448780"/>
            <a:ext cx="8133622" cy="1677251"/>
          </a:xfrm>
          <a:prstGeom prst="rect">
            <a:avLst/>
          </a:prstGeom>
        </p:spPr>
      </p:pic>
      <p:pic>
        <p:nvPicPr>
          <p:cNvPr id="7" name="Image 6">
            <a:extLst>
              <a:ext uri="{FF2B5EF4-FFF2-40B4-BE49-F238E27FC236}">
                <a16:creationId xmlns:a16="http://schemas.microsoft.com/office/drawing/2014/main" id="{B12FDEFE-F787-4767-969D-B814F82531E7}"/>
              </a:ext>
            </a:extLst>
          </p:cNvPr>
          <p:cNvPicPr>
            <a:picLocks noChangeAspect="1"/>
          </p:cNvPicPr>
          <p:nvPr/>
        </p:nvPicPr>
        <p:blipFill>
          <a:blip r:embed="rId6"/>
          <a:stretch>
            <a:fillRect/>
          </a:stretch>
        </p:blipFill>
        <p:spPr>
          <a:xfrm>
            <a:off x="3311860" y="4041068"/>
            <a:ext cx="2038350" cy="923925"/>
          </a:xfrm>
          <a:prstGeom prst="rect">
            <a:avLst/>
          </a:prstGeom>
        </p:spPr>
      </p:pic>
    </p:spTree>
    <p:extLst>
      <p:ext uri="{BB962C8B-B14F-4D97-AF65-F5344CB8AC3E}">
        <p14:creationId xmlns:p14="http://schemas.microsoft.com/office/powerpoint/2010/main" val="22846642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a:bodyPr>
          <a:lstStyle/>
          <a:p>
            <a:r>
              <a:rPr lang="fr-CA" dirty="0"/>
              <a:t>La classe Pistolet</a:t>
            </a:r>
            <a:endParaRPr lang="fr-CA" sz="4400" dirty="0"/>
          </a:p>
        </p:txBody>
      </p:sp>
      <p:sp>
        <p:nvSpPr>
          <p:cNvPr id="4101" name="Rectangle 3"/>
          <p:cNvSpPr>
            <a:spLocks noGrp="1" noChangeArrowheads="1"/>
          </p:cNvSpPr>
          <p:nvPr>
            <p:ph idx="1"/>
            <p:custDataLst>
              <p:tags r:id="rId2"/>
            </p:custDataLst>
          </p:nvPr>
        </p:nvSpPr>
        <p:spPr>
          <a:xfrm>
            <a:off x="575556" y="3897052"/>
            <a:ext cx="8686800" cy="540060"/>
          </a:xfrm>
        </p:spPr>
        <p:txBody>
          <a:bodyPr>
            <a:noAutofit/>
          </a:bodyPr>
          <a:lstStyle/>
          <a:p>
            <a:r>
              <a:rPr lang="fr-CA" sz="2400" dirty="0"/>
              <a:t>Résultat de l’application du patron État dans le code</a:t>
            </a:r>
          </a:p>
        </p:txBody>
      </p:sp>
      <p:sp>
        <p:nvSpPr>
          <p:cNvPr id="4099" name="Espace réservé du numéro de diapositive 4"/>
          <p:cNvSpPr>
            <a:spLocks noGrp="1"/>
          </p:cNvSpPr>
          <p:nvPr>
            <p:ph type="sldNum" sz="quarter" idx="12"/>
            <p:custDataLst>
              <p:tags r:id="rId3"/>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26</a:t>
            </a:fld>
            <a:endParaRPr lang="en-US" altLang="en-US"/>
          </a:p>
        </p:txBody>
      </p:sp>
      <p:pic>
        <p:nvPicPr>
          <p:cNvPr id="4" name="Image 3">
            <a:extLst>
              <a:ext uri="{FF2B5EF4-FFF2-40B4-BE49-F238E27FC236}">
                <a16:creationId xmlns:a16="http://schemas.microsoft.com/office/drawing/2014/main" id="{9617078F-71E1-4D7E-B43D-49B52B565F9E}"/>
              </a:ext>
            </a:extLst>
          </p:cNvPr>
          <p:cNvPicPr>
            <a:picLocks noChangeAspect="1"/>
          </p:cNvPicPr>
          <p:nvPr/>
        </p:nvPicPr>
        <p:blipFill>
          <a:blip r:embed="rId5"/>
          <a:stretch>
            <a:fillRect/>
          </a:stretch>
        </p:blipFill>
        <p:spPr>
          <a:xfrm>
            <a:off x="0" y="1412776"/>
            <a:ext cx="9144000" cy="2016224"/>
          </a:xfrm>
          <a:prstGeom prst="rect">
            <a:avLst/>
          </a:prstGeom>
        </p:spPr>
      </p:pic>
      <p:pic>
        <p:nvPicPr>
          <p:cNvPr id="9" name="Image 8">
            <a:extLst>
              <a:ext uri="{FF2B5EF4-FFF2-40B4-BE49-F238E27FC236}">
                <a16:creationId xmlns:a16="http://schemas.microsoft.com/office/drawing/2014/main" id="{C8C1A487-ABD4-463F-87D3-9B1A84552A4F}"/>
              </a:ext>
            </a:extLst>
          </p:cNvPr>
          <p:cNvPicPr>
            <a:picLocks noChangeAspect="1"/>
          </p:cNvPicPr>
          <p:nvPr/>
        </p:nvPicPr>
        <p:blipFill>
          <a:blip r:embed="rId6"/>
          <a:stretch>
            <a:fillRect/>
          </a:stretch>
        </p:blipFill>
        <p:spPr>
          <a:xfrm>
            <a:off x="3383868" y="4687788"/>
            <a:ext cx="2686050" cy="1333500"/>
          </a:xfrm>
          <a:prstGeom prst="rect">
            <a:avLst/>
          </a:prstGeom>
        </p:spPr>
      </p:pic>
    </p:spTree>
    <p:extLst>
      <p:ext uri="{BB962C8B-B14F-4D97-AF65-F5344CB8AC3E}">
        <p14:creationId xmlns:p14="http://schemas.microsoft.com/office/powerpoint/2010/main" val="5470232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a:bodyPr>
          <a:lstStyle/>
          <a:p>
            <a:r>
              <a:rPr lang="fr-CA" dirty="0"/>
              <a:t>La classe Réservoir</a:t>
            </a:r>
            <a:endParaRPr lang="fr-CA" sz="4400" dirty="0"/>
          </a:p>
        </p:txBody>
      </p:sp>
      <p:sp>
        <p:nvSpPr>
          <p:cNvPr id="4101" name="Rectangle 3"/>
          <p:cNvSpPr>
            <a:spLocks noGrp="1" noChangeArrowheads="1"/>
          </p:cNvSpPr>
          <p:nvPr>
            <p:ph idx="1"/>
            <p:custDataLst>
              <p:tags r:id="rId2"/>
            </p:custDataLst>
          </p:nvPr>
        </p:nvSpPr>
        <p:spPr>
          <a:xfrm>
            <a:off x="575556" y="3897052"/>
            <a:ext cx="8686800" cy="540060"/>
          </a:xfrm>
        </p:spPr>
        <p:txBody>
          <a:bodyPr>
            <a:noAutofit/>
          </a:bodyPr>
          <a:lstStyle/>
          <a:p>
            <a:r>
              <a:rPr lang="fr-CA" sz="2400" dirty="0"/>
              <a:t>Résultat de l’application du patron État dans le code</a:t>
            </a:r>
          </a:p>
        </p:txBody>
      </p:sp>
      <p:sp>
        <p:nvSpPr>
          <p:cNvPr id="4099" name="Espace réservé du numéro de diapositive 4"/>
          <p:cNvSpPr>
            <a:spLocks noGrp="1"/>
          </p:cNvSpPr>
          <p:nvPr>
            <p:ph type="sldNum" sz="quarter" idx="12"/>
            <p:custDataLst>
              <p:tags r:id="rId3"/>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27</a:t>
            </a:fld>
            <a:endParaRPr lang="en-US" altLang="en-US"/>
          </a:p>
        </p:txBody>
      </p:sp>
      <p:pic>
        <p:nvPicPr>
          <p:cNvPr id="6" name="Image 5">
            <a:extLst>
              <a:ext uri="{FF2B5EF4-FFF2-40B4-BE49-F238E27FC236}">
                <a16:creationId xmlns:a16="http://schemas.microsoft.com/office/drawing/2014/main" id="{11703303-9976-4A8D-A762-A60D897874A7}"/>
              </a:ext>
            </a:extLst>
          </p:cNvPr>
          <p:cNvPicPr>
            <a:picLocks noChangeAspect="1"/>
          </p:cNvPicPr>
          <p:nvPr/>
        </p:nvPicPr>
        <p:blipFill>
          <a:blip r:embed="rId5"/>
          <a:stretch>
            <a:fillRect/>
          </a:stretch>
        </p:blipFill>
        <p:spPr>
          <a:xfrm>
            <a:off x="0" y="1484784"/>
            <a:ext cx="9144000" cy="1920163"/>
          </a:xfrm>
          <a:prstGeom prst="rect">
            <a:avLst/>
          </a:prstGeom>
        </p:spPr>
      </p:pic>
      <p:pic>
        <p:nvPicPr>
          <p:cNvPr id="5" name="Image 4">
            <a:extLst>
              <a:ext uri="{FF2B5EF4-FFF2-40B4-BE49-F238E27FC236}">
                <a16:creationId xmlns:a16="http://schemas.microsoft.com/office/drawing/2014/main" id="{89E7A3B0-1C10-4D19-A2E1-C52A161E9004}"/>
              </a:ext>
            </a:extLst>
          </p:cNvPr>
          <p:cNvPicPr>
            <a:picLocks noChangeAspect="1"/>
          </p:cNvPicPr>
          <p:nvPr/>
        </p:nvPicPr>
        <p:blipFill>
          <a:blip r:embed="rId6"/>
          <a:stretch>
            <a:fillRect/>
          </a:stretch>
        </p:blipFill>
        <p:spPr>
          <a:xfrm>
            <a:off x="2771800" y="4437112"/>
            <a:ext cx="2686050" cy="952500"/>
          </a:xfrm>
          <a:prstGeom prst="rect">
            <a:avLst/>
          </a:prstGeom>
        </p:spPr>
      </p:pic>
    </p:spTree>
    <p:extLst>
      <p:ext uri="{BB962C8B-B14F-4D97-AF65-F5344CB8AC3E}">
        <p14:creationId xmlns:p14="http://schemas.microsoft.com/office/powerpoint/2010/main" val="17493897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a:bodyPr>
          <a:lstStyle/>
          <a:p>
            <a:r>
              <a:rPr lang="fr-CA" dirty="0"/>
              <a:t>La classe Pompe</a:t>
            </a:r>
            <a:endParaRPr lang="fr-CA" sz="4400" dirty="0"/>
          </a:p>
        </p:txBody>
      </p:sp>
      <p:sp>
        <p:nvSpPr>
          <p:cNvPr id="4099" name="Espace réservé du numéro de diapositive 4"/>
          <p:cNvSpPr>
            <a:spLocks noGrp="1"/>
          </p:cNvSpPr>
          <p:nvPr>
            <p:ph type="sldNum" sz="quarter" idx="12"/>
            <p:custDataLst>
              <p:tags r:id="rId2"/>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28</a:t>
            </a:fld>
            <a:endParaRPr lang="en-US" altLang="en-US"/>
          </a:p>
        </p:txBody>
      </p:sp>
      <p:pic>
        <p:nvPicPr>
          <p:cNvPr id="8" name="Image 7">
            <a:extLst>
              <a:ext uri="{FF2B5EF4-FFF2-40B4-BE49-F238E27FC236}">
                <a16:creationId xmlns:a16="http://schemas.microsoft.com/office/drawing/2014/main" id="{728B25F8-6516-4BE3-8FA5-D7B0D09D6F2D}"/>
              </a:ext>
            </a:extLst>
          </p:cNvPr>
          <p:cNvPicPr>
            <a:picLocks noChangeAspect="1"/>
          </p:cNvPicPr>
          <p:nvPr/>
        </p:nvPicPr>
        <p:blipFill>
          <a:blip r:embed="rId4"/>
          <a:stretch>
            <a:fillRect/>
          </a:stretch>
        </p:blipFill>
        <p:spPr>
          <a:xfrm>
            <a:off x="120200" y="1412776"/>
            <a:ext cx="9023800" cy="4687538"/>
          </a:xfrm>
          <a:prstGeom prst="rect">
            <a:avLst/>
          </a:prstGeom>
        </p:spPr>
      </p:pic>
    </p:spTree>
    <p:extLst>
      <p:ext uri="{BB962C8B-B14F-4D97-AF65-F5344CB8AC3E}">
        <p14:creationId xmlns:p14="http://schemas.microsoft.com/office/powerpoint/2010/main" val="27531048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87524" y="332656"/>
            <a:ext cx="8229600" cy="1066800"/>
          </a:xfrm>
        </p:spPr>
        <p:txBody>
          <a:bodyPr/>
          <a:lstStyle/>
          <a:p>
            <a:r>
              <a:rPr lang="fr-CA" dirty="0"/>
              <a:t>La classe Pompe</a:t>
            </a:r>
          </a:p>
        </p:txBody>
      </p:sp>
      <p:sp>
        <p:nvSpPr>
          <p:cNvPr id="3" name="Espace réservé du contenu 2"/>
          <p:cNvSpPr>
            <a:spLocks noGrp="1"/>
          </p:cNvSpPr>
          <p:nvPr>
            <p:ph idx="1"/>
          </p:nvPr>
        </p:nvSpPr>
        <p:spPr>
          <a:xfrm>
            <a:off x="377301" y="1539953"/>
            <a:ext cx="8229600" cy="2501115"/>
          </a:xfrm>
        </p:spPr>
        <p:txBody>
          <a:bodyPr>
            <a:normAutofit/>
          </a:bodyPr>
          <a:lstStyle/>
          <a:p>
            <a:r>
              <a:rPr lang="fr-CA" sz="2400" dirty="0"/>
              <a:t>Le patron État est plus utile pour la classe Pompe puisque son comportement est plus complexe que les autres classes</a:t>
            </a:r>
          </a:p>
          <a:p>
            <a:r>
              <a:rPr lang="fr-CA" sz="2400" dirty="0"/>
              <a:t>Cependant, je ne l’ai pas utilisé pour la classe Pompe</a:t>
            </a:r>
          </a:p>
          <a:p>
            <a:r>
              <a:rPr lang="fr-CA" sz="2400" dirty="0"/>
              <a:t>J’ai utilisé une autre approche pour monter un exemple d’implémentation n’adoptant pas le patron</a:t>
            </a:r>
          </a:p>
          <a:p>
            <a:pPr lvl="1"/>
            <a:r>
              <a:rPr lang="fr-CA" sz="2000" dirty="0"/>
              <a:t>Voir le code dans la solution finale</a:t>
            </a:r>
          </a:p>
          <a:p>
            <a:pPr lvl="2"/>
            <a:endParaRPr lang="fr-CA" dirty="0"/>
          </a:p>
          <a:p>
            <a:endParaRPr lang="fr-CA" dirty="0">
              <a:solidFill>
                <a:srgbClr val="FF0000"/>
              </a:solidFill>
            </a:endParaRPr>
          </a:p>
        </p:txBody>
      </p:sp>
      <p:sp>
        <p:nvSpPr>
          <p:cNvPr id="4" name="Espace réservé du numéro de diapositive 3">
            <a:extLst>
              <a:ext uri="{FF2B5EF4-FFF2-40B4-BE49-F238E27FC236}">
                <a16:creationId xmlns:a16="http://schemas.microsoft.com/office/drawing/2014/main" id="{9E389940-55D7-4FF7-ADAF-953C35634F82}"/>
              </a:ext>
            </a:extLst>
          </p:cNvPr>
          <p:cNvSpPr>
            <a:spLocks noGrp="1"/>
          </p:cNvSpPr>
          <p:nvPr>
            <p:ph type="sldNum" sz="quarter" idx="12"/>
          </p:nvPr>
        </p:nvSpPr>
        <p:spPr/>
        <p:txBody>
          <a:bodyPr/>
          <a:lstStyle/>
          <a:p>
            <a:pPr>
              <a:defRPr/>
            </a:pPr>
            <a:fld id="{7FEE665E-3450-413D-913D-057FF7C87532}" type="slidenum">
              <a:rPr lang="en-US" altLang="en-US" smtClean="0"/>
              <a:pPr>
                <a:defRPr/>
              </a:pPr>
              <a:t>29</a:t>
            </a:fld>
            <a:endParaRPr lang="en-US" altLang="en-US"/>
          </a:p>
        </p:txBody>
      </p:sp>
    </p:spTree>
    <p:extLst>
      <p:ext uri="{BB962C8B-B14F-4D97-AF65-F5344CB8AC3E}">
        <p14:creationId xmlns:p14="http://schemas.microsoft.com/office/powerpoint/2010/main" val="1274967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a:t>Application du patron Observateur : le modèle</a:t>
            </a:r>
          </a:p>
        </p:txBody>
      </p:sp>
      <p:pic>
        <p:nvPicPr>
          <p:cNvPr id="7" name="Picture 5">
            <a:extLst>
              <a:ext uri="{FF2B5EF4-FFF2-40B4-BE49-F238E27FC236}">
                <a16:creationId xmlns:a16="http://schemas.microsoft.com/office/drawing/2014/main" id="{68777E2B-4C70-45B4-AD4C-6CDA5FFA59B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27584" y="2096852"/>
            <a:ext cx="7332662" cy="3876675"/>
          </a:xfrm>
          <a:noFill/>
        </p:spPr>
      </p:pic>
      <p:sp>
        <p:nvSpPr>
          <p:cNvPr id="3" name="Espace réservé du numéro de diapositive 2">
            <a:extLst>
              <a:ext uri="{FF2B5EF4-FFF2-40B4-BE49-F238E27FC236}">
                <a16:creationId xmlns:a16="http://schemas.microsoft.com/office/drawing/2014/main" id="{4B2C9E7C-1085-487B-9F24-A0190D6322B5}"/>
              </a:ext>
            </a:extLst>
          </p:cNvPr>
          <p:cNvSpPr>
            <a:spLocks noGrp="1"/>
          </p:cNvSpPr>
          <p:nvPr>
            <p:ph type="sldNum" sz="quarter" idx="12"/>
          </p:nvPr>
        </p:nvSpPr>
        <p:spPr/>
        <p:txBody>
          <a:bodyPr/>
          <a:lstStyle/>
          <a:p>
            <a:pPr>
              <a:defRPr/>
            </a:pPr>
            <a:fld id="{7FEE665E-3450-413D-913D-057FF7C87532}" type="slidenum">
              <a:rPr lang="en-US" altLang="en-US" smtClean="0"/>
              <a:pPr>
                <a:defRPr/>
              </a:pPr>
              <a:t>30</a:t>
            </a:fld>
            <a:endParaRPr lang="en-US" altLang="en-US"/>
          </a:p>
        </p:txBody>
      </p:sp>
    </p:spTree>
    <p:extLst>
      <p:ext uri="{BB962C8B-B14F-4D97-AF65-F5344CB8AC3E}">
        <p14:creationId xmlns:p14="http://schemas.microsoft.com/office/powerpoint/2010/main" val="1768389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87524" y="332656"/>
            <a:ext cx="8229600" cy="1066800"/>
          </a:xfrm>
        </p:spPr>
        <p:txBody>
          <a:bodyPr>
            <a:normAutofit fontScale="90000"/>
          </a:bodyPr>
          <a:lstStyle/>
          <a:p>
            <a:r>
              <a:rPr lang="fr-CA" dirty="0"/>
              <a:t>Application du patron Observateur</a:t>
            </a:r>
          </a:p>
        </p:txBody>
      </p:sp>
      <p:sp>
        <p:nvSpPr>
          <p:cNvPr id="3" name="Espace réservé du contenu 2"/>
          <p:cNvSpPr>
            <a:spLocks noGrp="1"/>
          </p:cNvSpPr>
          <p:nvPr>
            <p:ph idx="1"/>
          </p:nvPr>
        </p:nvSpPr>
        <p:spPr>
          <a:xfrm>
            <a:off x="431540" y="1556792"/>
            <a:ext cx="6084676" cy="1781035"/>
          </a:xfrm>
        </p:spPr>
        <p:txBody>
          <a:bodyPr>
            <a:normAutofit fontScale="92500"/>
          </a:bodyPr>
          <a:lstStyle/>
          <a:p>
            <a:r>
              <a:rPr lang="fr-CA" sz="2400" dirty="0"/>
              <a:t>Créer un sous-dossier « </a:t>
            </a:r>
            <a:r>
              <a:rPr lang="fr-CA" sz="2400" dirty="0" err="1"/>
              <a:t>ObserverDesignPatterns</a:t>
            </a:r>
            <a:r>
              <a:rPr lang="fr-CA" sz="2400" dirty="0"/>
              <a:t> » « </a:t>
            </a:r>
            <a:r>
              <a:rPr lang="fr-CA" sz="2400" dirty="0" err="1"/>
              <a:t>DesignPatterns</a:t>
            </a:r>
            <a:r>
              <a:rPr lang="fr-CA" sz="2400" dirty="0"/>
              <a:t> »</a:t>
            </a:r>
          </a:p>
          <a:p>
            <a:r>
              <a:rPr lang="fr-CA" sz="2400" dirty="0"/>
              <a:t>Copier les deux interfaces dans le même dossier du code de départ</a:t>
            </a:r>
          </a:p>
          <a:p>
            <a:pPr lvl="2"/>
            <a:endParaRPr lang="fr-CA" dirty="0"/>
          </a:p>
          <a:p>
            <a:endParaRPr lang="fr-CA" dirty="0">
              <a:solidFill>
                <a:srgbClr val="FF0000"/>
              </a:solidFill>
            </a:endParaRPr>
          </a:p>
        </p:txBody>
      </p:sp>
      <p:sp>
        <p:nvSpPr>
          <p:cNvPr id="4" name="Espace réservé du numéro de diapositive 3">
            <a:extLst>
              <a:ext uri="{FF2B5EF4-FFF2-40B4-BE49-F238E27FC236}">
                <a16:creationId xmlns:a16="http://schemas.microsoft.com/office/drawing/2014/main" id="{9E389940-55D7-4FF7-ADAF-953C35634F82}"/>
              </a:ext>
            </a:extLst>
          </p:cNvPr>
          <p:cNvSpPr>
            <a:spLocks noGrp="1"/>
          </p:cNvSpPr>
          <p:nvPr>
            <p:ph type="sldNum" sz="quarter" idx="12"/>
          </p:nvPr>
        </p:nvSpPr>
        <p:spPr/>
        <p:txBody>
          <a:bodyPr/>
          <a:lstStyle/>
          <a:p>
            <a:pPr>
              <a:defRPr/>
            </a:pPr>
            <a:fld id="{7FEE665E-3450-413D-913D-057FF7C87532}" type="slidenum">
              <a:rPr lang="en-US" altLang="en-US" smtClean="0"/>
              <a:pPr>
                <a:defRPr/>
              </a:pPr>
              <a:t>31</a:t>
            </a:fld>
            <a:endParaRPr lang="en-US" altLang="en-US"/>
          </a:p>
        </p:txBody>
      </p:sp>
      <p:pic>
        <p:nvPicPr>
          <p:cNvPr id="5" name="Image 4">
            <a:extLst>
              <a:ext uri="{FF2B5EF4-FFF2-40B4-BE49-F238E27FC236}">
                <a16:creationId xmlns:a16="http://schemas.microsoft.com/office/drawing/2014/main" id="{19771684-D742-4B5A-A4C6-A9DEE9D1313E}"/>
              </a:ext>
            </a:extLst>
          </p:cNvPr>
          <p:cNvPicPr>
            <a:picLocks noChangeAspect="1"/>
          </p:cNvPicPr>
          <p:nvPr/>
        </p:nvPicPr>
        <p:blipFill>
          <a:blip r:embed="rId2"/>
          <a:stretch>
            <a:fillRect/>
          </a:stretch>
        </p:blipFill>
        <p:spPr>
          <a:xfrm>
            <a:off x="6660232" y="1700808"/>
            <a:ext cx="2390775" cy="1152525"/>
          </a:xfrm>
          <a:prstGeom prst="rect">
            <a:avLst/>
          </a:prstGeom>
        </p:spPr>
      </p:pic>
      <p:sp>
        <p:nvSpPr>
          <p:cNvPr id="6" name="Rectangle 5">
            <a:extLst>
              <a:ext uri="{FF2B5EF4-FFF2-40B4-BE49-F238E27FC236}">
                <a16:creationId xmlns:a16="http://schemas.microsoft.com/office/drawing/2014/main" id="{2BF02E62-C164-4DBE-813B-9F33B776C69A}"/>
              </a:ext>
            </a:extLst>
          </p:cNvPr>
          <p:cNvSpPr/>
          <p:nvPr/>
        </p:nvSpPr>
        <p:spPr>
          <a:xfrm>
            <a:off x="4644008" y="3176972"/>
            <a:ext cx="4788024" cy="2308324"/>
          </a:xfrm>
          <a:prstGeom prst="rect">
            <a:avLst/>
          </a:prstGeom>
        </p:spPr>
        <p:txBody>
          <a:bodyPr wrap="square">
            <a:spAutoFit/>
          </a:bodyPr>
          <a:lstStyle/>
          <a:p>
            <a:r>
              <a:rPr lang="fr-CA" sz="1600" dirty="0" err="1">
                <a:solidFill>
                  <a:srgbClr val="0000FF"/>
                </a:solidFill>
                <a:latin typeface="Consolas" panose="020B0609020204030204" pitchFamily="49" charset="0"/>
              </a:rPr>
              <a:t>using</a:t>
            </a:r>
            <a:r>
              <a:rPr lang="fr-CA" sz="1600" dirty="0">
                <a:solidFill>
                  <a:srgbClr val="000000"/>
                </a:solidFill>
                <a:latin typeface="Consolas" panose="020B0609020204030204" pitchFamily="49" charset="0"/>
              </a:rPr>
              <a:t> System;</a:t>
            </a:r>
          </a:p>
          <a:p>
            <a:r>
              <a:rPr lang="fr-CA" sz="1600" dirty="0" err="1">
                <a:solidFill>
                  <a:srgbClr val="0000FF"/>
                </a:solidFill>
                <a:latin typeface="Consolas" panose="020B0609020204030204" pitchFamily="49" charset="0"/>
              </a:rPr>
              <a:t>namespace</a:t>
            </a: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SystèmeGestionStationService.Core</a:t>
            </a:r>
            <a:endParaRPr lang="fr-CA" sz="1600" dirty="0">
              <a:solidFill>
                <a:srgbClr val="000000"/>
              </a:solidFill>
              <a:latin typeface="Consolas" panose="020B0609020204030204" pitchFamily="49" charset="0"/>
            </a:endParaRPr>
          </a:p>
          <a:p>
            <a:r>
              <a:rPr lang="fr-CA" sz="1600" dirty="0">
                <a:solidFill>
                  <a:srgbClr val="000000"/>
                </a:solidFill>
                <a:latin typeface="Consolas" panose="020B0609020204030204" pitchFamily="49" charset="0"/>
              </a:rPr>
              <a:t>{</a:t>
            </a:r>
          </a:p>
          <a:p>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public</a:t>
            </a:r>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interface</a:t>
            </a:r>
            <a:r>
              <a:rPr lang="fr-CA" sz="1600" dirty="0">
                <a:solidFill>
                  <a:srgbClr val="000000"/>
                </a:solidFill>
                <a:latin typeface="Consolas" panose="020B0609020204030204" pitchFamily="49" charset="0"/>
              </a:rPr>
              <a:t> </a:t>
            </a:r>
            <a:r>
              <a:rPr lang="fr-CA" sz="1600" dirty="0">
                <a:solidFill>
                  <a:srgbClr val="2B91AF"/>
                </a:solidFill>
                <a:latin typeface="Consolas" panose="020B0609020204030204" pitchFamily="49" charset="0"/>
              </a:rPr>
              <a:t>Observer</a:t>
            </a:r>
            <a:endParaRPr lang="fr-CA" sz="1600" dirty="0">
              <a:solidFill>
                <a:srgbClr val="000000"/>
              </a:solidFill>
              <a:latin typeface="Consolas" panose="020B0609020204030204" pitchFamily="49" charset="0"/>
            </a:endParaRPr>
          </a:p>
          <a:p>
            <a:r>
              <a:rPr lang="fr-CA" sz="1600" dirty="0">
                <a:solidFill>
                  <a:srgbClr val="000000"/>
                </a:solidFill>
                <a:latin typeface="Consolas" panose="020B0609020204030204" pitchFamily="49" charset="0"/>
              </a:rPr>
              <a:t>    {</a:t>
            </a:r>
          </a:p>
          <a:p>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void</a:t>
            </a:r>
            <a:r>
              <a:rPr lang="fr-CA" sz="1600" dirty="0">
                <a:solidFill>
                  <a:srgbClr val="000000"/>
                </a:solidFill>
                <a:latin typeface="Consolas" panose="020B0609020204030204" pitchFamily="49" charset="0"/>
              </a:rPr>
              <a:t> Update(</a:t>
            </a:r>
            <a:r>
              <a:rPr lang="fr-CA" sz="1600" dirty="0" err="1">
                <a:solidFill>
                  <a:srgbClr val="0000FF"/>
                </a:solidFill>
                <a:latin typeface="Consolas" panose="020B0609020204030204" pitchFamily="49" charset="0"/>
              </a:rPr>
              <a:t>object</a:t>
            </a: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subject</a:t>
            </a:r>
            <a:r>
              <a:rPr lang="fr-CA" sz="1600" dirty="0">
                <a:solidFill>
                  <a:srgbClr val="000000"/>
                </a:solidFill>
                <a:latin typeface="Consolas" panose="020B0609020204030204" pitchFamily="49" charset="0"/>
              </a:rPr>
              <a:t>);</a:t>
            </a:r>
          </a:p>
          <a:p>
            <a:r>
              <a:rPr lang="fr-CA" sz="1600" dirty="0">
                <a:solidFill>
                  <a:srgbClr val="000000"/>
                </a:solidFill>
                <a:latin typeface="Consolas" panose="020B0609020204030204" pitchFamily="49" charset="0"/>
              </a:rPr>
              <a:t>    }</a:t>
            </a:r>
          </a:p>
          <a:p>
            <a:r>
              <a:rPr lang="fr-CA" sz="1600" dirty="0">
                <a:solidFill>
                  <a:srgbClr val="000000"/>
                </a:solidFill>
                <a:latin typeface="Consolas" panose="020B0609020204030204" pitchFamily="49" charset="0"/>
              </a:rPr>
              <a:t>}</a:t>
            </a:r>
            <a:endParaRPr lang="fr-CA" sz="1600" dirty="0">
              <a:solidFill>
                <a:srgbClr val="00B0F0"/>
              </a:solidFill>
            </a:endParaRPr>
          </a:p>
        </p:txBody>
      </p:sp>
      <p:sp>
        <p:nvSpPr>
          <p:cNvPr id="7" name="Rectangle 6">
            <a:extLst>
              <a:ext uri="{FF2B5EF4-FFF2-40B4-BE49-F238E27FC236}">
                <a16:creationId xmlns:a16="http://schemas.microsoft.com/office/drawing/2014/main" id="{8B743B8E-3853-4125-9A1B-CF907B956FE0}"/>
              </a:ext>
            </a:extLst>
          </p:cNvPr>
          <p:cNvSpPr/>
          <p:nvPr/>
        </p:nvSpPr>
        <p:spPr>
          <a:xfrm>
            <a:off x="17787" y="3176972"/>
            <a:ext cx="4605384" cy="3046988"/>
          </a:xfrm>
          <a:prstGeom prst="rect">
            <a:avLst/>
          </a:prstGeom>
        </p:spPr>
        <p:txBody>
          <a:bodyPr wrap="square">
            <a:spAutoFit/>
          </a:bodyPr>
          <a:lstStyle/>
          <a:p>
            <a:r>
              <a:rPr lang="fr-CA" sz="1600" dirty="0" err="1">
                <a:solidFill>
                  <a:srgbClr val="0000FF"/>
                </a:solidFill>
                <a:latin typeface="Consolas" panose="020B0609020204030204" pitchFamily="49" charset="0"/>
              </a:rPr>
              <a:t>using</a:t>
            </a:r>
            <a:r>
              <a:rPr lang="fr-CA" sz="1600" dirty="0">
                <a:solidFill>
                  <a:srgbClr val="000000"/>
                </a:solidFill>
                <a:latin typeface="Consolas" panose="020B0609020204030204" pitchFamily="49" charset="0"/>
              </a:rPr>
              <a:t> System;</a:t>
            </a:r>
          </a:p>
          <a:p>
            <a:r>
              <a:rPr lang="fr-CA" sz="1600" dirty="0" err="1">
                <a:solidFill>
                  <a:srgbClr val="0000FF"/>
                </a:solidFill>
                <a:latin typeface="Consolas" panose="020B0609020204030204" pitchFamily="49" charset="0"/>
              </a:rPr>
              <a:t>namespace</a:t>
            </a: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SystèmeGestionStationService.Core</a:t>
            </a:r>
            <a:endParaRPr lang="fr-CA" sz="1600" dirty="0">
              <a:solidFill>
                <a:srgbClr val="000000"/>
              </a:solidFill>
              <a:latin typeface="Consolas" panose="020B0609020204030204" pitchFamily="49" charset="0"/>
            </a:endParaRPr>
          </a:p>
          <a:p>
            <a:r>
              <a:rPr lang="fr-CA" sz="1600" dirty="0">
                <a:solidFill>
                  <a:srgbClr val="000000"/>
                </a:solidFill>
                <a:latin typeface="Consolas" panose="020B0609020204030204" pitchFamily="49" charset="0"/>
              </a:rPr>
              <a:t>{</a:t>
            </a:r>
          </a:p>
          <a:p>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public</a:t>
            </a:r>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interface</a:t>
            </a:r>
            <a:r>
              <a:rPr lang="fr-CA" sz="1600" dirty="0">
                <a:solidFill>
                  <a:srgbClr val="000000"/>
                </a:solidFill>
                <a:latin typeface="Consolas" panose="020B0609020204030204" pitchFamily="49" charset="0"/>
              </a:rPr>
              <a:t> </a:t>
            </a:r>
            <a:r>
              <a:rPr lang="fr-CA" sz="1600" dirty="0" err="1">
                <a:solidFill>
                  <a:srgbClr val="2B91AF"/>
                </a:solidFill>
                <a:latin typeface="Consolas" panose="020B0609020204030204" pitchFamily="49" charset="0"/>
              </a:rPr>
              <a:t>Subject</a:t>
            </a:r>
            <a:endParaRPr lang="fr-CA" sz="1600" dirty="0">
              <a:solidFill>
                <a:srgbClr val="000000"/>
              </a:solidFill>
              <a:latin typeface="Consolas" panose="020B0609020204030204" pitchFamily="49" charset="0"/>
            </a:endParaRPr>
          </a:p>
          <a:p>
            <a:r>
              <a:rPr lang="fr-CA"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void</a:t>
            </a:r>
            <a:r>
              <a:rPr lang="en-US" sz="1600" dirty="0">
                <a:solidFill>
                  <a:srgbClr val="000000"/>
                </a:solidFill>
                <a:latin typeface="Consolas" panose="020B0609020204030204" pitchFamily="49" charset="0"/>
              </a:rPr>
              <a:t> Attach(Observer o);</a:t>
            </a:r>
          </a:p>
          <a:p>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public</a:t>
            </a:r>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void</a:t>
            </a: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Detach</a:t>
            </a:r>
            <a:r>
              <a:rPr lang="fr-CA" sz="1600" dirty="0">
                <a:solidFill>
                  <a:srgbClr val="000000"/>
                </a:solidFill>
                <a:latin typeface="Consolas" panose="020B0609020204030204" pitchFamily="49" charset="0"/>
              </a:rPr>
              <a:t>(Observer o);</a:t>
            </a:r>
          </a:p>
          <a:p>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public</a:t>
            </a:r>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void</a:t>
            </a: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Notify</a:t>
            </a:r>
            <a:r>
              <a:rPr lang="fr-CA" sz="1600" dirty="0">
                <a:solidFill>
                  <a:srgbClr val="000000"/>
                </a:solidFill>
                <a:latin typeface="Consolas" panose="020B0609020204030204" pitchFamily="49" charset="0"/>
              </a:rPr>
              <a:t>();</a:t>
            </a:r>
          </a:p>
          <a:p>
            <a:endParaRPr lang="fr-CA" sz="1600" dirty="0">
              <a:solidFill>
                <a:srgbClr val="000000"/>
              </a:solidFill>
              <a:latin typeface="Consolas" panose="020B0609020204030204" pitchFamily="49" charset="0"/>
            </a:endParaRPr>
          </a:p>
          <a:p>
            <a:r>
              <a:rPr lang="fr-CA" sz="1600" dirty="0">
                <a:solidFill>
                  <a:srgbClr val="000000"/>
                </a:solidFill>
                <a:latin typeface="Consolas" panose="020B0609020204030204" pitchFamily="49" charset="0"/>
              </a:rPr>
              <a:t>    }</a:t>
            </a:r>
          </a:p>
          <a:p>
            <a:r>
              <a:rPr lang="fr-CA" sz="1600" dirty="0">
                <a:solidFill>
                  <a:srgbClr val="000000"/>
                </a:solidFill>
                <a:latin typeface="Consolas" panose="020B0609020204030204" pitchFamily="49" charset="0"/>
              </a:rPr>
              <a:t>}</a:t>
            </a:r>
            <a:endParaRPr lang="fr-CA" sz="1600" dirty="0">
              <a:solidFill>
                <a:schemeClr val="accent3"/>
              </a:solidFill>
            </a:endParaRPr>
          </a:p>
        </p:txBody>
      </p:sp>
    </p:spTree>
    <p:extLst>
      <p:ext uri="{BB962C8B-B14F-4D97-AF65-F5344CB8AC3E}">
        <p14:creationId xmlns:p14="http://schemas.microsoft.com/office/powerpoint/2010/main" val="946826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3528" y="188640"/>
            <a:ext cx="8229600" cy="1066800"/>
          </a:xfrm>
        </p:spPr>
        <p:txBody>
          <a:bodyPr>
            <a:normAutofit fontScale="90000"/>
          </a:bodyPr>
          <a:lstStyle/>
          <a:p>
            <a:r>
              <a:rPr lang="fr-CA" dirty="0"/>
              <a:t>Application du patron Observateur</a:t>
            </a:r>
          </a:p>
        </p:txBody>
      </p:sp>
      <p:sp>
        <p:nvSpPr>
          <p:cNvPr id="3" name="Espace réservé du contenu 2"/>
          <p:cNvSpPr>
            <a:spLocks noGrp="1"/>
          </p:cNvSpPr>
          <p:nvPr>
            <p:ph idx="1"/>
          </p:nvPr>
        </p:nvSpPr>
        <p:spPr>
          <a:xfrm>
            <a:off x="457200" y="1636863"/>
            <a:ext cx="8229600" cy="4462095"/>
          </a:xfrm>
        </p:spPr>
        <p:txBody>
          <a:bodyPr>
            <a:normAutofit fontScale="70000" lnSpcReduction="20000"/>
          </a:bodyPr>
          <a:lstStyle/>
          <a:p>
            <a:r>
              <a:rPr lang="fr-CA" sz="3400" dirty="0"/>
              <a:t>La classe Pompe va être sujet </a:t>
            </a:r>
          </a:p>
          <a:p>
            <a:pPr marL="411480" lvl="1" indent="0">
              <a:buNone/>
            </a:pPr>
            <a:r>
              <a:rPr lang="en-US" sz="2900" i="1" dirty="0"/>
              <a:t>public class </a:t>
            </a:r>
            <a:r>
              <a:rPr lang="en-US" sz="2900" i="1" dirty="0" err="1"/>
              <a:t>Pompe</a:t>
            </a:r>
            <a:r>
              <a:rPr lang="en-US" sz="2900" i="1" dirty="0"/>
              <a:t> : </a:t>
            </a:r>
            <a:r>
              <a:rPr lang="en-US" sz="2900" i="1" dirty="0" err="1"/>
              <a:t>BaseEntity</a:t>
            </a:r>
            <a:r>
              <a:rPr lang="en-US" sz="2900" i="1" dirty="0"/>
              <a:t>, </a:t>
            </a:r>
            <a:r>
              <a:rPr lang="en-US" sz="2900" i="1" dirty="0" err="1"/>
              <a:t>IAggregateRoot</a:t>
            </a:r>
            <a:r>
              <a:rPr lang="en-US" sz="2900" i="1" dirty="0"/>
              <a:t>, </a:t>
            </a:r>
            <a:r>
              <a:rPr lang="en-US" sz="2900" i="1" dirty="0">
                <a:solidFill>
                  <a:srgbClr val="FF0000"/>
                </a:solidFill>
              </a:rPr>
              <a:t>Subject</a:t>
            </a:r>
            <a:endParaRPr lang="fr-CA" sz="2900" i="1" dirty="0"/>
          </a:p>
          <a:p>
            <a:pPr lvl="1"/>
            <a:r>
              <a:rPr lang="fr-CA" sz="2900" dirty="0"/>
              <a:t>Des formulaires de l’IU peuvent l’observer</a:t>
            </a:r>
          </a:p>
          <a:p>
            <a:r>
              <a:rPr lang="fr-CA" sz="3400" dirty="0"/>
              <a:t>La classe Compteur va être sujet de la classe Écran</a:t>
            </a:r>
          </a:p>
          <a:p>
            <a:pPr marL="411480" lvl="1" indent="0">
              <a:buNone/>
            </a:pPr>
            <a:r>
              <a:rPr lang="fr-CA" sz="2900" i="1" dirty="0"/>
              <a:t>public class Compteur : </a:t>
            </a:r>
            <a:r>
              <a:rPr lang="fr-CA" sz="2900" i="1" dirty="0" err="1">
                <a:solidFill>
                  <a:srgbClr val="FF0000"/>
                </a:solidFill>
              </a:rPr>
              <a:t>Subject</a:t>
            </a:r>
            <a:endParaRPr lang="fr-CA" sz="2900" i="1" dirty="0">
              <a:solidFill>
                <a:srgbClr val="FF0000"/>
              </a:solidFill>
            </a:endParaRPr>
          </a:p>
          <a:p>
            <a:pPr lvl="1"/>
            <a:r>
              <a:rPr lang="fr-CA" sz="2900" dirty="0"/>
              <a:t>Les classes Écran et Réservoir peuvent l’observer</a:t>
            </a:r>
            <a:endParaRPr lang="fr-CA" sz="2900" dirty="0">
              <a:solidFill>
                <a:schemeClr val="tx1"/>
              </a:solidFill>
            </a:endParaRPr>
          </a:p>
          <a:p>
            <a:r>
              <a:rPr lang="fr-CA" sz="3400" dirty="0"/>
              <a:t>La classe Écran va être sujet et observateur</a:t>
            </a:r>
          </a:p>
          <a:p>
            <a:pPr marL="411480" lvl="1" indent="0">
              <a:buNone/>
            </a:pPr>
            <a:r>
              <a:rPr lang="fr-CA" sz="2900" i="1" dirty="0"/>
              <a:t>public class Écran : </a:t>
            </a:r>
            <a:r>
              <a:rPr lang="fr-CA" sz="2900" i="1" dirty="0" err="1">
                <a:solidFill>
                  <a:srgbClr val="FF0000"/>
                </a:solidFill>
              </a:rPr>
              <a:t>Subject</a:t>
            </a:r>
            <a:r>
              <a:rPr lang="fr-CA" sz="2900" i="1" dirty="0">
                <a:solidFill>
                  <a:srgbClr val="FF0000"/>
                </a:solidFill>
              </a:rPr>
              <a:t>, Observer </a:t>
            </a:r>
          </a:p>
          <a:p>
            <a:pPr lvl="1"/>
            <a:r>
              <a:rPr lang="fr-CA" sz="2900" dirty="0"/>
              <a:t>Un formulaire de l’IU peut l’observer</a:t>
            </a:r>
          </a:p>
          <a:p>
            <a:r>
              <a:rPr lang="fr-CA" sz="3400" dirty="0"/>
              <a:t>La classe Réservoir va être sujet et observateur</a:t>
            </a:r>
          </a:p>
          <a:p>
            <a:pPr marL="411480" lvl="1" indent="0">
              <a:buNone/>
            </a:pPr>
            <a:r>
              <a:rPr lang="fr-CA" sz="2900" i="1" dirty="0"/>
              <a:t>public class Réservoir : </a:t>
            </a:r>
            <a:r>
              <a:rPr lang="en-US" sz="2900" i="1" dirty="0" err="1"/>
              <a:t>BaseEntity</a:t>
            </a:r>
            <a:r>
              <a:rPr lang="en-US" sz="2900" i="1" dirty="0"/>
              <a:t>, </a:t>
            </a:r>
            <a:r>
              <a:rPr lang="en-US" sz="2900" i="1" dirty="0" err="1"/>
              <a:t>IAggregateRoot</a:t>
            </a:r>
            <a:r>
              <a:rPr lang="en-US" sz="2900" i="1" dirty="0"/>
              <a:t>, </a:t>
            </a:r>
            <a:r>
              <a:rPr lang="fr-CA" sz="2900" i="1" dirty="0" err="1">
                <a:solidFill>
                  <a:srgbClr val="FF0000"/>
                </a:solidFill>
              </a:rPr>
              <a:t>Subject</a:t>
            </a:r>
            <a:r>
              <a:rPr lang="fr-CA" sz="2900" i="1" dirty="0">
                <a:solidFill>
                  <a:srgbClr val="FF0000"/>
                </a:solidFill>
              </a:rPr>
              <a:t>, Observer</a:t>
            </a:r>
          </a:p>
          <a:p>
            <a:pPr lvl="1"/>
            <a:r>
              <a:rPr lang="fr-CA" sz="2900" dirty="0"/>
              <a:t>Un formulaire de l’IU peut l’observer</a:t>
            </a:r>
            <a:endParaRPr lang="fr-CA" sz="2900" dirty="0">
              <a:solidFill>
                <a:srgbClr val="FF0000"/>
              </a:solidFill>
            </a:endParaRPr>
          </a:p>
          <a:p>
            <a:endParaRPr lang="fr-CA" i="1" dirty="0"/>
          </a:p>
          <a:p>
            <a:pPr lvl="2"/>
            <a:endParaRPr lang="fr-CA" dirty="0"/>
          </a:p>
          <a:p>
            <a:pPr lvl="2"/>
            <a:endParaRPr lang="fr-CA" dirty="0"/>
          </a:p>
          <a:p>
            <a:endParaRPr lang="fr-CA" dirty="0">
              <a:solidFill>
                <a:srgbClr val="FF0000"/>
              </a:solidFill>
            </a:endParaRPr>
          </a:p>
        </p:txBody>
      </p:sp>
      <p:sp>
        <p:nvSpPr>
          <p:cNvPr id="4" name="Espace réservé du numéro de diapositive 3">
            <a:extLst>
              <a:ext uri="{FF2B5EF4-FFF2-40B4-BE49-F238E27FC236}">
                <a16:creationId xmlns:a16="http://schemas.microsoft.com/office/drawing/2014/main" id="{E8C143DC-7833-4D56-ACD6-C36110AE581F}"/>
              </a:ext>
            </a:extLst>
          </p:cNvPr>
          <p:cNvSpPr>
            <a:spLocks noGrp="1"/>
          </p:cNvSpPr>
          <p:nvPr>
            <p:ph type="sldNum" sz="quarter" idx="12"/>
          </p:nvPr>
        </p:nvSpPr>
        <p:spPr/>
        <p:txBody>
          <a:bodyPr/>
          <a:lstStyle/>
          <a:p>
            <a:pPr>
              <a:defRPr/>
            </a:pPr>
            <a:fld id="{7FEE665E-3450-413D-913D-057FF7C87532}" type="slidenum">
              <a:rPr lang="en-US" altLang="en-US" smtClean="0"/>
              <a:pPr>
                <a:defRPr/>
              </a:pPr>
              <a:t>32</a:t>
            </a:fld>
            <a:endParaRPr lang="en-US" altLang="en-US"/>
          </a:p>
        </p:txBody>
      </p:sp>
    </p:spTree>
    <p:extLst>
      <p:ext uri="{BB962C8B-B14F-4D97-AF65-F5344CB8AC3E}">
        <p14:creationId xmlns:p14="http://schemas.microsoft.com/office/powerpoint/2010/main" val="3349652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3528" y="188640"/>
            <a:ext cx="8229600" cy="1066800"/>
          </a:xfrm>
        </p:spPr>
        <p:txBody>
          <a:bodyPr>
            <a:normAutofit/>
          </a:bodyPr>
          <a:lstStyle/>
          <a:p>
            <a:r>
              <a:rPr lang="fr-CA" dirty="0"/>
              <a:t>Projet infrastructure</a:t>
            </a:r>
          </a:p>
        </p:txBody>
      </p:sp>
      <p:sp>
        <p:nvSpPr>
          <p:cNvPr id="4" name="Espace réservé du numéro de diapositive 3">
            <a:extLst>
              <a:ext uri="{FF2B5EF4-FFF2-40B4-BE49-F238E27FC236}">
                <a16:creationId xmlns:a16="http://schemas.microsoft.com/office/drawing/2014/main" id="{E8C143DC-7833-4D56-ACD6-C36110AE581F}"/>
              </a:ext>
            </a:extLst>
          </p:cNvPr>
          <p:cNvSpPr>
            <a:spLocks noGrp="1"/>
          </p:cNvSpPr>
          <p:nvPr>
            <p:ph type="sldNum" sz="quarter" idx="12"/>
          </p:nvPr>
        </p:nvSpPr>
        <p:spPr/>
        <p:txBody>
          <a:bodyPr/>
          <a:lstStyle/>
          <a:p>
            <a:pPr>
              <a:defRPr/>
            </a:pPr>
            <a:fld id="{7FEE665E-3450-413D-913D-057FF7C87532}" type="slidenum">
              <a:rPr lang="en-US" altLang="en-US" smtClean="0"/>
              <a:pPr>
                <a:defRPr/>
              </a:pPr>
              <a:t>33</a:t>
            </a:fld>
            <a:endParaRPr lang="en-US" altLang="en-US"/>
          </a:p>
        </p:txBody>
      </p:sp>
      <p:sp>
        <p:nvSpPr>
          <p:cNvPr id="9" name="Espace réservé du contenu 2">
            <a:extLst>
              <a:ext uri="{FF2B5EF4-FFF2-40B4-BE49-F238E27FC236}">
                <a16:creationId xmlns:a16="http://schemas.microsoft.com/office/drawing/2014/main" id="{6A6694C1-6F7A-4006-BE14-6BA176610A5A}"/>
              </a:ext>
            </a:extLst>
          </p:cNvPr>
          <p:cNvSpPr>
            <a:spLocks noGrp="1"/>
          </p:cNvSpPr>
          <p:nvPr>
            <p:ph idx="1"/>
          </p:nvPr>
        </p:nvSpPr>
        <p:spPr>
          <a:xfrm>
            <a:off x="539552" y="1448780"/>
            <a:ext cx="8229600" cy="4462095"/>
          </a:xfrm>
        </p:spPr>
        <p:txBody>
          <a:bodyPr>
            <a:normAutofit fontScale="62500" lnSpcReduction="20000"/>
          </a:bodyPr>
          <a:lstStyle/>
          <a:p>
            <a:r>
              <a:rPr lang="fr-CA" dirty="0"/>
              <a:t>Ajouter la dépendance au </a:t>
            </a:r>
            <a:r>
              <a:rPr lang="fr-CA" dirty="0" err="1"/>
              <a:t>Core</a:t>
            </a:r>
            <a:endParaRPr lang="fr-CA" dirty="0"/>
          </a:p>
          <a:p>
            <a:r>
              <a:rPr lang="fr-CA" dirty="0"/>
              <a:t>Installer les packages </a:t>
            </a:r>
            <a:r>
              <a:rPr lang="fr-CA" dirty="0" err="1"/>
              <a:t>NuGet</a:t>
            </a:r>
            <a:r>
              <a:rPr lang="fr-CA" dirty="0"/>
              <a:t> « </a:t>
            </a:r>
            <a:r>
              <a:rPr lang="fr-CA" dirty="0" err="1"/>
              <a:t>EntityFrameworkCore</a:t>
            </a:r>
            <a:r>
              <a:rPr lang="fr-CA" dirty="0"/>
              <a:t> » et «  </a:t>
            </a:r>
            <a:r>
              <a:rPr lang="fr-CA" dirty="0" err="1"/>
              <a:t>EntityFrameworkCore.SqlServer</a:t>
            </a:r>
            <a:r>
              <a:rPr lang="fr-CA" dirty="0"/>
              <a:t> »  dans votre projet</a:t>
            </a:r>
          </a:p>
          <a:p>
            <a:r>
              <a:rPr lang="fr-CA" dirty="0"/>
              <a:t>Créer dans votre projet la classe «  </a:t>
            </a:r>
            <a:r>
              <a:rPr lang="fr-CA" dirty="0" err="1"/>
              <a:t>SystèmeGestionStationServiceContext</a:t>
            </a:r>
            <a:r>
              <a:rPr lang="fr-CA" dirty="0"/>
              <a:t> » </a:t>
            </a:r>
          </a:p>
          <a:p>
            <a:r>
              <a:rPr lang="fr-CA" dirty="0"/>
              <a:t>Créer aussi la classe « </a:t>
            </a:r>
            <a:r>
              <a:rPr lang="fr-CA" dirty="0" err="1"/>
              <a:t>SystèmeGestionStationServiceContextFactory</a:t>
            </a:r>
            <a:r>
              <a:rPr lang="fr-CA" dirty="0"/>
              <a:t> »</a:t>
            </a:r>
          </a:p>
          <a:p>
            <a:pPr lvl="1"/>
            <a:r>
              <a:rPr lang="fr-CA" dirty="0"/>
              <a:t>Voir l’utilité de cette classe dans </a:t>
            </a:r>
            <a:r>
              <a:rPr lang="fr-CA" i="1" dirty="0"/>
              <a:t>https://docs.microsoft.com/fr-fr/ef/core/cli/dbcontext-creation?tabs=dotnet-core-cli</a:t>
            </a:r>
          </a:p>
          <a:p>
            <a:r>
              <a:rPr lang="fr-CA" dirty="0"/>
              <a:t>Ajouter la migration</a:t>
            </a:r>
          </a:p>
          <a:p>
            <a:pPr lvl="1"/>
            <a:r>
              <a:rPr lang="fr-CA" dirty="0"/>
              <a:t>Installer le package « </a:t>
            </a:r>
            <a:r>
              <a:rPr lang="fr-CA" dirty="0" err="1"/>
              <a:t>Microsoft.EntityFrameworkCore.Tools</a:t>
            </a:r>
            <a:r>
              <a:rPr lang="fr-CA" dirty="0"/>
              <a:t> » dans le projet</a:t>
            </a:r>
          </a:p>
          <a:p>
            <a:pPr lvl="1"/>
            <a:r>
              <a:rPr lang="fr-CA" dirty="0"/>
              <a:t>Via la console de gestionnaire de package, exécuter la commande </a:t>
            </a:r>
          </a:p>
          <a:p>
            <a:pPr marL="411480" lvl="1" indent="0">
              <a:buNone/>
            </a:pPr>
            <a:r>
              <a:rPr lang="fr-CA" dirty="0"/>
              <a:t>	</a:t>
            </a:r>
            <a:r>
              <a:rPr lang="fr-CA" i="1" dirty="0" err="1"/>
              <a:t>add</a:t>
            </a:r>
            <a:r>
              <a:rPr lang="fr-CA" i="1" dirty="0"/>
              <a:t>-migration </a:t>
            </a:r>
            <a:r>
              <a:rPr lang="fr-CA" i="1" dirty="0" err="1"/>
              <a:t>Create</a:t>
            </a:r>
            <a:r>
              <a:rPr lang="fr-CA" dirty="0" err="1"/>
              <a:t>SystèmeGestionStationService</a:t>
            </a:r>
            <a:r>
              <a:rPr lang="fr-CA" i="1" dirty="0" err="1"/>
              <a:t>DB</a:t>
            </a:r>
            <a:endParaRPr lang="fr-CA" i="1" dirty="0"/>
          </a:p>
          <a:p>
            <a:pPr lvl="2"/>
            <a:r>
              <a:rPr lang="fr-CA" dirty="0"/>
              <a:t>Note! Le projet Infrastructure doit être sélectionné </a:t>
            </a:r>
          </a:p>
          <a:p>
            <a:pPr lvl="2"/>
            <a:endParaRPr lang="fr-CA" dirty="0"/>
          </a:p>
          <a:p>
            <a:pPr lvl="2"/>
            <a:endParaRPr lang="fr-CA" dirty="0"/>
          </a:p>
          <a:p>
            <a:pPr lvl="2"/>
            <a:endParaRPr lang="fr-CA" dirty="0"/>
          </a:p>
          <a:p>
            <a:pPr lvl="2"/>
            <a:endParaRPr lang="fr-CA" dirty="0"/>
          </a:p>
          <a:p>
            <a:pPr lvl="2"/>
            <a:endParaRPr lang="fr-CA" dirty="0"/>
          </a:p>
          <a:p>
            <a:pPr lvl="2"/>
            <a:endParaRPr lang="fr-CA" dirty="0"/>
          </a:p>
          <a:p>
            <a:endParaRPr lang="fr-CA" dirty="0">
              <a:solidFill>
                <a:srgbClr val="FF0000"/>
              </a:solidFill>
            </a:endParaRPr>
          </a:p>
        </p:txBody>
      </p:sp>
      <p:pic>
        <p:nvPicPr>
          <p:cNvPr id="10" name="Image 9">
            <a:extLst>
              <a:ext uri="{FF2B5EF4-FFF2-40B4-BE49-F238E27FC236}">
                <a16:creationId xmlns:a16="http://schemas.microsoft.com/office/drawing/2014/main" id="{5E362D2E-54B5-4DE6-8818-82A25B94D2D1}"/>
              </a:ext>
            </a:extLst>
          </p:cNvPr>
          <p:cNvPicPr>
            <a:picLocks noChangeAspect="1"/>
          </p:cNvPicPr>
          <p:nvPr/>
        </p:nvPicPr>
        <p:blipFill>
          <a:blip r:embed="rId2"/>
          <a:stretch>
            <a:fillRect/>
          </a:stretch>
        </p:blipFill>
        <p:spPr>
          <a:xfrm>
            <a:off x="467544" y="5013176"/>
            <a:ext cx="8229600" cy="762000"/>
          </a:xfrm>
          <a:prstGeom prst="rect">
            <a:avLst/>
          </a:prstGeom>
        </p:spPr>
      </p:pic>
      <p:sp>
        <p:nvSpPr>
          <p:cNvPr id="11" name="Espace réservé du contenu 2">
            <a:extLst>
              <a:ext uri="{FF2B5EF4-FFF2-40B4-BE49-F238E27FC236}">
                <a16:creationId xmlns:a16="http://schemas.microsoft.com/office/drawing/2014/main" id="{7E1568B5-2331-421D-828B-5535AFEED802}"/>
              </a:ext>
            </a:extLst>
          </p:cNvPr>
          <p:cNvSpPr txBox="1">
            <a:spLocks/>
          </p:cNvSpPr>
          <p:nvPr/>
        </p:nvSpPr>
        <p:spPr>
          <a:xfrm>
            <a:off x="539552" y="5949280"/>
            <a:ext cx="8229600" cy="57606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CA" sz="2000" dirty="0"/>
              <a:t>Créer la BD en utilisant la commande </a:t>
            </a:r>
            <a:r>
              <a:rPr lang="fr-CA" sz="2000" i="1" dirty="0"/>
              <a:t>update-</a:t>
            </a:r>
            <a:r>
              <a:rPr lang="fr-CA" sz="2000" i="1" dirty="0" err="1"/>
              <a:t>database</a:t>
            </a:r>
            <a:r>
              <a:rPr lang="fr-CA" sz="2000" i="1" dirty="0"/>
              <a:t> –</a:t>
            </a:r>
            <a:r>
              <a:rPr lang="fr-CA" sz="2000" i="1" dirty="0" err="1"/>
              <a:t>verbose</a:t>
            </a:r>
            <a:endParaRPr lang="fr-CA" sz="2000" i="1" dirty="0"/>
          </a:p>
          <a:p>
            <a:pPr fontAlgn="auto">
              <a:spcAft>
                <a:spcPts val="0"/>
              </a:spcAft>
            </a:pPr>
            <a:endParaRPr lang="fr-CA" dirty="0">
              <a:solidFill>
                <a:srgbClr val="FF0000"/>
              </a:solidFill>
            </a:endParaRPr>
          </a:p>
        </p:txBody>
      </p:sp>
    </p:spTree>
    <p:extLst>
      <p:ext uri="{BB962C8B-B14F-4D97-AF65-F5344CB8AC3E}">
        <p14:creationId xmlns:p14="http://schemas.microsoft.com/office/powerpoint/2010/main" val="3953469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87524" y="332656"/>
            <a:ext cx="8229600" cy="1066800"/>
          </a:xfrm>
        </p:spPr>
        <p:txBody>
          <a:bodyPr>
            <a:normAutofit fontScale="90000"/>
          </a:bodyPr>
          <a:lstStyle/>
          <a:p>
            <a:r>
              <a:rPr lang="fr-CA" dirty="0" err="1"/>
              <a:t>SystèmeGestionStationServiceContext</a:t>
            </a:r>
            <a:endParaRPr lang="fr-CA" dirty="0"/>
          </a:p>
        </p:txBody>
      </p:sp>
      <p:sp>
        <p:nvSpPr>
          <p:cNvPr id="4" name="Espace réservé du numéro de diapositive 3">
            <a:extLst>
              <a:ext uri="{FF2B5EF4-FFF2-40B4-BE49-F238E27FC236}">
                <a16:creationId xmlns:a16="http://schemas.microsoft.com/office/drawing/2014/main" id="{9E389940-55D7-4FF7-ADAF-953C35634F82}"/>
              </a:ext>
            </a:extLst>
          </p:cNvPr>
          <p:cNvSpPr>
            <a:spLocks noGrp="1"/>
          </p:cNvSpPr>
          <p:nvPr>
            <p:ph type="sldNum" sz="quarter" idx="12"/>
          </p:nvPr>
        </p:nvSpPr>
        <p:spPr/>
        <p:txBody>
          <a:bodyPr/>
          <a:lstStyle/>
          <a:p>
            <a:pPr>
              <a:defRPr/>
            </a:pPr>
            <a:fld id="{7FEE665E-3450-413D-913D-057FF7C87532}" type="slidenum">
              <a:rPr lang="en-US" altLang="en-US" smtClean="0"/>
              <a:pPr>
                <a:defRPr/>
              </a:pPr>
              <a:t>34</a:t>
            </a:fld>
            <a:endParaRPr lang="en-US" altLang="en-US"/>
          </a:p>
        </p:txBody>
      </p:sp>
      <p:sp>
        <p:nvSpPr>
          <p:cNvPr id="5" name="Espace réservé du contenu 2">
            <a:extLst>
              <a:ext uri="{FF2B5EF4-FFF2-40B4-BE49-F238E27FC236}">
                <a16:creationId xmlns:a16="http://schemas.microsoft.com/office/drawing/2014/main" id="{9BA593D5-DDA0-4365-B27B-F8D59181AEE3}"/>
              </a:ext>
            </a:extLst>
          </p:cNvPr>
          <p:cNvSpPr>
            <a:spLocks noGrp="1"/>
          </p:cNvSpPr>
          <p:nvPr>
            <p:ph idx="1"/>
          </p:nvPr>
        </p:nvSpPr>
        <p:spPr>
          <a:xfrm>
            <a:off x="457200" y="1636863"/>
            <a:ext cx="8229600" cy="4462095"/>
          </a:xfrm>
        </p:spPr>
        <p:txBody>
          <a:bodyPr>
            <a:normAutofit/>
          </a:bodyPr>
          <a:lstStyle/>
          <a:p>
            <a:r>
              <a:rPr lang="fr-CA" sz="2400" dirty="0"/>
              <a:t>Elle hérite de la classe  </a:t>
            </a:r>
            <a:r>
              <a:rPr lang="fr-CA" sz="2400" i="1" dirty="0" err="1"/>
              <a:t>System.Data.Entity.DbContext</a:t>
            </a:r>
            <a:endParaRPr lang="fr-CA" sz="2400" i="1" dirty="0"/>
          </a:p>
          <a:p>
            <a:r>
              <a:rPr lang="fr-CA" sz="2400" dirty="0"/>
              <a:t>Elle représente une session avec la base de données sous-jacente à l’aide de laquelle vous pouvez effectuer des opérations CRUD</a:t>
            </a:r>
          </a:p>
          <a:p>
            <a:r>
              <a:rPr lang="fr-CA" sz="2400" dirty="0"/>
              <a:t>Une instance de la classe de contexte représente les patrons de conception Unit of Work et Repository dans lesquels elle peut combiner plusieurs modifications sous une seule transaction de BD (voir les prochaines notes de cours)</a:t>
            </a:r>
          </a:p>
          <a:p>
            <a:endParaRPr lang="fr-CA" i="1" dirty="0"/>
          </a:p>
          <a:p>
            <a:pPr lvl="2"/>
            <a:endParaRPr lang="fr-CA" dirty="0"/>
          </a:p>
          <a:p>
            <a:pPr lvl="2"/>
            <a:endParaRPr lang="fr-CA" dirty="0"/>
          </a:p>
          <a:p>
            <a:endParaRPr lang="fr-CA" dirty="0">
              <a:solidFill>
                <a:srgbClr val="FF0000"/>
              </a:solidFill>
            </a:endParaRPr>
          </a:p>
        </p:txBody>
      </p:sp>
    </p:spTree>
    <p:extLst>
      <p:ext uri="{BB962C8B-B14F-4D97-AF65-F5344CB8AC3E}">
        <p14:creationId xmlns:p14="http://schemas.microsoft.com/office/powerpoint/2010/main" val="2759026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87524" y="332656"/>
            <a:ext cx="8229600" cy="1066800"/>
          </a:xfrm>
        </p:spPr>
        <p:txBody>
          <a:bodyPr>
            <a:normAutofit fontScale="90000"/>
          </a:bodyPr>
          <a:lstStyle/>
          <a:p>
            <a:r>
              <a:rPr lang="fr-CA" dirty="0" err="1"/>
              <a:t>SystèmeGestionStationServiceContext</a:t>
            </a:r>
            <a:endParaRPr lang="fr-CA" dirty="0"/>
          </a:p>
        </p:txBody>
      </p:sp>
      <p:sp>
        <p:nvSpPr>
          <p:cNvPr id="4" name="Espace réservé du numéro de diapositive 3">
            <a:extLst>
              <a:ext uri="{FF2B5EF4-FFF2-40B4-BE49-F238E27FC236}">
                <a16:creationId xmlns:a16="http://schemas.microsoft.com/office/drawing/2014/main" id="{9E389940-55D7-4FF7-ADAF-953C35634F82}"/>
              </a:ext>
            </a:extLst>
          </p:cNvPr>
          <p:cNvSpPr>
            <a:spLocks noGrp="1"/>
          </p:cNvSpPr>
          <p:nvPr>
            <p:ph type="sldNum" sz="quarter" idx="12"/>
          </p:nvPr>
        </p:nvSpPr>
        <p:spPr/>
        <p:txBody>
          <a:bodyPr/>
          <a:lstStyle/>
          <a:p>
            <a:pPr>
              <a:defRPr/>
            </a:pPr>
            <a:fld id="{7FEE665E-3450-413D-913D-057FF7C87532}" type="slidenum">
              <a:rPr lang="en-US" altLang="en-US" smtClean="0"/>
              <a:pPr>
                <a:defRPr/>
              </a:pPr>
              <a:t>35</a:t>
            </a:fld>
            <a:endParaRPr lang="en-US" altLang="en-US"/>
          </a:p>
        </p:txBody>
      </p:sp>
      <p:sp>
        <p:nvSpPr>
          <p:cNvPr id="9" name="Rectangle 8">
            <a:extLst>
              <a:ext uri="{FF2B5EF4-FFF2-40B4-BE49-F238E27FC236}">
                <a16:creationId xmlns:a16="http://schemas.microsoft.com/office/drawing/2014/main" id="{CAE671DB-64E6-4775-B128-5BB55819EE21}"/>
              </a:ext>
            </a:extLst>
          </p:cNvPr>
          <p:cNvSpPr/>
          <p:nvPr/>
        </p:nvSpPr>
        <p:spPr>
          <a:xfrm>
            <a:off x="208626" y="1412776"/>
            <a:ext cx="8935374" cy="5262979"/>
          </a:xfrm>
          <a:prstGeom prst="rect">
            <a:avLst/>
          </a:prstGeom>
        </p:spPr>
        <p:txBody>
          <a:bodyPr wrap="square">
            <a:spAutoFit/>
          </a:bodyPr>
          <a:lstStyle/>
          <a:p>
            <a:r>
              <a:rPr lang="fr-CA" sz="1600" dirty="0">
                <a:solidFill>
                  <a:srgbClr val="0000FF"/>
                </a:solidFill>
                <a:latin typeface="Consolas" panose="020B0609020204030204" pitchFamily="49" charset="0"/>
              </a:rPr>
              <a:t>public</a:t>
            </a:r>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class</a:t>
            </a:r>
            <a:r>
              <a:rPr lang="fr-CA" sz="1600" dirty="0">
                <a:solidFill>
                  <a:srgbClr val="000000"/>
                </a:solidFill>
                <a:latin typeface="Consolas" panose="020B0609020204030204" pitchFamily="49" charset="0"/>
              </a:rPr>
              <a:t> </a:t>
            </a:r>
            <a:r>
              <a:rPr lang="fr-CA" sz="1600" dirty="0" err="1">
                <a:solidFill>
                  <a:srgbClr val="2B91AF"/>
                </a:solidFill>
                <a:latin typeface="Consolas" panose="020B0609020204030204" pitchFamily="49" charset="0"/>
              </a:rPr>
              <a:t>SystèmeGestionStationServiceContext</a:t>
            </a:r>
            <a:r>
              <a:rPr lang="fr-CA" sz="1600" dirty="0">
                <a:solidFill>
                  <a:srgbClr val="000000"/>
                </a:solidFill>
                <a:latin typeface="Consolas" panose="020B0609020204030204" pitchFamily="49" charset="0"/>
              </a:rPr>
              <a:t> : </a:t>
            </a:r>
            <a:r>
              <a:rPr lang="fr-CA" sz="1600" dirty="0" err="1">
                <a:solidFill>
                  <a:srgbClr val="000000"/>
                </a:solidFill>
                <a:latin typeface="Consolas" panose="020B0609020204030204" pitchFamily="49" charset="0"/>
              </a:rPr>
              <a:t>DbContext</a:t>
            </a:r>
            <a:endParaRPr lang="fr-CA" sz="1600" dirty="0">
              <a:solidFill>
                <a:srgbClr val="000000"/>
              </a:solidFill>
              <a:latin typeface="Consolas" panose="020B0609020204030204" pitchFamily="49" charset="0"/>
            </a:endParaRPr>
          </a:p>
          <a:p>
            <a:r>
              <a:rPr lang="fr-CA"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DbSet</a:t>
            </a:r>
            <a:r>
              <a:rPr lang="en-US" sz="1600" dirty="0">
                <a:solidFill>
                  <a:srgbClr val="000000"/>
                </a:solidFill>
                <a:latin typeface="Consolas" panose="020B0609020204030204" pitchFamily="49" charset="0"/>
              </a:rPr>
              <a:t>&lt;</a:t>
            </a:r>
            <a:r>
              <a:rPr lang="en-US" sz="1600" dirty="0" err="1">
                <a:solidFill>
                  <a:srgbClr val="000000"/>
                </a:solidFill>
                <a:latin typeface="Consolas" panose="020B0609020204030204" pitchFamily="49" charset="0"/>
              </a:rPr>
              <a:t>Pompe</a:t>
            </a:r>
            <a:r>
              <a:rPr lang="en-US" sz="1600" dirty="0">
                <a:solidFill>
                  <a:srgbClr val="000000"/>
                </a:solidFill>
                <a:latin typeface="Consolas" panose="020B0609020204030204" pitchFamily="49" charset="0"/>
              </a:rPr>
              <a:t>&gt; </a:t>
            </a:r>
            <a:r>
              <a:rPr lang="en-US" sz="1600" dirty="0" err="1">
                <a:solidFill>
                  <a:srgbClr val="000000"/>
                </a:solidFill>
                <a:latin typeface="Consolas" panose="020B0609020204030204" pitchFamily="49" charset="0"/>
              </a:rPr>
              <a:t>Pompes</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get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 }</a:t>
            </a:r>
          </a:p>
          <a:p>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public</a:t>
            </a: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DbSet</a:t>
            </a:r>
            <a:r>
              <a:rPr lang="fr-CA" sz="1600" dirty="0">
                <a:solidFill>
                  <a:srgbClr val="000000"/>
                </a:solidFill>
                <a:latin typeface="Consolas" panose="020B0609020204030204" pitchFamily="49" charset="0"/>
              </a:rPr>
              <a:t>&lt;Réservoir&gt; Réservoirs { </a:t>
            </a:r>
            <a:r>
              <a:rPr lang="fr-CA" sz="1600" dirty="0" err="1">
                <a:solidFill>
                  <a:srgbClr val="0000FF"/>
                </a:solidFill>
                <a:latin typeface="Consolas" panose="020B0609020204030204" pitchFamily="49" charset="0"/>
              </a:rPr>
              <a:t>get</a:t>
            </a:r>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set</a:t>
            </a:r>
            <a:r>
              <a:rPr lang="fr-CA"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DbSet</a:t>
            </a:r>
            <a:r>
              <a:rPr lang="en-US" sz="1600" dirty="0">
                <a:solidFill>
                  <a:srgbClr val="000000"/>
                </a:solidFill>
                <a:latin typeface="Consolas" panose="020B0609020204030204" pitchFamily="49" charset="0"/>
              </a:rPr>
              <a:t>&lt;Client&gt; Clients { </a:t>
            </a:r>
            <a:r>
              <a:rPr lang="en-US" sz="1600" dirty="0">
                <a:solidFill>
                  <a:srgbClr val="0000FF"/>
                </a:solidFill>
                <a:latin typeface="Consolas" panose="020B0609020204030204" pitchFamily="49" charset="0"/>
              </a:rPr>
              <a:t>get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 }</a:t>
            </a:r>
          </a:p>
          <a:p>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public</a:t>
            </a: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DbSet</a:t>
            </a:r>
            <a:r>
              <a:rPr lang="fr-CA" sz="1600" dirty="0">
                <a:solidFill>
                  <a:srgbClr val="000000"/>
                </a:solidFill>
                <a:latin typeface="Consolas" panose="020B0609020204030204" pitchFamily="49" charset="0"/>
              </a:rPr>
              <a:t>&lt;Compte&gt; Comptes { </a:t>
            </a:r>
            <a:r>
              <a:rPr lang="fr-CA" sz="1600" dirty="0" err="1">
                <a:solidFill>
                  <a:srgbClr val="0000FF"/>
                </a:solidFill>
                <a:latin typeface="Consolas" panose="020B0609020204030204" pitchFamily="49" charset="0"/>
              </a:rPr>
              <a:t>get</a:t>
            </a:r>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set</a:t>
            </a:r>
            <a:r>
              <a:rPr lang="fr-CA"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DbSet</a:t>
            </a:r>
            <a:r>
              <a:rPr lang="en-US" sz="1600" dirty="0">
                <a:solidFill>
                  <a:srgbClr val="000000"/>
                </a:solidFill>
                <a:latin typeface="Consolas" panose="020B0609020204030204" pitchFamily="49" charset="0"/>
              </a:rPr>
              <a:t>&lt;Transaction&gt; Transactions { </a:t>
            </a:r>
            <a:r>
              <a:rPr lang="en-US" sz="1600" dirty="0">
                <a:solidFill>
                  <a:srgbClr val="0000FF"/>
                </a:solidFill>
                <a:latin typeface="Consolas" panose="020B0609020204030204" pitchFamily="49" charset="0"/>
              </a:rPr>
              <a:t>get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 }</a:t>
            </a:r>
          </a:p>
          <a:p>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public</a:t>
            </a: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DbSet</a:t>
            </a:r>
            <a:r>
              <a:rPr lang="fr-CA" sz="1600" dirty="0">
                <a:solidFill>
                  <a:srgbClr val="000000"/>
                </a:solidFill>
                <a:latin typeface="Consolas" panose="020B0609020204030204" pitchFamily="49" charset="0"/>
              </a:rPr>
              <a:t>&lt;Paiement&gt; Paiements { </a:t>
            </a:r>
            <a:r>
              <a:rPr lang="fr-CA" sz="1600" dirty="0" err="1">
                <a:solidFill>
                  <a:srgbClr val="0000FF"/>
                </a:solidFill>
                <a:latin typeface="Consolas" panose="020B0609020204030204" pitchFamily="49" charset="0"/>
              </a:rPr>
              <a:t>get</a:t>
            </a:r>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set</a:t>
            </a:r>
            <a:r>
              <a:rPr lang="fr-CA" sz="1600" dirty="0">
                <a:solidFill>
                  <a:srgbClr val="000000"/>
                </a:solidFill>
                <a:latin typeface="Consolas" panose="020B0609020204030204" pitchFamily="49" charset="0"/>
              </a:rPr>
              <a:t>; }</a:t>
            </a:r>
          </a:p>
          <a:p>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public</a:t>
            </a: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DbSet</a:t>
            </a:r>
            <a:r>
              <a:rPr lang="fr-CA" sz="1600" dirty="0">
                <a:solidFill>
                  <a:srgbClr val="000000"/>
                </a:solidFill>
                <a:latin typeface="Consolas" panose="020B0609020204030204" pitchFamily="49" charset="0"/>
              </a:rPr>
              <a:t>&lt;</a:t>
            </a:r>
            <a:r>
              <a:rPr lang="fr-CA" sz="1600" dirty="0" err="1">
                <a:solidFill>
                  <a:srgbClr val="000000"/>
                </a:solidFill>
                <a:latin typeface="Consolas" panose="020B0609020204030204" pitchFamily="49" charset="0"/>
              </a:rPr>
              <a:t>PaiementCarteCrédit</a:t>
            </a:r>
            <a:r>
              <a:rPr lang="fr-CA" sz="1600" dirty="0">
                <a:solidFill>
                  <a:srgbClr val="000000"/>
                </a:solidFill>
                <a:latin typeface="Consolas" panose="020B0609020204030204" pitchFamily="49" charset="0"/>
              </a:rPr>
              <a:t>&gt; </a:t>
            </a:r>
            <a:r>
              <a:rPr lang="fr-CA" sz="1600" dirty="0" err="1">
                <a:solidFill>
                  <a:srgbClr val="000000"/>
                </a:solidFill>
                <a:latin typeface="Consolas" panose="020B0609020204030204" pitchFamily="49" charset="0"/>
              </a:rPr>
              <a:t>PaiementCarteCrédits</a:t>
            </a:r>
            <a:r>
              <a:rPr lang="fr-CA" sz="1600" dirty="0">
                <a:solidFill>
                  <a:srgbClr val="000000"/>
                </a:solidFill>
                <a:latin typeface="Consolas" panose="020B0609020204030204" pitchFamily="49" charset="0"/>
              </a:rPr>
              <a:t> { </a:t>
            </a:r>
            <a:r>
              <a:rPr lang="fr-CA" sz="1600" dirty="0" err="1">
                <a:solidFill>
                  <a:srgbClr val="0000FF"/>
                </a:solidFill>
                <a:latin typeface="Consolas" panose="020B0609020204030204" pitchFamily="49" charset="0"/>
              </a:rPr>
              <a:t>get</a:t>
            </a:r>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set</a:t>
            </a:r>
            <a:r>
              <a:rPr lang="fr-CA" sz="1600" dirty="0">
                <a:solidFill>
                  <a:srgbClr val="000000"/>
                </a:solidFill>
                <a:latin typeface="Consolas" panose="020B0609020204030204" pitchFamily="49" charset="0"/>
              </a:rPr>
              <a:t>; }</a:t>
            </a:r>
          </a:p>
          <a:p>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public</a:t>
            </a: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DbSet</a:t>
            </a:r>
            <a:r>
              <a:rPr lang="fr-CA" sz="1600" dirty="0">
                <a:solidFill>
                  <a:srgbClr val="000000"/>
                </a:solidFill>
                <a:latin typeface="Consolas" panose="020B0609020204030204" pitchFamily="49" charset="0"/>
              </a:rPr>
              <a:t>&lt;</a:t>
            </a:r>
            <a:r>
              <a:rPr lang="fr-CA" sz="1600" dirty="0" err="1">
                <a:solidFill>
                  <a:srgbClr val="000000"/>
                </a:solidFill>
                <a:latin typeface="Consolas" panose="020B0609020204030204" pitchFamily="49" charset="0"/>
              </a:rPr>
              <a:t>PaiementEspèce</a:t>
            </a:r>
            <a:r>
              <a:rPr lang="fr-CA" sz="1600" dirty="0">
                <a:solidFill>
                  <a:srgbClr val="000000"/>
                </a:solidFill>
                <a:latin typeface="Consolas" panose="020B0609020204030204" pitchFamily="49" charset="0"/>
              </a:rPr>
              <a:t>&gt; </a:t>
            </a:r>
            <a:r>
              <a:rPr lang="fr-CA" sz="1600" dirty="0" err="1">
                <a:solidFill>
                  <a:srgbClr val="000000"/>
                </a:solidFill>
                <a:latin typeface="Consolas" panose="020B0609020204030204" pitchFamily="49" charset="0"/>
              </a:rPr>
              <a:t>PaiementEspèces</a:t>
            </a:r>
            <a:r>
              <a:rPr lang="fr-CA" sz="1600" dirty="0">
                <a:solidFill>
                  <a:srgbClr val="000000"/>
                </a:solidFill>
                <a:latin typeface="Consolas" panose="020B0609020204030204" pitchFamily="49" charset="0"/>
              </a:rPr>
              <a:t> { </a:t>
            </a:r>
            <a:r>
              <a:rPr lang="fr-CA" sz="1600" dirty="0" err="1">
                <a:solidFill>
                  <a:srgbClr val="0000FF"/>
                </a:solidFill>
                <a:latin typeface="Consolas" panose="020B0609020204030204" pitchFamily="49" charset="0"/>
              </a:rPr>
              <a:t>get</a:t>
            </a:r>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set</a:t>
            </a:r>
            <a:r>
              <a:rPr lang="fr-CA" sz="1600" dirty="0">
                <a:solidFill>
                  <a:srgbClr val="000000"/>
                </a:solidFill>
                <a:latin typeface="Consolas" panose="020B0609020204030204" pitchFamily="49" charset="0"/>
              </a:rPr>
              <a:t>; }</a:t>
            </a:r>
          </a:p>
          <a:p>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public</a:t>
            </a: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DbSet</a:t>
            </a:r>
            <a:r>
              <a:rPr lang="fr-CA" sz="1600" dirty="0">
                <a:solidFill>
                  <a:srgbClr val="000000"/>
                </a:solidFill>
                <a:latin typeface="Consolas" panose="020B0609020204030204" pitchFamily="49" charset="0"/>
              </a:rPr>
              <a:t>&lt;</a:t>
            </a:r>
            <a:r>
              <a:rPr lang="fr-CA" sz="1600" dirty="0" err="1">
                <a:solidFill>
                  <a:srgbClr val="000000"/>
                </a:solidFill>
                <a:latin typeface="Consolas" panose="020B0609020204030204" pitchFamily="49" charset="0"/>
              </a:rPr>
              <a:t>PaiementEnCompte</a:t>
            </a:r>
            <a:r>
              <a:rPr lang="fr-CA" sz="1600" dirty="0">
                <a:solidFill>
                  <a:srgbClr val="000000"/>
                </a:solidFill>
                <a:latin typeface="Consolas" panose="020B0609020204030204" pitchFamily="49" charset="0"/>
              </a:rPr>
              <a:t>&gt; </a:t>
            </a:r>
            <a:r>
              <a:rPr lang="fr-CA" sz="1600" dirty="0" err="1">
                <a:solidFill>
                  <a:srgbClr val="000000"/>
                </a:solidFill>
                <a:latin typeface="Consolas" panose="020B0609020204030204" pitchFamily="49" charset="0"/>
              </a:rPr>
              <a:t>PaiementEnComptes</a:t>
            </a:r>
            <a:r>
              <a:rPr lang="fr-CA" sz="1600" dirty="0">
                <a:solidFill>
                  <a:srgbClr val="000000"/>
                </a:solidFill>
                <a:latin typeface="Consolas" panose="020B0609020204030204" pitchFamily="49" charset="0"/>
              </a:rPr>
              <a:t> { </a:t>
            </a:r>
            <a:r>
              <a:rPr lang="fr-CA" sz="1600" dirty="0" err="1">
                <a:solidFill>
                  <a:srgbClr val="0000FF"/>
                </a:solidFill>
                <a:latin typeface="Consolas" panose="020B0609020204030204" pitchFamily="49" charset="0"/>
              </a:rPr>
              <a:t>get</a:t>
            </a:r>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set</a:t>
            </a:r>
            <a:r>
              <a:rPr lang="fr-CA" sz="1600" dirty="0">
                <a:solidFill>
                  <a:srgbClr val="000000"/>
                </a:solidFill>
                <a:latin typeface="Consolas" panose="020B0609020204030204" pitchFamily="49" charset="0"/>
              </a:rPr>
              <a:t>; }</a:t>
            </a:r>
          </a:p>
          <a:p>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public</a:t>
            </a:r>
            <a:r>
              <a:rPr lang="fr-CA" sz="1600" dirty="0">
                <a:solidFill>
                  <a:srgbClr val="000000"/>
                </a:solidFill>
                <a:latin typeface="Consolas" panose="020B0609020204030204" pitchFamily="49" charset="0"/>
              </a:rPr>
              <a:t> </a:t>
            </a:r>
            <a:r>
              <a:rPr lang="fr-CA" sz="1600" dirty="0" err="1">
                <a:solidFill>
                  <a:srgbClr val="2B91AF"/>
                </a:solidFill>
                <a:latin typeface="Consolas" panose="020B0609020204030204" pitchFamily="49" charset="0"/>
              </a:rPr>
              <a:t>SystèmeGestionStationServiceContext</a:t>
            </a:r>
            <a:r>
              <a:rPr lang="fr-CA" sz="1600" dirty="0">
                <a:solidFill>
                  <a:srgbClr val="000000"/>
                </a:solidFill>
                <a:latin typeface="Consolas" panose="020B0609020204030204" pitchFamily="49" charset="0"/>
              </a:rPr>
              <a:t>(</a:t>
            </a:r>
            <a:r>
              <a:rPr lang="fr-CA" sz="1600" dirty="0" err="1">
                <a:solidFill>
                  <a:srgbClr val="000000"/>
                </a:solidFill>
                <a:latin typeface="Consolas" panose="020B0609020204030204" pitchFamily="49" charset="0"/>
              </a:rPr>
              <a:t>DbContextOptions</a:t>
            </a:r>
            <a:r>
              <a:rPr lang="fr-CA" sz="1600" dirty="0">
                <a:solidFill>
                  <a:srgbClr val="000000"/>
                </a:solidFill>
                <a:latin typeface="Consolas" panose="020B0609020204030204" pitchFamily="49" charset="0"/>
              </a:rPr>
              <a:t> options) : </a:t>
            </a:r>
          </a:p>
          <a:p>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base</a:t>
            </a:r>
            <a:r>
              <a:rPr lang="fr-CA" sz="1600" dirty="0">
                <a:solidFill>
                  <a:srgbClr val="000000"/>
                </a:solidFill>
                <a:latin typeface="Consolas" panose="020B0609020204030204" pitchFamily="49" charset="0"/>
              </a:rPr>
              <a:t>(options) { }</a:t>
            </a:r>
          </a:p>
          <a:p>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public</a:t>
            </a:r>
            <a:r>
              <a:rPr lang="fr-CA" sz="1600" dirty="0">
                <a:solidFill>
                  <a:srgbClr val="000000"/>
                </a:solidFill>
                <a:latin typeface="Consolas" panose="020B0609020204030204" pitchFamily="49" charset="0"/>
              </a:rPr>
              <a:t> </a:t>
            </a:r>
            <a:r>
              <a:rPr lang="fr-CA" sz="1600" dirty="0" err="1">
                <a:solidFill>
                  <a:srgbClr val="2B91AF"/>
                </a:solidFill>
                <a:latin typeface="Consolas" panose="020B0609020204030204" pitchFamily="49" charset="0"/>
              </a:rPr>
              <a:t>SystèmeGestionStationServiceContext</a:t>
            </a:r>
            <a:r>
              <a:rPr lang="fr-CA" sz="1600" dirty="0">
                <a:solidFill>
                  <a:srgbClr val="000000"/>
                </a:solidFill>
                <a:latin typeface="Consolas" panose="020B0609020204030204" pitchFamily="49" charset="0"/>
              </a:rPr>
              <a:t>() : </a:t>
            </a:r>
            <a:r>
              <a:rPr lang="fr-CA" sz="1600" dirty="0">
                <a:solidFill>
                  <a:srgbClr val="0000FF"/>
                </a:solidFill>
                <a:latin typeface="Consolas" panose="020B0609020204030204" pitchFamily="49" charset="0"/>
              </a:rPr>
              <a:t>base</a:t>
            </a:r>
            <a:r>
              <a:rPr lang="fr-CA" sz="1600" dirty="0">
                <a:solidFill>
                  <a:srgbClr val="000000"/>
                </a:solidFill>
                <a:latin typeface="Consolas" panose="020B0609020204030204" pitchFamily="49" charset="0"/>
              </a:rPr>
              <a:t>(</a:t>
            </a:r>
            <a:r>
              <a:rPr lang="fr-CA" sz="1600" dirty="0">
                <a:solidFill>
                  <a:srgbClr val="0000FF"/>
                </a:solidFill>
                <a:latin typeface="Consolas" panose="020B0609020204030204" pitchFamily="49" charset="0"/>
              </a:rPr>
              <a:t>new</a:t>
            </a:r>
            <a:r>
              <a:rPr lang="fr-CA" sz="1600" dirty="0">
                <a:solidFill>
                  <a:srgbClr val="000000"/>
                </a:solidFill>
                <a:latin typeface="Consolas" panose="020B0609020204030204" pitchFamily="49" charset="0"/>
              </a:rPr>
              <a:t> </a:t>
            </a:r>
          </a:p>
          <a:p>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DbContextOptionsBuilder</a:t>
            </a:r>
            <a:r>
              <a:rPr lang="fr-CA" sz="1600" dirty="0">
                <a:solidFill>
                  <a:srgbClr val="000000"/>
                </a:solidFill>
                <a:latin typeface="Consolas" panose="020B0609020204030204" pitchFamily="49" charset="0"/>
              </a:rPr>
              <a:t>&lt;</a:t>
            </a:r>
            <a:r>
              <a:rPr lang="fr-CA" sz="1600" dirty="0" err="1">
                <a:solidFill>
                  <a:srgbClr val="000000"/>
                </a:solidFill>
                <a:latin typeface="Consolas" panose="020B0609020204030204" pitchFamily="49" charset="0"/>
              </a:rPr>
              <a:t>SystèmeGestionStationServiceContext</a:t>
            </a:r>
            <a:r>
              <a:rPr lang="fr-CA" sz="1600" dirty="0">
                <a:solidFill>
                  <a:srgbClr val="000000"/>
                </a:solidFill>
                <a:latin typeface="Consolas" panose="020B0609020204030204" pitchFamily="49" charset="0"/>
              </a:rPr>
              <a:t>&gt;()</a:t>
            </a:r>
          </a:p>
          <a:p>
            <a:r>
              <a:rPr lang="fr-CA" sz="1600" dirty="0">
                <a:solidFill>
                  <a:srgbClr val="000000"/>
                </a:solidFill>
                <a:latin typeface="Consolas" panose="020B0609020204030204" pitchFamily="49" charset="0"/>
              </a:rPr>
              <a:t>               </a:t>
            </a:r>
          </a:p>
          <a:p>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UseSqlServer</a:t>
            </a:r>
            <a:r>
              <a:rPr lang="fr-CA" sz="1600" dirty="0">
                <a:solidFill>
                  <a:srgbClr val="000000"/>
                </a:solidFill>
                <a:latin typeface="Consolas" panose="020B0609020204030204" pitchFamily="49" charset="0"/>
              </a:rPr>
              <a:t>(</a:t>
            </a:r>
            <a:r>
              <a:rPr lang="fr-CA" sz="1600" dirty="0">
                <a:solidFill>
                  <a:srgbClr val="800000"/>
                </a:solidFill>
                <a:latin typeface="Consolas" panose="020B0609020204030204" pitchFamily="49" charset="0"/>
              </a:rPr>
              <a:t>@"Server=.;Database=SystèmeGestionStationServiceDB;    </a:t>
            </a:r>
          </a:p>
          <a:p>
            <a:r>
              <a:rPr lang="fr-CA" sz="1600" dirty="0">
                <a:solidFill>
                  <a:srgbClr val="800000"/>
                </a:solidFill>
                <a:latin typeface="Consolas" panose="020B0609020204030204" pitchFamily="49" charset="0"/>
              </a:rPr>
              <a:t>                 </a:t>
            </a:r>
            <a:r>
              <a:rPr lang="fr-CA" sz="1600" dirty="0" err="1">
                <a:solidFill>
                  <a:srgbClr val="800000"/>
                </a:solidFill>
                <a:latin typeface="Consolas" panose="020B0609020204030204" pitchFamily="49" charset="0"/>
              </a:rPr>
              <a:t>Trusted_Connection</a:t>
            </a:r>
            <a:r>
              <a:rPr lang="fr-CA" sz="1600" dirty="0">
                <a:solidFill>
                  <a:srgbClr val="800000"/>
                </a:solidFill>
                <a:latin typeface="Consolas" panose="020B0609020204030204" pitchFamily="49" charset="0"/>
              </a:rPr>
              <a:t>=True;"</a:t>
            </a:r>
            <a:r>
              <a:rPr lang="fr-CA" sz="1600" dirty="0">
                <a:solidFill>
                  <a:srgbClr val="000000"/>
                </a:solidFill>
                <a:latin typeface="Consolas" panose="020B0609020204030204" pitchFamily="49" charset="0"/>
              </a:rPr>
              <a:t>)</a:t>
            </a:r>
          </a:p>
          <a:p>
            <a:r>
              <a:rPr lang="fr-CA" sz="1600" dirty="0">
                <a:solidFill>
                  <a:srgbClr val="000000"/>
                </a:solidFill>
                <a:latin typeface="Consolas" panose="020B0609020204030204" pitchFamily="49" charset="0"/>
              </a:rPr>
              <a:t>          .Options)</a:t>
            </a:r>
          </a:p>
          <a:p>
            <a:r>
              <a:rPr lang="fr-CA" sz="1600" dirty="0">
                <a:solidFill>
                  <a:srgbClr val="000000"/>
                </a:solidFill>
                <a:latin typeface="Consolas" panose="020B0609020204030204" pitchFamily="49" charset="0"/>
              </a:rPr>
              <a:t>      { }</a:t>
            </a:r>
          </a:p>
          <a:p>
            <a:r>
              <a:rPr lang="fr-CA" sz="1600" dirty="0">
                <a:solidFill>
                  <a:srgbClr val="000000"/>
                </a:solidFill>
                <a:latin typeface="Consolas" panose="020B0609020204030204" pitchFamily="49" charset="0"/>
              </a:rPr>
              <a:t>}</a:t>
            </a:r>
            <a:endParaRPr lang="fr-CA" sz="1600" dirty="0"/>
          </a:p>
        </p:txBody>
      </p:sp>
    </p:spTree>
    <p:extLst>
      <p:ext uri="{BB962C8B-B14F-4D97-AF65-F5344CB8AC3E}">
        <p14:creationId xmlns:p14="http://schemas.microsoft.com/office/powerpoint/2010/main" val="988608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9E389940-55D7-4FF7-ADAF-953C35634F82}"/>
              </a:ext>
            </a:extLst>
          </p:cNvPr>
          <p:cNvSpPr>
            <a:spLocks noGrp="1"/>
          </p:cNvSpPr>
          <p:nvPr>
            <p:ph type="sldNum" sz="quarter" idx="12"/>
          </p:nvPr>
        </p:nvSpPr>
        <p:spPr/>
        <p:txBody>
          <a:bodyPr/>
          <a:lstStyle/>
          <a:p>
            <a:pPr>
              <a:defRPr/>
            </a:pPr>
            <a:fld id="{7FEE665E-3450-413D-913D-057FF7C87532}" type="slidenum">
              <a:rPr lang="en-US" altLang="en-US" smtClean="0"/>
              <a:pPr>
                <a:defRPr/>
              </a:pPr>
              <a:t>36</a:t>
            </a:fld>
            <a:endParaRPr lang="en-US" altLang="en-US"/>
          </a:p>
        </p:txBody>
      </p:sp>
      <p:sp>
        <p:nvSpPr>
          <p:cNvPr id="5" name="Espace réservé du contenu 2">
            <a:extLst>
              <a:ext uri="{FF2B5EF4-FFF2-40B4-BE49-F238E27FC236}">
                <a16:creationId xmlns:a16="http://schemas.microsoft.com/office/drawing/2014/main" id="{9BA593D5-DDA0-4365-B27B-F8D59181AEE3}"/>
              </a:ext>
            </a:extLst>
          </p:cNvPr>
          <p:cNvSpPr>
            <a:spLocks noGrp="1"/>
          </p:cNvSpPr>
          <p:nvPr>
            <p:ph idx="1"/>
          </p:nvPr>
        </p:nvSpPr>
        <p:spPr>
          <a:xfrm>
            <a:off x="457200" y="1636863"/>
            <a:ext cx="8229600" cy="4462095"/>
          </a:xfrm>
        </p:spPr>
        <p:txBody>
          <a:bodyPr>
            <a:normAutofit fontScale="92500" lnSpcReduction="10000"/>
          </a:bodyPr>
          <a:lstStyle/>
          <a:p>
            <a:r>
              <a:rPr lang="fr-CA" sz="2200" dirty="0"/>
              <a:t>Certaines des commandes des outils de EF requièrent la création d’une instance dérivée au moment de la conception afin de collecter des détails sur les types d’entité de l’application et la façon dont ils sont mappés à un schéma de BD</a:t>
            </a:r>
          </a:p>
          <a:p>
            <a:r>
              <a:rPr lang="fr-CA" sz="2200" dirty="0"/>
              <a:t>Voir </a:t>
            </a:r>
            <a:r>
              <a:rPr lang="fr-CA" sz="2200" i="1" dirty="0"/>
              <a:t>https://docs.microsoft.com/fr-fr/ef/core/cli/dbcontext-creation?tabs=dotnet-core-cli </a:t>
            </a:r>
            <a:r>
              <a:rPr lang="fr-CA" sz="2200" dirty="0"/>
              <a:t>décrivant les différentes méthodes que les outils peuvent utiliser pour créer </a:t>
            </a:r>
            <a:r>
              <a:rPr lang="fr-CA" sz="2200" dirty="0" err="1"/>
              <a:t>DbContext</a:t>
            </a:r>
            <a:endParaRPr lang="fr-CA" sz="2200" dirty="0"/>
          </a:p>
          <a:p>
            <a:r>
              <a:rPr lang="fr-CA" sz="2200" dirty="0"/>
              <a:t>Une de ces méthodes est de le faire à partir d’une fabrique au moment de la conception</a:t>
            </a:r>
          </a:p>
          <a:p>
            <a:pPr lvl="1"/>
            <a:r>
              <a:rPr lang="fr-CA" sz="1800" dirty="0"/>
              <a:t>Vous indiquez aux outils comment créer votre </a:t>
            </a:r>
            <a:r>
              <a:rPr lang="fr-CA" sz="1800" dirty="0" err="1"/>
              <a:t>DbContext</a:t>
            </a:r>
            <a:r>
              <a:rPr lang="fr-CA" sz="1800" dirty="0"/>
              <a:t> en implémentant l’interface </a:t>
            </a:r>
            <a:r>
              <a:rPr lang="fr-CA" sz="1800" i="1" dirty="0" err="1">
                <a:solidFill>
                  <a:srgbClr val="000000"/>
                </a:solidFill>
                <a:latin typeface="Consolas" panose="020B0609020204030204" pitchFamily="49" charset="0"/>
              </a:rPr>
              <a:t>IDesignTimeDbContextFactory</a:t>
            </a:r>
            <a:r>
              <a:rPr lang="fr-CA" sz="1800" i="1" dirty="0">
                <a:solidFill>
                  <a:srgbClr val="000000"/>
                </a:solidFill>
                <a:latin typeface="Consolas" panose="020B0609020204030204" pitchFamily="49" charset="0"/>
              </a:rPr>
              <a:t>&lt;</a:t>
            </a:r>
            <a:r>
              <a:rPr lang="fr-CA" sz="1800" i="1" dirty="0" err="1">
                <a:solidFill>
                  <a:srgbClr val="000000"/>
                </a:solidFill>
                <a:latin typeface="Consolas" panose="020B0609020204030204" pitchFamily="49" charset="0"/>
              </a:rPr>
              <a:t>TContext</a:t>
            </a:r>
            <a:r>
              <a:rPr lang="fr-CA" sz="1800" i="1" dirty="0">
                <a:solidFill>
                  <a:srgbClr val="000000"/>
                </a:solidFill>
                <a:latin typeface="Consolas" panose="020B0609020204030204" pitchFamily="49" charset="0"/>
              </a:rPr>
              <a:t>&gt;</a:t>
            </a:r>
          </a:p>
          <a:p>
            <a:pPr lvl="1"/>
            <a:r>
              <a:rPr lang="fr-CA" sz="1800" dirty="0"/>
              <a:t>Si une classe qui implémente cette interface est trouvée dans le même projet que le dérivé </a:t>
            </a:r>
            <a:r>
              <a:rPr lang="fr-CA" sz="1800" dirty="0" err="1"/>
              <a:t>DbContext</a:t>
            </a:r>
            <a:r>
              <a:rPr lang="fr-CA" sz="1800" dirty="0"/>
              <a:t> ou dans le projet de démarrage de l’application, les outils ignorent les autres méthodes de création de </a:t>
            </a:r>
            <a:r>
              <a:rPr lang="fr-CA" sz="1800" dirty="0" err="1"/>
              <a:t>DbContext</a:t>
            </a:r>
            <a:r>
              <a:rPr lang="fr-CA" sz="1800" dirty="0"/>
              <a:t> et utilisent à la place la fabrique au moment de la conception</a:t>
            </a:r>
          </a:p>
          <a:p>
            <a:pPr lvl="1"/>
            <a:endParaRPr lang="fr-CA" i="1" dirty="0"/>
          </a:p>
          <a:p>
            <a:pPr lvl="2"/>
            <a:endParaRPr lang="fr-CA" dirty="0"/>
          </a:p>
          <a:p>
            <a:pPr lvl="2"/>
            <a:endParaRPr lang="fr-CA" dirty="0"/>
          </a:p>
          <a:p>
            <a:endParaRPr lang="fr-CA" dirty="0">
              <a:solidFill>
                <a:srgbClr val="FF0000"/>
              </a:solidFill>
            </a:endParaRPr>
          </a:p>
        </p:txBody>
      </p:sp>
      <p:sp>
        <p:nvSpPr>
          <p:cNvPr id="7" name="Titre 1">
            <a:extLst>
              <a:ext uri="{FF2B5EF4-FFF2-40B4-BE49-F238E27FC236}">
                <a16:creationId xmlns:a16="http://schemas.microsoft.com/office/drawing/2014/main" id="{F2994029-E72B-4678-A36A-9D792F43EF56}"/>
              </a:ext>
            </a:extLst>
          </p:cNvPr>
          <p:cNvSpPr>
            <a:spLocks noGrp="1"/>
          </p:cNvSpPr>
          <p:nvPr>
            <p:ph type="title"/>
          </p:nvPr>
        </p:nvSpPr>
        <p:spPr>
          <a:xfrm>
            <a:off x="287524" y="332656"/>
            <a:ext cx="8856476" cy="1066800"/>
          </a:xfrm>
        </p:spPr>
        <p:txBody>
          <a:bodyPr>
            <a:noAutofit/>
          </a:bodyPr>
          <a:lstStyle/>
          <a:p>
            <a:r>
              <a:rPr lang="fr-CA" sz="3600" dirty="0" err="1"/>
              <a:t>SystèmeGestionStationServiceContextFactory</a:t>
            </a:r>
            <a:endParaRPr lang="fr-CA" sz="3600" dirty="0"/>
          </a:p>
        </p:txBody>
      </p:sp>
    </p:spTree>
    <p:extLst>
      <p:ext uri="{BB962C8B-B14F-4D97-AF65-F5344CB8AC3E}">
        <p14:creationId xmlns:p14="http://schemas.microsoft.com/office/powerpoint/2010/main" val="3185829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87524" y="332656"/>
            <a:ext cx="8856476" cy="1066800"/>
          </a:xfrm>
        </p:spPr>
        <p:txBody>
          <a:bodyPr>
            <a:noAutofit/>
          </a:bodyPr>
          <a:lstStyle/>
          <a:p>
            <a:r>
              <a:rPr lang="fr-CA" sz="3600" dirty="0" err="1"/>
              <a:t>SystèmeGestionStationServiceContextFactory</a:t>
            </a:r>
            <a:endParaRPr lang="fr-CA" sz="3600" dirty="0"/>
          </a:p>
        </p:txBody>
      </p:sp>
      <p:sp>
        <p:nvSpPr>
          <p:cNvPr id="4" name="Espace réservé du numéro de diapositive 3">
            <a:extLst>
              <a:ext uri="{FF2B5EF4-FFF2-40B4-BE49-F238E27FC236}">
                <a16:creationId xmlns:a16="http://schemas.microsoft.com/office/drawing/2014/main" id="{9E389940-55D7-4FF7-ADAF-953C35634F82}"/>
              </a:ext>
            </a:extLst>
          </p:cNvPr>
          <p:cNvSpPr>
            <a:spLocks noGrp="1"/>
          </p:cNvSpPr>
          <p:nvPr>
            <p:ph type="sldNum" sz="quarter" idx="12"/>
          </p:nvPr>
        </p:nvSpPr>
        <p:spPr/>
        <p:txBody>
          <a:bodyPr/>
          <a:lstStyle/>
          <a:p>
            <a:pPr>
              <a:defRPr/>
            </a:pPr>
            <a:fld id="{7FEE665E-3450-413D-913D-057FF7C87532}" type="slidenum">
              <a:rPr lang="en-US" altLang="en-US" smtClean="0"/>
              <a:pPr>
                <a:defRPr/>
              </a:pPr>
              <a:t>37</a:t>
            </a:fld>
            <a:endParaRPr lang="en-US" altLang="en-US"/>
          </a:p>
        </p:txBody>
      </p:sp>
      <p:sp>
        <p:nvSpPr>
          <p:cNvPr id="5" name="Rectangle 4">
            <a:extLst>
              <a:ext uri="{FF2B5EF4-FFF2-40B4-BE49-F238E27FC236}">
                <a16:creationId xmlns:a16="http://schemas.microsoft.com/office/drawing/2014/main" id="{3EC6996B-770C-4FB2-933D-8E689BED8BAC}"/>
              </a:ext>
            </a:extLst>
          </p:cNvPr>
          <p:cNvSpPr/>
          <p:nvPr/>
        </p:nvSpPr>
        <p:spPr>
          <a:xfrm>
            <a:off x="367737" y="1772816"/>
            <a:ext cx="8775577" cy="3046988"/>
          </a:xfrm>
          <a:prstGeom prst="rect">
            <a:avLst/>
          </a:prstGeom>
        </p:spPr>
        <p:txBody>
          <a:bodyPr wrap="square">
            <a:spAutoFit/>
          </a:bodyPr>
          <a:lstStyle/>
          <a:p>
            <a:r>
              <a:rPr lang="fr-CA" sz="1600" dirty="0">
                <a:solidFill>
                  <a:srgbClr val="0000FF"/>
                </a:solidFill>
                <a:latin typeface="Consolas" panose="020B0609020204030204" pitchFamily="49" charset="0"/>
              </a:rPr>
              <a:t>public</a:t>
            </a:r>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class</a:t>
            </a:r>
            <a:r>
              <a:rPr lang="fr-CA" sz="1600" dirty="0">
                <a:solidFill>
                  <a:srgbClr val="000000"/>
                </a:solidFill>
                <a:latin typeface="Consolas" panose="020B0609020204030204" pitchFamily="49" charset="0"/>
              </a:rPr>
              <a:t> </a:t>
            </a:r>
            <a:r>
              <a:rPr lang="fr-CA" sz="1600" dirty="0" err="1">
                <a:solidFill>
                  <a:srgbClr val="2B91AF"/>
                </a:solidFill>
                <a:latin typeface="Consolas" panose="020B0609020204030204" pitchFamily="49" charset="0"/>
              </a:rPr>
              <a:t>SystèmeGestionStationServiceContextFactory</a:t>
            </a:r>
            <a:r>
              <a:rPr lang="fr-CA" sz="1600" dirty="0">
                <a:solidFill>
                  <a:srgbClr val="000000"/>
                </a:solidFill>
                <a:latin typeface="Consolas" panose="020B0609020204030204" pitchFamily="49" charset="0"/>
              </a:rPr>
              <a:t> : </a:t>
            </a:r>
          </a:p>
          <a:p>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IDesignTimeDbContextFactory</a:t>
            </a:r>
            <a:r>
              <a:rPr lang="fr-CA" sz="1600" dirty="0">
                <a:solidFill>
                  <a:srgbClr val="000000"/>
                </a:solidFill>
                <a:latin typeface="Consolas" panose="020B0609020204030204" pitchFamily="49" charset="0"/>
              </a:rPr>
              <a:t>&lt;</a:t>
            </a:r>
            <a:r>
              <a:rPr lang="fr-CA" sz="1600" dirty="0" err="1">
                <a:solidFill>
                  <a:srgbClr val="000000"/>
                </a:solidFill>
                <a:latin typeface="Consolas" panose="020B0609020204030204" pitchFamily="49" charset="0"/>
              </a:rPr>
              <a:t>SystèmeGestionStationServiceContext</a:t>
            </a:r>
            <a:r>
              <a:rPr lang="fr-CA" sz="1600" dirty="0">
                <a:solidFill>
                  <a:srgbClr val="000000"/>
                </a:solidFill>
                <a:latin typeface="Consolas" panose="020B0609020204030204" pitchFamily="49" charset="0"/>
              </a:rPr>
              <a:t>&gt;</a:t>
            </a:r>
          </a:p>
          <a:p>
            <a:r>
              <a:rPr lang="fr-CA" sz="1600" dirty="0">
                <a:solidFill>
                  <a:srgbClr val="000000"/>
                </a:solidFill>
                <a:latin typeface="Consolas" panose="020B0609020204030204" pitchFamily="49" charset="0"/>
              </a:rPr>
              <a:t> {</a:t>
            </a:r>
          </a:p>
          <a:p>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public</a:t>
            </a: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SystèmeGestionStationServiceContext</a:t>
            </a: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CreateDbContext</a:t>
            </a:r>
            <a:r>
              <a:rPr lang="fr-CA" sz="1600" dirty="0">
                <a:solidFill>
                  <a:srgbClr val="000000"/>
                </a:solidFill>
                <a:latin typeface="Consolas" panose="020B0609020204030204" pitchFamily="49" charset="0"/>
              </a:rPr>
              <a:t>(</a:t>
            </a:r>
            <a:r>
              <a:rPr lang="fr-CA" sz="1600" dirty="0">
                <a:solidFill>
                  <a:srgbClr val="0000FF"/>
                </a:solidFill>
                <a:latin typeface="Consolas" panose="020B0609020204030204" pitchFamily="49" charset="0"/>
              </a:rPr>
              <a:t>string</a:t>
            </a:r>
            <a:r>
              <a:rPr lang="fr-CA" sz="1600" dirty="0">
                <a:solidFill>
                  <a:srgbClr val="000000"/>
                </a:solidFill>
                <a:latin typeface="Consolas" panose="020B0609020204030204" pitchFamily="49" charset="0"/>
              </a:rPr>
              <a:t>[] args)</a:t>
            </a:r>
          </a:p>
          <a:p>
            <a:r>
              <a:rPr lang="fr-CA" sz="1600" dirty="0">
                <a:solidFill>
                  <a:srgbClr val="000000"/>
                </a:solidFill>
                <a:latin typeface="Consolas" panose="020B0609020204030204" pitchFamily="49" charset="0"/>
              </a:rPr>
              <a:t>    {</a:t>
            </a:r>
          </a:p>
          <a:p>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var</a:t>
            </a: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optionsBuilder</a:t>
            </a:r>
            <a:r>
              <a:rPr lang="fr-CA" sz="1600" dirty="0">
                <a:solidFill>
                  <a:srgbClr val="000000"/>
                </a:solidFill>
                <a:latin typeface="Consolas" panose="020B0609020204030204" pitchFamily="49" charset="0"/>
              </a:rPr>
              <a:t> = </a:t>
            </a:r>
            <a:r>
              <a:rPr lang="fr-CA" sz="1600" dirty="0">
                <a:solidFill>
                  <a:srgbClr val="0000FF"/>
                </a:solidFill>
                <a:latin typeface="Consolas" panose="020B0609020204030204" pitchFamily="49" charset="0"/>
              </a:rPr>
              <a:t>new</a:t>
            </a:r>
            <a:r>
              <a:rPr lang="fr-CA" sz="1600" dirty="0">
                <a:solidFill>
                  <a:srgbClr val="000000"/>
                </a:solidFill>
                <a:latin typeface="Consolas" panose="020B0609020204030204" pitchFamily="49" charset="0"/>
              </a:rPr>
              <a:t> </a:t>
            </a:r>
          </a:p>
          <a:p>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DbContextOptionsBuilder</a:t>
            </a:r>
            <a:r>
              <a:rPr lang="fr-CA" sz="1600" dirty="0">
                <a:solidFill>
                  <a:srgbClr val="000000"/>
                </a:solidFill>
                <a:latin typeface="Consolas" panose="020B0609020204030204" pitchFamily="49" charset="0"/>
              </a:rPr>
              <a:t>&lt;</a:t>
            </a:r>
            <a:r>
              <a:rPr lang="fr-CA" sz="1600" dirty="0" err="1">
                <a:solidFill>
                  <a:srgbClr val="000000"/>
                </a:solidFill>
                <a:latin typeface="Consolas" panose="020B0609020204030204" pitchFamily="49" charset="0"/>
              </a:rPr>
              <a:t>SystèmeGestionStationServiceContext</a:t>
            </a:r>
            <a:r>
              <a:rPr lang="fr-CA" sz="1600" dirty="0">
                <a:solidFill>
                  <a:srgbClr val="000000"/>
                </a:solidFill>
                <a:latin typeface="Consolas" panose="020B0609020204030204" pitchFamily="49" charset="0"/>
              </a:rPr>
              <a:t>&gt;();</a:t>
            </a:r>
          </a:p>
          <a:p>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optionsBuilder.UseSqlServer</a:t>
            </a:r>
            <a:r>
              <a:rPr lang="fr-CA" sz="1600" dirty="0">
                <a:solidFill>
                  <a:srgbClr val="000000"/>
                </a:solidFill>
                <a:latin typeface="Consolas" panose="020B0609020204030204" pitchFamily="49" charset="0"/>
              </a:rPr>
              <a:t>(</a:t>
            </a:r>
            <a:r>
              <a:rPr lang="fr-CA" sz="1600" dirty="0">
                <a:solidFill>
                  <a:srgbClr val="800000"/>
                </a:solidFill>
                <a:latin typeface="Consolas" panose="020B0609020204030204" pitchFamily="49" charset="0"/>
              </a:rPr>
              <a:t>@"Server=.; </a:t>
            </a:r>
          </a:p>
          <a:p>
            <a:r>
              <a:rPr lang="fr-CA" sz="1600" dirty="0">
                <a:solidFill>
                  <a:srgbClr val="800000"/>
                </a:solidFill>
                <a:latin typeface="Consolas" panose="020B0609020204030204" pitchFamily="49" charset="0"/>
              </a:rPr>
              <a:t>        </a:t>
            </a:r>
            <a:r>
              <a:rPr lang="fr-CA" sz="1600" dirty="0" err="1">
                <a:solidFill>
                  <a:srgbClr val="800000"/>
                </a:solidFill>
                <a:latin typeface="Consolas" panose="020B0609020204030204" pitchFamily="49" charset="0"/>
              </a:rPr>
              <a:t>Database</a:t>
            </a:r>
            <a:r>
              <a:rPr lang="fr-CA" sz="1600" dirty="0">
                <a:solidFill>
                  <a:srgbClr val="800000"/>
                </a:solidFill>
                <a:latin typeface="Consolas" panose="020B0609020204030204" pitchFamily="49" charset="0"/>
              </a:rPr>
              <a:t>=SystèmeGestionStationServiceDB;Trusted_Connection=True;"</a:t>
            </a:r>
            <a:r>
              <a:rPr lang="fr-CA"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new</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SystèmeGestionStationServiceContext</a:t>
            </a:r>
            <a:r>
              <a:rPr lang="en-US" sz="1600" dirty="0">
                <a:solidFill>
                  <a:srgbClr val="000000"/>
                </a:solidFill>
                <a:latin typeface="Consolas" panose="020B0609020204030204" pitchFamily="49" charset="0"/>
              </a:rPr>
              <a:t>(</a:t>
            </a:r>
            <a:r>
              <a:rPr lang="en-US" sz="1600" dirty="0" err="1">
                <a:solidFill>
                  <a:srgbClr val="000000"/>
                </a:solidFill>
                <a:latin typeface="Consolas" panose="020B0609020204030204" pitchFamily="49" charset="0"/>
              </a:rPr>
              <a:t>optionsBuilder.Options</a:t>
            </a:r>
            <a:r>
              <a:rPr lang="en-US" sz="1600" dirty="0">
                <a:solidFill>
                  <a:srgbClr val="000000"/>
                </a:solidFill>
                <a:latin typeface="Consolas" panose="020B0609020204030204" pitchFamily="49" charset="0"/>
              </a:rPr>
              <a:t>);</a:t>
            </a:r>
          </a:p>
          <a:p>
            <a:r>
              <a:rPr lang="fr-CA" sz="1600" dirty="0">
                <a:solidFill>
                  <a:srgbClr val="000000"/>
                </a:solidFill>
                <a:latin typeface="Consolas" panose="020B0609020204030204" pitchFamily="49" charset="0"/>
              </a:rPr>
              <a:t>    }</a:t>
            </a:r>
          </a:p>
          <a:p>
            <a:r>
              <a:rPr lang="fr-CA" sz="1600" dirty="0">
                <a:solidFill>
                  <a:srgbClr val="000000"/>
                </a:solidFill>
                <a:latin typeface="Consolas" panose="020B0609020204030204" pitchFamily="49" charset="0"/>
              </a:rPr>
              <a:t> }</a:t>
            </a:r>
            <a:endParaRPr lang="fr-CA" sz="1600" dirty="0"/>
          </a:p>
        </p:txBody>
      </p:sp>
    </p:spTree>
    <p:extLst>
      <p:ext uri="{BB962C8B-B14F-4D97-AF65-F5344CB8AC3E}">
        <p14:creationId xmlns:p14="http://schemas.microsoft.com/office/powerpoint/2010/main" val="2346537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Projet infrastructure</a:t>
            </a:r>
          </a:p>
        </p:txBody>
      </p:sp>
      <p:sp>
        <p:nvSpPr>
          <p:cNvPr id="3" name="Espace réservé du contenu 2"/>
          <p:cNvSpPr>
            <a:spLocks noGrp="1"/>
          </p:cNvSpPr>
          <p:nvPr>
            <p:ph idx="1"/>
          </p:nvPr>
        </p:nvSpPr>
        <p:spPr>
          <a:xfrm>
            <a:off x="431540" y="1592796"/>
            <a:ext cx="8229600" cy="1404156"/>
          </a:xfrm>
        </p:spPr>
        <p:txBody>
          <a:bodyPr>
            <a:normAutofit/>
          </a:bodyPr>
          <a:lstStyle/>
          <a:p>
            <a:r>
              <a:rPr lang="fr-CA" sz="2400" dirty="0"/>
              <a:t>Insérer la classe «  </a:t>
            </a:r>
            <a:r>
              <a:rPr lang="fr-CA" sz="2400" dirty="0" err="1"/>
              <a:t>SpecificationEvaluator</a:t>
            </a:r>
            <a:r>
              <a:rPr lang="fr-CA" sz="2400" dirty="0"/>
              <a:t> »</a:t>
            </a:r>
          </a:p>
          <a:p>
            <a:pPr lvl="1"/>
            <a:r>
              <a:rPr lang="fr-CA" sz="2000" dirty="0"/>
              <a:t>La classe est fournie dans le dossier « Code de départ »</a:t>
            </a:r>
          </a:p>
          <a:p>
            <a:pPr marL="0" indent="0">
              <a:buNone/>
            </a:pPr>
            <a:endParaRPr lang="fr-CA" dirty="0"/>
          </a:p>
        </p:txBody>
      </p:sp>
      <p:sp>
        <p:nvSpPr>
          <p:cNvPr id="4" name="Espace réservé du numéro de diapositive 3">
            <a:extLst>
              <a:ext uri="{FF2B5EF4-FFF2-40B4-BE49-F238E27FC236}">
                <a16:creationId xmlns:a16="http://schemas.microsoft.com/office/drawing/2014/main" id="{F03BD794-9828-44CC-A02C-3B32D5AD829E}"/>
              </a:ext>
            </a:extLst>
          </p:cNvPr>
          <p:cNvSpPr>
            <a:spLocks noGrp="1"/>
          </p:cNvSpPr>
          <p:nvPr>
            <p:ph type="sldNum" sz="quarter" idx="12"/>
          </p:nvPr>
        </p:nvSpPr>
        <p:spPr/>
        <p:txBody>
          <a:bodyPr/>
          <a:lstStyle/>
          <a:p>
            <a:pPr>
              <a:defRPr/>
            </a:pPr>
            <a:fld id="{7FEE665E-3450-413D-913D-057FF7C87532}" type="slidenum">
              <a:rPr lang="en-US" altLang="en-US" smtClean="0"/>
              <a:pPr>
                <a:defRPr/>
              </a:pPr>
              <a:t>38</a:t>
            </a:fld>
            <a:endParaRPr lang="en-US" altLang="en-US"/>
          </a:p>
        </p:txBody>
      </p:sp>
    </p:spTree>
    <p:extLst>
      <p:ext uri="{BB962C8B-B14F-4D97-AF65-F5344CB8AC3E}">
        <p14:creationId xmlns:p14="http://schemas.microsoft.com/office/powerpoint/2010/main" val="3357890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a:t>Test avec l’utilisation du contexte</a:t>
            </a:r>
          </a:p>
        </p:txBody>
      </p:sp>
      <p:sp>
        <p:nvSpPr>
          <p:cNvPr id="3" name="Espace réservé du contenu 2"/>
          <p:cNvSpPr>
            <a:spLocks noGrp="1"/>
          </p:cNvSpPr>
          <p:nvPr>
            <p:ph idx="1"/>
          </p:nvPr>
        </p:nvSpPr>
        <p:spPr>
          <a:xfrm>
            <a:off x="228600" y="1403874"/>
            <a:ext cx="8686800" cy="2637194"/>
          </a:xfrm>
        </p:spPr>
        <p:txBody>
          <a:bodyPr>
            <a:normAutofit fontScale="92500"/>
          </a:bodyPr>
          <a:lstStyle/>
          <a:p>
            <a:r>
              <a:rPr lang="fr-CA" sz="2400" dirty="0"/>
              <a:t>Dans l’application console de test (projet </a:t>
            </a:r>
            <a:r>
              <a:rPr lang="fr-CA" sz="2400" dirty="0" err="1"/>
              <a:t>ConsoleTestApp</a:t>
            </a:r>
            <a:r>
              <a:rPr lang="fr-CA" sz="2400" dirty="0"/>
              <a:t>)</a:t>
            </a:r>
          </a:p>
          <a:p>
            <a:pPr lvl="1"/>
            <a:r>
              <a:rPr lang="fr-CA" sz="2000" dirty="0"/>
              <a:t>Ajouter les dépendances aux projets </a:t>
            </a:r>
            <a:r>
              <a:rPr lang="fr-CA" sz="2000" dirty="0" err="1"/>
              <a:t>Core</a:t>
            </a:r>
            <a:r>
              <a:rPr lang="fr-CA" sz="2000" dirty="0"/>
              <a:t>, Infrastructure et </a:t>
            </a:r>
            <a:r>
              <a:rPr lang="fr-CA" sz="2000" dirty="0" err="1"/>
              <a:t>SharedKernel</a:t>
            </a:r>
            <a:endParaRPr lang="fr-CA" sz="2000" dirty="0"/>
          </a:p>
          <a:p>
            <a:pPr lvl="1"/>
            <a:r>
              <a:rPr lang="fr-CA" sz="2000" dirty="0"/>
              <a:t>Installer les packages </a:t>
            </a:r>
            <a:r>
              <a:rPr lang="fr-CA" sz="2000" dirty="0" err="1"/>
              <a:t>NuGet</a:t>
            </a:r>
            <a:r>
              <a:rPr lang="fr-CA" sz="2000" dirty="0"/>
              <a:t> « </a:t>
            </a:r>
            <a:r>
              <a:rPr lang="fr-CA" sz="2000" dirty="0" err="1"/>
              <a:t>EntityFrameworkCore</a:t>
            </a:r>
            <a:r>
              <a:rPr lang="fr-CA" sz="2000" dirty="0"/>
              <a:t> » et « </a:t>
            </a:r>
            <a:r>
              <a:rPr lang="fr-CA" sz="2000" dirty="0" err="1"/>
              <a:t>Microsoft.Data.Sql</a:t>
            </a:r>
            <a:r>
              <a:rPr lang="fr-CA" sz="2000" dirty="0"/>
              <a:t> »</a:t>
            </a:r>
          </a:p>
          <a:p>
            <a:r>
              <a:rPr lang="fr-CA" sz="2400" dirty="0"/>
              <a:t>Ajouter la méthode Test1 dans la classe Program</a:t>
            </a:r>
          </a:p>
          <a:p>
            <a:pPr lvl="1"/>
            <a:r>
              <a:rPr lang="fr-CA" sz="2000" dirty="0"/>
              <a:t>Ajout de trois pompes, trois réservoirs, un client avec son compte dans la BD</a:t>
            </a:r>
          </a:p>
          <a:p>
            <a:pPr lvl="1"/>
            <a:r>
              <a:rPr lang="fr-CA" sz="2000" dirty="0"/>
              <a:t>Voir code dans acétate suivante</a:t>
            </a:r>
          </a:p>
        </p:txBody>
      </p:sp>
      <p:sp>
        <p:nvSpPr>
          <p:cNvPr id="4" name="Espace réservé du numéro de diapositive 3">
            <a:extLst>
              <a:ext uri="{FF2B5EF4-FFF2-40B4-BE49-F238E27FC236}">
                <a16:creationId xmlns:a16="http://schemas.microsoft.com/office/drawing/2014/main" id="{EB7D1CC9-4FF0-4880-A3EF-2EE0021AB76C}"/>
              </a:ext>
            </a:extLst>
          </p:cNvPr>
          <p:cNvSpPr>
            <a:spLocks noGrp="1"/>
          </p:cNvSpPr>
          <p:nvPr>
            <p:ph type="sldNum" sz="quarter" idx="12"/>
          </p:nvPr>
        </p:nvSpPr>
        <p:spPr/>
        <p:txBody>
          <a:bodyPr/>
          <a:lstStyle/>
          <a:p>
            <a:pPr>
              <a:defRPr/>
            </a:pPr>
            <a:fld id="{7FEE665E-3450-413D-913D-057FF7C87532}" type="slidenum">
              <a:rPr lang="en-US" altLang="en-US" smtClean="0"/>
              <a:pPr>
                <a:defRPr/>
              </a:pPr>
              <a:t>39</a:t>
            </a:fld>
            <a:endParaRPr lang="en-US" altLang="en-US"/>
          </a:p>
        </p:txBody>
      </p:sp>
    </p:spTree>
    <p:extLst>
      <p:ext uri="{BB962C8B-B14F-4D97-AF65-F5344CB8AC3E}">
        <p14:creationId xmlns:p14="http://schemas.microsoft.com/office/powerpoint/2010/main" val="2609924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Code de Test1</a:t>
            </a:r>
          </a:p>
        </p:txBody>
      </p:sp>
      <p:sp>
        <p:nvSpPr>
          <p:cNvPr id="3" name="Espace réservé du contenu 2"/>
          <p:cNvSpPr>
            <a:spLocks noGrp="1"/>
          </p:cNvSpPr>
          <p:nvPr>
            <p:ph idx="1"/>
          </p:nvPr>
        </p:nvSpPr>
        <p:spPr>
          <a:xfrm>
            <a:off x="287524" y="1268760"/>
            <a:ext cx="8686800" cy="5265486"/>
          </a:xfrm>
        </p:spPr>
        <p:txBody>
          <a:bodyPr>
            <a:noAutofit/>
          </a:bodyPr>
          <a:lstStyle/>
          <a:p>
            <a:pPr marL="0" indent="0">
              <a:buNone/>
            </a:pPr>
            <a:r>
              <a:rPr lang="fr-CA" sz="1400" dirty="0">
                <a:solidFill>
                  <a:srgbClr val="000000"/>
                </a:solidFill>
                <a:latin typeface="Consolas" panose="020B0609020204030204" pitchFamily="49" charset="0"/>
              </a:rPr>
              <a:t> </a:t>
            </a:r>
            <a:r>
              <a:rPr lang="fr-CA" sz="1400" dirty="0" err="1">
                <a:solidFill>
                  <a:srgbClr val="0000FF"/>
                </a:solidFill>
                <a:latin typeface="Consolas" panose="020B0609020204030204" pitchFamily="49" charset="0"/>
              </a:rPr>
              <a:t>static</a:t>
            </a:r>
            <a:r>
              <a:rPr lang="fr-CA" sz="1400" dirty="0">
                <a:solidFill>
                  <a:srgbClr val="000000"/>
                </a:solidFill>
                <a:latin typeface="Consolas" panose="020B0609020204030204" pitchFamily="49" charset="0"/>
              </a:rPr>
              <a:t> </a:t>
            </a:r>
            <a:r>
              <a:rPr lang="fr-CA" sz="1400" dirty="0" err="1">
                <a:solidFill>
                  <a:srgbClr val="0000FF"/>
                </a:solidFill>
                <a:latin typeface="Consolas" panose="020B0609020204030204" pitchFamily="49" charset="0"/>
              </a:rPr>
              <a:t>void</a:t>
            </a:r>
            <a:r>
              <a:rPr lang="fr-CA" sz="1400" dirty="0">
                <a:solidFill>
                  <a:srgbClr val="000000"/>
                </a:solidFill>
                <a:latin typeface="Consolas" panose="020B0609020204030204" pitchFamily="49" charset="0"/>
              </a:rPr>
              <a:t> Test1() {</a:t>
            </a:r>
          </a:p>
          <a:p>
            <a:pPr marL="0" indent="0">
              <a:buNone/>
            </a:pPr>
            <a:r>
              <a:rPr lang="fr-CA" sz="1400" dirty="0">
                <a:solidFill>
                  <a:srgbClr val="000000"/>
                </a:solidFill>
                <a:latin typeface="Consolas" panose="020B0609020204030204" pitchFamily="49" charset="0"/>
              </a:rPr>
              <a:t>   </a:t>
            </a:r>
            <a:r>
              <a:rPr lang="fr-CA" sz="1400" dirty="0">
                <a:solidFill>
                  <a:srgbClr val="008000"/>
                </a:solidFill>
                <a:latin typeface="Consolas" panose="020B0609020204030204" pitchFamily="49" charset="0"/>
              </a:rPr>
              <a:t>// </a:t>
            </a:r>
            <a:r>
              <a:rPr lang="fr-CA" sz="1400" dirty="0" err="1">
                <a:solidFill>
                  <a:srgbClr val="008000"/>
                </a:solidFill>
                <a:latin typeface="Consolas" panose="020B0609020204030204" pitchFamily="49" charset="0"/>
              </a:rPr>
              <a:t>dirty</a:t>
            </a:r>
            <a:r>
              <a:rPr lang="fr-CA" sz="1400" dirty="0">
                <a:solidFill>
                  <a:srgbClr val="008000"/>
                </a:solidFill>
                <a:latin typeface="Consolas" panose="020B0609020204030204" pitchFamily="49" charset="0"/>
              </a:rPr>
              <a:t> code</a:t>
            </a:r>
            <a:endParaRPr lang="fr-CA" sz="1400" dirty="0">
              <a:solidFill>
                <a:srgbClr val="000000"/>
              </a:solidFill>
              <a:latin typeface="Consolas" panose="020B0609020204030204" pitchFamily="49" charset="0"/>
            </a:endParaRPr>
          </a:p>
          <a:p>
            <a:pPr marL="0" indent="0">
              <a:buNone/>
            </a:pPr>
            <a:r>
              <a:rPr lang="fr-CA" sz="1400" dirty="0">
                <a:solidFill>
                  <a:srgbClr val="000000"/>
                </a:solidFill>
                <a:latin typeface="Consolas" panose="020B0609020204030204" pitchFamily="49" charset="0"/>
              </a:rPr>
              <a:t>   </a:t>
            </a:r>
            <a:r>
              <a:rPr lang="fr-CA" sz="1400" dirty="0">
                <a:solidFill>
                  <a:srgbClr val="0000FF"/>
                </a:solidFill>
                <a:latin typeface="Consolas" panose="020B0609020204030204" pitchFamily="49" charset="0"/>
              </a:rPr>
              <a:t>var</a:t>
            </a:r>
            <a:r>
              <a:rPr lang="fr-CA" sz="1400" dirty="0">
                <a:solidFill>
                  <a:srgbClr val="000000"/>
                </a:solidFill>
                <a:latin typeface="Consolas" panose="020B0609020204030204" pitchFamily="49" charset="0"/>
              </a:rPr>
              <a:t> </a:t>
            </a:r>
            <a:r>
              <a:rPr lang="fr-CA" sz="1400" dirty="0" err="1">
                <a:solidFill>
                  <a:srgbClr val="000000"/>
                </a:solidFill>
                <a:latin typeface="Consolas" panose="020B0609020204030204" pitchFamily="49" charset="0"/>
              </a:rPr>
              <a:t>context</a:t>
            </a:r>
            <a:r>
              <a:rPr lang="fr-CA" sz="1400" dirty="0">
                <a:solidFill>
                  <a:srgbClr val="000000"/>
                </a:solidFill>
                <a:latin typeface="Consolas" panose="020B0609020204030204" pitchFamily="49" charset="0"/>
              </a:rPr>
              <a:t> = </a:t>
            </a:r>
            <a:r>
              <a:rPr lang="fr-CA" sz="1400" dirty="0">
                <a:solidFill>
                  <a:srgbClr val="0000FF"/>
                </a:solidFill>
                <a:latin typeface="Consolas" panose="020B0609020204030204" pitchFamily="49" charset="0"/>
              </a:rPr>
              <a:t>new</a:t>
            </a:r>
            <a:r>
              <a:rPr lang="fr-CA" sz="1400" dirty="0">
                <a:solidFill>
                  <a:srgbClr val="000000"/>
                </a:solidFill>
                <a:latin typeface="Consolas" panose="020B0609020204030204" pitchFamily="49" charset="0"/>
              </a:rPr>
              <a:t> </a:t>
            </a:r>
            <a:r>
              <a:rPr lang="fr-CA" sz="1400" dirty="0" err="1">
                <a:solidFill>
                  <a:srgbClr val="000000"/>
                </a:solidFill>
                <a:latin typeface="Consolas" panose="020B0609020204030204" pitchFamily="49" charset="0"/>
              </a:rPr>
              <a:t>SystèmeGestionStationServiceContext</a:t>
            </a:r>
            <a:r>
              <a:rPr lang="fr-CA" sz="1400" dirty="0">
                <a:solidFill>
                  <a:srgbClr val="000000"/>
                </a:solidFill>
                <a:latin typeface="Consolas" panose="020B0609020204030204" pitchFamily="49" charset="0"/>
              </a:rPr>
              <a:t>();</a:t>
            </a:r>
          </a:p>
          <a:p>
            <a:pPr marL="0" indent="0">
              <a:buNone/>
            </a:pPr>
            <a:r>
              <a:rPr lang="fr-CA" sz="1400" dirty="0">
                <a:solidFill>
                  <a:srgbClr val="000000"/>
                </a:solidFill>
                <a:latin typeface="Consolas" panose="020B0609020204030204" pitchFamily="49" charset="0"/>
              </a:rPr>
              <a:t>   </a:t>
            </a:r>
            <a:r>
              <a:rPr lang="fr-CA" sz="1400" dirty="0">
                <a:solidFill>
                  <a:srgbClr val="008000"/>
                </a:solidFill>
                <a:latin typeface="Consolas" panose="020B0609020204030204" pitchFamily="49" charset="0"/>
              </a:rPr>
              <a:t>// ajouter les trois pompes</a:t>
            </a:r>
            <a:endParaRPr lang="fr-CA" sz="1400" dirty="0">
              <a:solidFill>
                <a:srgbClr val="000000"/>
              </a:solidFill>
              <a:latin typeface="Consolas" panose="020B0609020204030204" pitchFamily="49" charset="0"/>
            </a:endParaRPr>
          </a:p>
          <a:p>
            <a:pPr marL="0" indent="0">
              <a:buNone/>
            </a:pPr>
            <a:r>
              <a:rPr lang="fr-CA" sz="1400" dirty="0">
                <a:solidFill>
                  <a:srgbClr val="000000"/>
                </a:solidFill>
                <a:latin typeface="Consolas" panose="020B0609020204030204" pitchFamily="49" charset="0"/>
              </a:rPr>
              <a:t>   Pompe </a:t>
            </a:r>
            <a:r>
              <a:rPr lang="fr-CA" sz="1400" dirty="0" err="1">
                <a:solidFill>
                  <a:srgbClr val="000000"/>
                </a:solidFill>
                <a:latin typeface="Consolas" panose="020B0609020204030204" pitchFamily="49" charset="0"/>
              </a:rPr>
              <a:t>pompeOrdinaire</a:t>
            </a:r>
            <a:r>
              <a:rPr lang="fr-CA" sz="1400" dirty="0">
                <a:solidFill>
                  <a:srgbClr val="000000"/>
                </a:solidFill>
                <a:latin typeface="Consolas" panose="020B0609020204030204" pitchFamily="49" charset="0"/>
              </a:rPr>
              <a:t> = </a:t>
            </a:r>
            <a:r>
              <a:rPr lang="fr-CA" sz="1400" dirty="0">
                <a:solidFill>
                  <a:srgbClr val="0000FF"/>
                </a:solidFill>
                <a:latin typeface="Consolas" panose="020B0609020204030204" pitchFamily="49" charset="0"/>
              </a:rPr>
              <a:t>new</a:t>
            </a:r>
            <a:r>
              <a:rPr lang="fr-CA" sz="1400" dirty="0">
                <a:solidFill>
                  <a:srgbClr val="000000"/>
                </a:solidFill>
                <a:latin typeface="Consolas" panose="020B0609020204030204" pitchFamily="49" charset="0"/>
              </a:rPr>
              <a:t> Pompe(</a:t>
            </a:r>
            <a:r>
              <a:rPr lang="fr-CA" sz="1400" dirty="0" err="1">
                <a:solidFill>
                  <a:srgbClr val="000000"/>
                </a:solidFill>
                <a:latin typeface="Consolas" panose="020B0609020204030204" pitchFamily="49" charset="0"/>
              </a:rPr>
              <a:t>CatégorieEssence.Ordinaire</a:t>
            </a:r>
            <a:r>
              <a:rPr lang="fr-CA" sz="1400" dirty="0">
                <a:solidFill>
                  <a:srgbClr val="000000"/>
                </a:solidFill>
                <a:latin typeface="Consolas" panose="020B0609020204030204" pitchFamily="49" charset="0"/>
              </a:rPr>
              <a:t>, 1.10M);</a:t>
            </a:r>
          </a:p>
          <a:p>
            <a:pPr marL="0" indent="0">
              <a:buNone/>
            </a:pPr>
            <a:r>
              <a:rPr lang="fr-CA" sz="1400" dirty="0">
                <a:solidFill>
                  <a:srgbClr val="000000"/>
                </a:solidFill>
                <a:latin typeface="Consolas" panose="020B0609020204030204" pitchFamily="49" charset="0"/>
              </a:rPr>
              <a:t>   </a:t>
            </a:r>
            <a:r>
              <a:rPr lang="fr-CA" sz="1400" dirty="0" err="1">
                <a:solidFill>
                  <a:srgbClr val="000000"/>
                </a:solidFill>
                <a:latin typeface="Consolas" panose="020B0609020204030204" pitchFamily="49" charset="0"/>
              </a:rPr>
              <a:t>context.Add</a:t>
            </a:r>
            <a:r>
              <a:rPr lang="fr-CA" sz="1400" dirty="0">
                <a:solidFill>
                  <a:srgbClr val="000000"/>
                </a:solidFill>
                <a:latin typeface="Consolas" panose="020B0609020204030204" pitchFamily="49" charset="0"/>
              </a:rPr>
              <a:t>(</a:t>
            </a:r>
            <a:r>
              <a:rPr lang="fr-CA" sz="1400" dirty="0" err="1">
                <a:solidFill>
                  <a:srgbClr val="000000"/>
                </a:solidFill>
                <a:latin typeface="Consolas" panose="020B0609020204030204" pitchFamily="49" charset="0"/>
              </a:rPr>
              <a:t>pompeOrdinaire</a:t>
            </a:r>
            <a:r>
              <a:rPr lang="fr-CA" sz="1400" dirty="0">
                <a:solidFill>
                  <a:srgbClr val="000000"/>
                </a:solidFill>
                <a:latin typeface="Consolas" panose="020B0609020204030204" pitchFamily="49" charset="0"/>
              </a:rPr>
              <a:t>);</a:t>
            </a:r>
          </a:p>
          <a:p>
            <a:pPr marL="0" indent="0">
              <a:buNone/>
            </a:pPr>
            <a:r>
              <a:rPr lang="fr-CA" sz="1400" dirty="0">
                <a:solidFill>
                  <a:srgbClr val="000000"/>
                </a:solidFill>
                <a:latin typeface="Consolas" panose="020B0609020204030204" pitchFamily="49" charset="0"/>
              </a:rPr>
              <a:t>   Pompe </a:t>
            </a:r>
            <a:r>
              <a:rPr lang="fr-CA" sz="1400" dirty="0" err="1">
                <a:solidFill>
                  <a:srgbClr val="000000"/>
                </a:solidFill>
                <a:latin typeface="Consolas" panose="020B0609020204030204" pitchFamily="49" charset="0"/>
              </a:rPr>
              <a:t>pompeMoyenne</a:t>
            </a:r>
            <a:r>
              <a:rPr lang="fr-CA" sz="1400" dirty="0">
                <a:solidFill>
                  <a:srgbClr val="000000"/>
                </a:solidFill>
                <a:latin typeface="Consolas" panose="020B0609020204030204" pitchFamily="49" charset="0"/>
              </a:rPr>
              <a:t> = </a:t>
            </a:r>
            <a:r>
              <a:rPr lang="fr-CA" sz="1400" dirty="0">
                <a:solidFill>
                  <a:srgbClr val="0000FF"/>
                </a:solidFill>
                <a:latin typeface="Consolas" panose="020B0609020204030204" pitchFamily="49" charset="0"/>
              </a:rPr>
              <a:t>new</a:t>
            </a:r>
            <a:r>
              <a:rPr lang="fr-CA" sz="1400" dirty="0">
                <a:solidFill>
                  <a:srgbClr val="000000"/>
                </a:solidFill>
                <a:latin typeface="Consolas" panose="020B0609020204030204" pitchFamily="49" charset="0"/>
              </a:rPr>
              <a:t> Pompe(</a:t>
            </a:r>
            <a:r>
              <a:rPr lang="fr-CA" sz="1400" dirty="0" err="1">
                <a:solidFill>
                  <a:srgbClr val="000000"/>
                </a:solidFill>
                <a:latin typeface="Consolas" panose="020B0609020204030204" pitchFamily="49" charset="0"/>
              </a:rPr>
              <a:t>CatégorieEssence.Moyenne</a:t>
            </a:r>
            <a:r>
              <a:rPr lang="fr-CA" sz="1400" dirty="0">
                <a:solidFill>
                  <a:srgbClr val="000000"/>
                </a:solidFill>
                <a:latin typeface="Consolas" panose="020B0609020204030204" pitchFamily="49" charset="0"/>
              </a:rPr>
              <a:t>, 1.15M);</a:t>
            </a:r>
          </a:p>
          <a:p>
            <a:pPr marL="0" indent="0">
              <a:buNone/>
            </a:pPr>
            <a:r>
              <a:rPr lang="fr-CA" sz="1400" dirty="0">
                <a:solidFill>
                  <a:srgbClr val="000000"/>
                </a:solidFill>
                <a:latin typeface="Consolas" panose="020B0609020204030204" pitchFamily="49" charset="0"/>
              </a:rPr>
              <a:t>   </a:t>
            </a:r>
            <a:r>
              <a:rPr lang="fr-CA" sz="1400" dirty="0" err="1">
                <a:solidFill>
                  <a:srgbClr val="000000"/>
                </a:solidFill>
                <a:latin typeface="Consolas" panose="020B0609020204030204" pitchFamily="49" charset="0"/>
              </a:rPr>
              <a:t>context.Add</a:t>
            </a:r>
            <a:r>
              <a:rPr lang="fr-CA" sz="1400" dirty="0">
                <a:solidFill>
                  <a:srgbClr val="000000"/>
                </a:solidFill>
                <a:latin typeface="Consolas" panose="020B0609020204030204" pitchFamily="49" charset="0"/>
              </a:rPr>
              <a:t>(</a:t>
            </a:r>
            <a:r>
              <a:rPr lang="fr-CA" sz="1400" dirty="0" err="1">
                <a:solidFill>
                  <a:srgbClr val="000000"/>
                </a:solidFill>
                <a:latin typeface="Consolas" panose="020B0609020204030204" pitchFamily="49" charset="0"/>
              </a:rPr>
              <a:t>pompeMoyenne</a:t>
            </a:r>
            <a:r>
              <a:rPr lang="fr-CA" sz="1400" dirty="0">
                <a:solidFill>
                  <a:srgbClr val="000000"/>
                </a:solidFill>
                <a:latin typeface="Consolas" panose="020B0609020204030204" pitchFamily="49" charset="0"/>
              </a:rPr>
              <a:t>);</a:t>
            </a:r>
          </a:p>
          <a:p>
            <a:pPr marL="0" indent="0">
              <a:buNone/>
            </a:pPr>
            <a:r>
              <a:rPr lang="fr-CA" sz="1400" dirty="0">
                <a:solidFill>
                  <a:srgbClr val="000000"/>
                </a:solidFill>
                <a:latin typeface="Consolas" panose="020B0609020204030204" pitchFamily="49" charset="0"/>
              </a:rPr>
              <a:t>   Pompe </a:t>
            </a:r>
            <a:r>
              <a:rPr lang="fr-CA" sz="1400" dirty="0" err="1">
                <a:solidFill>
                  <a:srgbClr val="000000"/>
                </a:solidFill>
                <a:latin typeface="Consolas" panose="020B0609020204030204" pitchFamily="49" charset="0"/>
              </a:rPr>
              <a:t>pompeSuper</a:t>
            </a:r>
            <a:r>
              <a:rPr lang="fr-CA" sz="1400" dirty="0">
                <a:solidFill>
                  <a:srgbClr val="000000"/>
                </a:solidFill>
                <a:latin typeface="Consolas" panose="020B0609020204030204" pitchFamily="49" charset="0"/>
              </a:rPr>
              <a:t> = </a:t>
            </a:r>
            <a:r>
              <a:rPr lang="fr-CA" sz="1400" dirty="0">
                <a:solidFill>
                  <a:srgbClr val="0000FF"/>
                </a:solidFill>
                <a:latin typeface="Consolas" panose="020B0609020204030204" pitchFamily="49" charset="0"/>
              </a:rPr>
              <a:t>new</a:t>
            </a:r>
            <a:r>
              <a:rPr lang="fr-CA" sz="1400" dirty="0">
                <a:solidFill>
                  <a:srgbClr val="000000"/>
                </a:solidFill>
                <a:latin typeface="Consolas" panose="020B0609020204030204" pitchFamily="49" charset="0"/>
              </a:rPr>
              <a:t> Pompe(</a:t>
            </a:r>
            <a:r>
              <a:rPr lang="fr-CA" sz="1400" dirty="0" err="1">
                <a:solidFill>
                  <a:srgbClr val="000000"/>
                </a:solidFill>
                <a:latin typeface="Consolas" panose="020B0609020204030204" pitchFamily="49" charset="0"/>
              </a:rPr>
              <a:t>CatégorieEssence.Super</a:t>
            </a:r>
            <a:r>
              <a:rPr lang="fr-CA" sz="1400" dirty="0">
                <a:solidFill>
                  <a:srgbClr val="000000"/>
                </a:solidFill>
                <a:latin typeface="Consolas" panose="020B0609020204030204" pitchFamily="49" charset="0"/>
              </a:rPr>
              <a:t>, 1.20M);</a:t>
            </a:r>
          </a:p>
          <a:p>
            <a:pPr marL="0" indent="0">
              <a:buNone/>
            </a:pPr>
            <a:r>
              <a:rPr lang="fr-CA" sz="1400" dirty="0">
                <a:solidFill>
                  <a:srgbClr val="000000"/>
                </a:solidFill>
                <a:latin typeface="Consolas" panose="020B0609020204030204" pitchFamily="49" charset="0"/>
              </a:rPr>
              <a:t>   </a:t>
            </a:r>
            <a:r>
              <a:rPr lang="fr-CA" sz="1400" dirty="0" err="1">
                <a:solidFill>
                  <a:srgbClr val="000000"/>
                </a:solidFill>
                <a:latin typeface="Consolas" panose="020B0609020204030204" pitchFamily="49" charset="0"/>
              </a:rPr>
              <a:t>context.Add</a:t>
            </a:r>
            <a:r>
              <a:rPr lang="fr-CA" sz="1400" dirty="0">
                <a:solidFill>
                  <a:srgbClr val="000000"/>
                </a:solidFill>
                <a:latin typeface="Consolas" panose="020B0609020204030204" pitchFamily="49" charset="0"/>
              </a:rPr>
              <a:t>(</a:t>
            </a:r>
            <a:r>
              <a:rPr lang="fr-CA" sz="1400" dirty="0" err="1">
                <a:solidFill>
                  <a:srgbClr val="000000"/>
                </a:solidFill>
                <a:latin typeface="Consolas" panose="020B0609020204030204" pitchFamily="49" charset="0"/>
              </a:rPr>
              <a:t>pompeSuper</a:t>
            </a:r>
            <a:r>
              <a:rPr lang="fr-CA" sz="1400" dirty="0">
                <a:solidFill>
                  <a:srgbClr val="000000"/>
                </a:solidFill>
                <a:latin typeface="Consolas" panose="020B0609020204030204" pitchFamily="49" charset="0"/>
              </a:rPr>
              <a:t>);</a:t>
            </a:r>
          </a:p>
          <a:p>
            <a:pPr marL="0" indent="0">
              <a:buNone/>
            </a:pPr>
            <a:r>
              <a:rPr lang="fr-CA" sz="1400" dirty="0">
                <a:solidFill>
                  <a:srgbClr val="000000"/>
                </a:solidFill>
                <a:latin typeface="Consolas" panose="020B0609020204030204" pitchFamily="49" charset="0"/>
              </a:rPr>
              <a:t>   </a:t>
            </a:r>
            <a:r>
              <a:rPr lang="fr-CA" sz="1400" dirty="0" err="1">
                <a:solidFill>
                  <a:srgbClr val="000000"/>
                </a:solidFill>
                <a:latin typeface="Consolas" panose="020B0609020204030204" pitchFamily="49" charset="0"/>
              </a:rPr>
              <a:t>context.SaveChanges</a:t>
            </a:r>
            <a:r>
              <a:rPr lang="fr-CA" sz="1400" dirty="0">
                <a:solidFill>
                  <a:srgbClr val="000000"/>
                </a:solidFill>
                <a:latin typeface="Consolas" panose="020B0609020204030204" pitchFamily="49" charset="0"/>
              </a:rPr>
              <a:t>();</a:t>
            </a:r>
          </a:p>
          <a:p>
            <a:pPr marL="0" indent="0">
              <a:buNone/>
            </a:pPr>
            <a:r>
              <a:rPr lang="fr-CA" sz="1400" dirty="0">
                <a:solidFill>
                  <a:srgbClr val="000000"/>
                </a:solidFill>
                <a:latin typeface="Consolas" panose="020B0609020204030204" pitchFamily="49" charset="0"/>
              </a:rPr>
              <a:t>   </a:t>
            </a:r>
            <a:r>
              <a:rPr lang="fr-CA" sz="1400" dirty="0">
                <a:solidFill>
                  <a:srgbClr val="008000"/>
                </a:solidFill>
                <a:latin typeface="Consolas" panose="020B0609020204030204" pitchFamily="49" charset="0"/>
              </a:rPr>
              <a:t>// ajouter les trois réservoirs</a:t>
            </a:r>
            <a:endParaRPr lang="fr-CA" sz="1400" dirty="0">
              <a:solidFill>
                <a:srgbClr val="000000"/>
              </a:solidFill>
              <a:latin typeface="Consolas" panose="020B0609020204030204" pitchFamily="49" charset="0"/>
            </a:endParaRPr>
          </a:p>
          <a:p>
            <a:pPr marL="0" indent="0">
              <a:buNone/>
            </a:pPr>
            <a:r>
              <a:rPr lang="fr-CA" sz="1400" dirty="0">
                <a:solidFill>
                  <a:srgbClr val="000000"/>
                </a:solidFill>
                <a:latin typeface="Consolas" panose="020B0609020204030204" pitchFamily="49" charset="0"/>
              </a:rPr>
              <a:t>   Réservoir </a:t>
            </a:r>
            <a:r>
              <a:rPr lang="fr-CA" sz="1400" dirty="0" err="1">
                <a:solidFill>
                  <a:srgbClr val="000000"/>
                </a:solidFill>
                <a:latin typeface="Consolas" panose="020B0609020204030204" pitchFamily="49" charset="0"/>
              </a:rPr>
              <a:t>réservoir</a:t>
            </a:r>
            <a:r>
              <a:rPr lang="fr-CA" sz="1400" dirty="0">
                <a:solidFill>
                  <a:srgbClr val="000000"/>
                </a:solidFill>
                <a:latin typeface="Consolas" panose="020B0609020204030204" pitchFamily="49" charset="0"/>
              </a:rPr>
              <a:t> = </a:t>
            </a:r>
            <a:r>
              <a:rPr lang="fr-CA" sz="1400" dirty="0">
                <a:solidFill>
                  <a:srgbClr val="0000FF"/>
                </a:solidFill>
                <a:latin typeface="Consolas" panose="020B0609020204030204" pitchFamily="49" charset="0"/>
              </a:rPr>
              <a:t>new</a:t>
            </a:r>
            <a:r>
              <a:rPr lang="fr-CA" sz="1400" dirty="0">
                <a:solidFill>
                  <a:srgbClr val="000000"/>
                </a:solidFill>
                <a:latin typeface="Consolas" panose="020B0609020204030204" pitchFamily="49" charset="0"/>
              </a:rPr>
              <a:t> Réservoir(10000M, </a:t>
            </a:r>
            <a:r>
              <a:rPr lang="fr-CA" sz="1400" dirty="0" err="1">
                <a:solidFill>
                  <a:srgbClr val="000000"/>
                </a:solidFill>
                <a:latin typeface="Consolas" panose="020B0609020204030204" pitchFamily="49" charset="0"/>
              </a:rPr>
              <a:t>CatégorieEssence.Ordinaire</a:t>
            </a:r>
            <a:r>
              <a:rPr lang="fr-CA" sz="1400" dirty="0">
                <a:solidFill>
                  <a:srgbClr val="000000"/>
                </a:solidFill>
                <a:latin typeface="Consolas" panose="020B0609020204030204" pitchFamily="49" charset="0"/>
              </a:rPr>
              <a:t>, </a:t>
            </a:r>
          </a:p>
          <a:p>
            <a:pPr marL="0" indent="0">
              <a:buNone/>
            </a:pPr>
            <a:r>
              <a:rPr lang="fr-CA" sz="1400" dirty="0">
                <a:solidFill>
                  <a:srgbClr val="000000"/>
                </a:solidFill>
                <a:latin typeface="Consolas" panose="020B0609020204030204" pitchFamily="49" charset="0"/>
              </a:rPr>
              <a:t>                                       12000M, </a:t>
            </a:r>
            <a:r>
              <a:rPr lang="fr-CA" sz="1400" dirty="0" err="1">
                <a:solidFill>
                  <a:srgbClr val="000000"/>
                </a:solidFill>
                <a:latin typeface="Consolas" panose="020B0609020204030204" pitchFamily="49" charset="0"/>
              </a:rPr>
              <a:t>pompeOrdinaire</a:t>
            </a:r>
            <a:r>
              <a:rPr lang="fr-CA" sz="1400" dirty="0">
                <a:solidFill>
                  <a:srgbClr val="000000"/>
                </a:solidFill>
                <a:latin typeface="Consolas" panose="020B0609020204030204" pitchFamily="49" charset="0"/>
              </a:rPr>
              <a:t>);</a:t>
            </a:r>
          </a:p>
          <a:p>
            <a:pPr marL="0" indent="0">
              <a:buNone/>
            </a:pPr>
            <a:r>
              <a:rPr lang="fr-CA" sz="1400" dirty="0">
                <a:solidFill>
                  <a:srgbClr val="000000"/>
                </a:solidFill>
                <a:latin typeface="Consolas" panose="020B0609020204030204" pitchFamily="49" charset="0"/>
              </a:rPr>
              <a:t>   </a:t>
            </a:r>
            <a:r>
              <a:rPr lang="fr-CA" sz="1400" dirty="0" err="1">
                <a:solidFill>
                  <a:srgbClr val="000000"/>
                </a:solidFill>
                <a:latin typeface="Consolas" panose="020B0609020204030204" pitchFamily="49" charset="0"/>
              </a:rPr>
              <a:t>context.Add</a:t>
            </a:r>
            <a:r>
              <a:rPr lang="fr-CA" sz="1400" dirty="0">
                <a:solidFill>
                  <a:srgbClr val="000000"/>
                </a:solidFill>
                <a:latin typeface="Consolas" panose="020B0609020204030204" pitchFamily="49" charset="0"/>
              </a:rPr>
              <a:t>(réservoir);</a:t>
            </a:r>
          </a:p>
          <a:p>
            <a:pPr marL="0" indent="0">
              <a:buNone/>
            </a:pPr>
            <a:r>
              <a:rPr lang="fr-CA" sz="1400" dirty="0">
                <a:solidFill>
                  <a:srgbClr val="000000"/>
                </a:solidFill>
                <a:latin typeface="Consolas" panose="020B0609020204030204" pitchFamily="49" charset="0"/>
              </a:rPr>
              <a:t>   réservoir = </a:t>
            </a:r>
            <a:r>
              <a:rPr lang="fr-CA" sz="1400" dirty="0">
                <a:solidFill>
                  <a:srgbClr val="0000FF"/>
                </a:solidFill>
                <a:latin typeface="Consolas" panose="020B0609020204030204" pitchFamily="49" charset="0"/>
              </a:rPr>
              <a:t>new</a:t>
            </a:r>
            <a:r>
              <a:rPr lang="fr-CA" sz="1400" dirty="0">
                <a:solidFill>
                  <a:srgbClr val="000000"/>
                </a:solidFill>
                <a:latin typeface="Consolas" panose="020B0609020204030204" pitchFamily="49" charset="0"/>
              </a:rPr>
              <a:t> Réservoir(10000M, </a:t>
            </a:r>
            <a:r>
              <a:rPr lang="fr-CA" sz="1400" dirty="0" err="1">
                <a:solidFill>
                  <a:srgbClr val="000000"/>
                </a:solidFill>
                <a:latin typeface="Consolas" panose="020B0609020204030204" pitchFamily="49" charset="0"/>
              </a:rPr>
              <a:t>CatégorieEssence.Moyenne</a:t>
            </a:r>
            <a:r>
              <a:rPr lang="fr-CA" sz="1400" dirty="0">
                <a:solidFill>
                  <a:srgbClr val="000000"/>
                </a:solidFill>
                <a:latin typeface="Consolas" panose="020B0609020204030204" pitchFamily="49" charset="0"/>
              </a:rPr>
              <a:t>, 12000M, </a:t>
            </a:r>
          </a:p>
          <a:p>
            <a:pPr marL="0" indent="0">
              <a:buNone/>
            </a:pPr>
            <a:r>
              <a:rPr lang="fr-CA" sz="1400" dirty="0">
                <a:solidFill>
                  <a:srgbClr val="000000"/>
                </a:solidFill>
                <a:latin typeface="Consolas" panose="020B0609020204030204" pitchFamily="49" charset="0"/>
              </a:rPr>
              <a:t>                                     </a:t>
            </a:r>
            <a:r>
              <a:rPr lang="fr-CA" sz="1400" dirty="0" err="1">
                <a:solidFill>
                  <a:srgbClr val="000000"/>
                </a:solidFill>
                <a:latin typeface="Consolas" panose="020B0609020204030204" pitchFamily="49" charset="0"/>
              </a:rPr>
              <a:t>pompeMoyenne</a:t>
            </a:r>
            <a:r>
              <a:rPr lang="fr-CA" sz="1400" dirty="0">
                <a:solidFill>
                  <a:srgbClr val="000000"/>
                </a:solidFill>
                <a:latin typeface="Consolas" panose="020B0609020204030204" pitchFamily="49" charset="0"/>
              </a:rPr>
              <a:t>);</a:t>
            </a:r>
          </a:p>
          <a:p>
            <a:pPr marL="0" indent="0">
              <a:buNone/>
            </a:pPr>
            <a:r>
              <a:rPr lang="fr-CA" sz="1400" dirty="0">
                <a:solidFill>
                  <a:srgbClr val="000000"/>
                </a:solidFill>
                <a:latin typeface="Consolas" panose="020B0609020204030204" pitchFamily="49" charset="0"/>
              </a:rPr>
              <a:t>   </a:t>
            </a:r>
            <a:r>
              <a:rPr lang="fr-CA" sz="1400" dirty="0" err="1">
                <a:solidFill>
                  <a:srgbClr val="000000"/>
                </a:solidFill>
                <a:latin typeface="Consolas" panose="020B0609020204030204" pitchFamily="49" charset="0"/>
              </a:rPr>
              <a:t>context.Add</a:t>
            </a:r>
            <a:r>
              <a:rPr lang="fr-CA" sz="1400" dirty="0">
                <a:solidFill>
                  <a:srgbClr val="000000"/>
                </a:solidFill>
                <a:latin typeface="Consolas" panose="020B0609020204030204" pitchFamily="49" charset="0"/>
              </a:rPr>
              <a:t>(réservoir);</a:t>
            </a:r>
          </a:p>
          <a:p>
            <a:pPr marL="0" indent="0">
              <a:buNone/>
            </a:pPr>
            <a:r>
              <a:rPr lang="fr-CA" sz="1400" dirty="0">
                <a:solidFill>
                  <a:srgbClr val="000000"/>
                </a:solidFill>
                <a:latin typeface="Consolas" panose="020B0609020204030204" pitchFamily="49" charset="0"/>
              </a:rPr>
              <a:t>   réservoir = </a:t>
            </a:r>
            <a:r>
              <a:rPr lang="fr-CA" sz="1400" dirty="0">
                <a:solidFill>
                  <a:srgbClr val="0000FF"/>
                </a:solidFill>
                <a:latin typeface="Consolas" panose="020B0609020204030204" pitchFamily="49" charset="0"/>
              </a:rPr>
              <a:t>new</a:t>
            </a:r>
            <a:r>
              <a:rPr lang="fr-CA" sz="1400" dirty="0">
                <a:solidFill>
                  <a:srgbClr val="000000"/>
                </a:solidFill>
                <a:latin typeface="Consolas" panose="020B0609020204030204" pitchFamily="49" charset="0"/>
              </a:rPr>
              <a:t> Réservoir(10000M, </a:t>
            </a:r>
            <a:r>
              <a:rPr lang="fr-CA" sz="1400" dirty="0" err="1">
                <a:solidFill>
                  <a:srgbClr val="000000"/>
                </a:solidFill>
                <a:latin typeface="Consolas" panose="020B0609020204030204" pitchFamily="49" charset="0"/>
              </a:rPr>
              <a:t>CatégorieEssence.Super</a:t>
            </a:r>
            <a:r>
              <a:rPr lang="fr-CA" sz="1400" dirty="0">
                <a:solidFill>
                  <a:srgbClr val="000000"/>
                </a:solidFill>
                <a:latin typeface="Consolas" panose="020B0609020204030204" pitchFamily="49" charset="0"/>
              </a:rPr>
              <a:t>, 12000M, </a:t>
            </a:r>
            <a:r>
              <a:rPr lang="fr-CA" sz="1400" dirty="0" err="1">
                <a:solidFill>
                  <a:srgbClr val="000000"/>
                </a:solidFill>
                <a:latin typeface="Consolas" panose="020B0609020204030204" pitchFamily="49" charset="0"/>
              </a:rPr>
              <a:t>pompeSuper</a:t>
            </a:r>
            <a:r>
              <a:rPr lang="fr-CA" sz="1400" dirty="0">
                <a:solidFill>
                  <a:srgbClr val="000000"/>
                </a:solidFill>
                <a:latin typeface="Consolas" panose="020B0609020204030204" pitchFamily="49" charset="0"/>
              </a:rPr>
              <a:t>);</a:t>
            </a:r>
          </a:p>
          <a:p>
            <a:pPr marL="0" indent="0">
              <a:buNone/>
            </a:pPr>
            <a:r>
              <a:rPr lang="fr-CA" sz="1400" dirty="0">
                <a:solidFill>
                  <a:srgbClr val="000000"/>
                </a:solidFill>
                <a:latin typeface="Consolas" panose="020B0609020204030204" pitchFamily="49" charset="0"/>
              </a:rPr>
              <a:t>   </a:t>
            </a:r>
            <a:r>
              <a:rPr lang="fr-CA" sz="1400" dirty="0" err="1">
                <a:solidFill>
                  <a:srgbClr val="000000"/>
                </a:solidFill>
                <a:latin typeface="Consolas" panose="020B0609020204030204" pitchFamily="49" charset="0"/>
              </a:rPr>
              <a:t>context.Add</a:t>
            </a:r>
            <a:r>
              <a:rPr lang="fr-CA" sz="1400" dirty="0">
                <a:solidFill>
                  <a:srgbClr val="000000"/>
                </a:solidFill>
                <a:latin typeface="Consolas" panose="020B0609020204030204" pitchFamily="49" charset="0"/>
              </a:rPr>
              <a:t>(réservoir);</a:t>
            </a:r>
          </a:p>
          <a:p>
            <a:pPr marL="0" indent="0">
              <a:buNone/>
            </a:pPr>
            <a:r>
              <a:rPr lang="fr-CA" sz="1400" dirty="0">
                <a:solidFill>
                  <a:srgbClr val="000000"/>
                </a:solidFill>
                <a:latin typeface="Consolas" panose="020B0609020204030204" pitchFamily="49" charset="0"/>
              </a:rPr>
              <a:t>   </a:t>
            </a:r>
            <a:r>
              <a:rPr lang="fr-CA" sz="1400" dirty="0" err="1">
                <a:solidFill>
                  <a:srgbClr val="000000"/>
                </a:solidFill>
                <a:latin typeface="Consolas" panose="020B0609020204030204" pitchFamily="49" charset="0"/>
              </a:rPr>
              <a:t>context.SaveChanges</a:t>
            </a:r>
            <a:r>
              <a:rPr lang="fr-CA" sz="1400" dirty="0">
                <a:solidFill>
                  <a:srgbClr val="000000"/>
                </a:solidFill>
                <a:latin typeface="Consolas" panose="020B0609020204030204" pitchFamily="49" charset="0"/>
              </a:rPr>
              <a:t>();</a:t>
            </a:r>
          </a:p>
          <a:p>
            <a:pPr marL="0" indent="0">
              <a:buNone/>
            </a:pPr>
            <a:r>
              <a:rPr lang="fr-CA" sz="1400" dirty="0">
                <a:solidFill>
                  <a:srgbClr val="000000"/>
                </a:solidFill>
                <a:latin typeface="Consolas" panose="020B0609020204030204" pitchFamily="49" charset="0"/>
              </a:rPr>
              <a:t>   ……</a:t>
            </a:r>
          </a:p>
        </p:txBody>
      </p:sp>
      <p:sp>
        <p:nvSpPr>
          <p:cNvPr id="4" name="Espace réservé du numéro de diapositive 3">
            <a:extLst>
              <a:ext uri="{FF2B5EF4-FFF2-40B4-BE49-F238E27FC236}">
                <a16:creationId xmlns:a16="http://schemas.microsoft.com/office/drawing/2014/main" id="{EB7D1CC9-4FF0-4880-A3EF-2EE0021AB76C}"/>
              </a:ext>
            </a:extLst>
          </p:cNvPr>
          <p:cNvSpPr>
            <a:spLocks noGrp="1"/>
          </p:cNvSpPr>
          <p:nvPr>
            <p:ph type="sldNum" sz="quarter" idx="12"/>
          </p:nvPr>
        </p:nvSpPr>
        <p:spPr/>
        <p:txBody>
          <a:bodyPr/>
          <a:lstStyle/>
          <a:p>
            <a:pPr>
              <a:defRPr/>
            </a:pPr>
            <a:fld id="{7FEE665E-3450-413D-913D-057FF7C87532}" type="slidenum">
              <a:rPr lang="en-US" altLang="en-US" smtClean="0"/>
              <a:pPr>
                <a:defRPr/>
              </a:pPr>
              <a:t>40</a:t>
            </a:fld>
            <a:endParaRPr lang="en-US" altLang="en-US"/>
          </a:p>
        </p:txBody>
      </p:sp>
    </p:spTree>
    <p:extLst>
      <p:ext uri="{BB962C8B-B14F-4D97-AF65-F5344CB8AC3E}">
        <p14:creationId xmlns:p14="http://schemas.microsoft.com/office/powerpoint/2010/main" val="2145681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Code de Test1</a:t>
            </a:r>
          </a:p>
        </p:txBody>
      </p:sp>
      <p:sp>
        <p:nvSpPr>
          <p:cNvPr id="3" name="Espace réservé du contenu 2"/>
          <p:cNvSpPr>
            <a:spLocks noGrp="1"/>
          </p:cNvSpPr>
          <p:nvPr>
            <p:ph idx="1"/>
          </p:nvPr>
        </p:nvSpPr>
        <p:spPr>
          <a:xfrm>
            <a:off x="287524" y="1304764"/>
            <a:ext cx="8686800" cy="5265486"/>
          </a:xfrm>
        </p:spPr>
        <p:txBody>
          <a:bodyPr>
            <a:noAutofit/>
          </a:bodyPr>
          <a:lstStyle/>
          <a:p>
            <a:pPr marL="0" indent="0">
              <a:buNone/>
            </a:pPr>
            <a:r>
              <a:rPr lang="fr-CA" sz="1400" dirty="0">
                <a:solidFill>
                  <a:srgbClr val="000000"/>
                </a:solidFill>
                <a:latin typeface="Consolas" panose="020B0609020204030204" pitchFamily="49" charset="0"/>
              </a:rPr>
              <a:t>  …..</a:t>
            </a:r>
          </a:p>
          <a:p>
            <a:pPr marL="0" indent="0">
              <a:buNone/>
            </a:pPr>
            <a:r>
              <a:rPr lang="fr-CA" sz="1400" dirty="0">
                <a:solidFill>
                  <a:srgbClr val="000000"/>
                </a:solidFill>
                <a:latin typeface="Consolas" panose="020B0609020204030204" pitchFamily="49" charset="0"/>
              </a:rPr>
              <a:t>  </a:t>
            </a:r>
            <a:r>
              <a:rPr lang="fr-CA" sz="1200" dirty="0">
                <a:solidFill>
                  <a:srgbClr val="008000"/>
                </a:solidFill>
                <a:latin typeface="Consolas" panose="020B0609020204030204" pitchFamily="49" charset="0"/>
              </a:rPr>
              <a:t>//ajouter un client</a:t>
            </a:r>
            <a:endParaRPr lang="fr-CA" sz="1200" dirty="0">
              <a:solidFill>
                <a:srgbClr val="000000"/>
              </a:solidFill>
              <a:latin typeface="Consolas" panose="020B0609020204030204" pitchFamily="49" charset="0"/>
            </a:endParaRPr>
          </a:p>
          <a:p>
            <a:pPr marL="0" indent="0">
              <a:buNone/>
            </a:pPr>
            <a:r>
              <a:rPr lang="fr-CA" sz="1200" dirty="0">
                <a:solidFill>
                  <a:srgbClr val="000000"/>
                </a:solidFill>
                <a:latin typeface="Consolas" panose="020B0609020204030204" pitchFamily="49" charset="0"/>
              </a:rPr>
              <a:t>  Client </a:t>
            </a:r>
            <a:r>
              <a:rPr lang="fr-CA" sz="1200" dirty="0" err="1">
                <a:solidFill>
                  <a:srgbClr val="000000"/>
                </a:solidFill>
                <a:latin typeface="Consolas" panose="020B0609020204030204" pitchFamily="49" charset="0"/>
              </a:rPr>
              <a:t>client</a:t>
            </a:r>
            <a:r>
              <a:rPr lang="fr-CA" sz="1200" dirty="0">
                <a:solidFill>
                  <a:srgbClr val="000000"/>
                </a:solidFill>
                <a:latin typeface="Consolas" panose="020B0609020204030204" pitchFamily="49" charset="0"/>
              </a:rPr>
              <a:t> = </a:t>
            </a:r>
            <a:r>
              <a:rPr lang="fr-CA" sz="1200" dirty="0">
                <a:solidFill>
                  <a:srgbClr val="0000FF"/>
                </a:solidFill>
                <a:latin typeface="Consolas" panose="020B0609020204030204" pitchFamily="49" charset="0"/>
              </a:rPr>
              <a:t>new</a:t>
            </a:r>
            <a:r>
              <a:rPr lang="fr-CA" sz="1200" dirty="0">
                <a:solidFill>
                  <a:srgbClr val="000000"/>
                </a:solidFill>
                <a:latin typeface="Consolas" panose="020B0609020204030204" pitchFamily="49" charset="0"/>
              </a:rPr>
              <a:t> Client(</a:t>
            </a:r>
            <a:r>
              <a:rPr lang="fr-CA" sz="1200" dirty="0">
                <a:solidFill>
                  <a:srgbClr val="A31515"/>
                </a:solidFill>
                <a:latin typeface="Consolas" panose="020B0609020204030204" pitchFamily="49" charset="0"/>
              </a:rPr>
              <a:t>"Khriss"</a:t>
            </a:r>
            <a:r>
              <a:rPr lang="fr-CA" sz="1200" dirty="0">
                <a:solidFill>
                  <a:srgbClr val="000000"/>
                </a:solidFill>
                <a:latin typeface="Consolas" panose="020B0609020204030204" pitchFamily="49" charset="0"/>
              </a:rPr>
              <a:t>, </a:t>
            </a:r>
            <a:r>
              <a:rPr lang="fr-CA" sz="1200" dirty="0">
                <a:solidFill>
                  <a:srgbClr val="A31515"/>
                </a:solidFill>
                <a:latin typeface="Consolas" panose="020B0609020204030204" pitchFamily="49" charset="0"/>
              </a:rPr>
              <a:t>"Ismail"</a:t>
            </a:r>
            <a:r>
              <a:rPr lang="fr-CA" sz="1200" dirty="0">
                <a:solidFill>
                  <a:srgbClr val="000000"/>
                </a:solidFill>
                <a:latin typeface="Consolas" panose="020B0609020204030204" pitchFamily="49" charset="0"/>
              </a:rPr>
              <a:t>, </a:t>
            </a:r>
            <a:r>
              <a:rPr lang="fr-CA" sz="1200" dirty="0">
                <a:solidFill>
                  <a:srgbClr val="A31515"/>
                </a:solidFill>
                <a:latin typeface="Consolas" panose="020B0609020204030204" pitchFamily="49" charset="0"/>
              </a:rPr>
              <a:t>"300 Allée des Ursulines, Rimouski, QC G5L 3A1"</a:t>
            </a:r>
            <a:r>
              <a:rPr lang="fr-CA" sz="1200" dirty="0">
                <a:solidFill>
                  <a:srgbClr val="000000"/>
                </a:solidFill>
                <a:latin typeface="Consolas" panose="020B0609020204030204" pitchFamily="49" charset="0"/>
              </a:rPr>
              <a:t>, </a:t>
            </a:r>
            <a:r>
              <a:rPr lang="fr-CA" sz="1200" dirty="0">
                <a:solidFill>
                  <a:srgbClr val="A31515"/>
                </a:solidFill>
                <a:latin typeface="Consolas" panose="020B0609020204030204" pitchFamily="49" charset="0"/>
              </a:rPr>
              <a:t>"+1 </a:t>
            </a:r>
          </a:p>
          <a:p>
            <a:pPr marL="0" indent="0">
              <a:buNone/>
            </a:pPr>
            <a:r>
              <a:rPr lang="fr-CA" sz="1200" dirty="0">
                <a:solidFill>
                  <a:srgbClr val="A31515"/>
                </a:solidFill>
                <a:latin typeface="Consolas" panose="020B0609020204030204" pitchFamily="49" charset="0"/>
              </a:rPr>
              <a:t>                             418-723-1986 poste 1455"</a:t>
            </a:r>
            <a:r>
              <a:rPr lang="fr-CA" sz="1200" dirty="0">
                <a:solidFill>
                  <a:srgbClr val="000000"/>
                </a:solidFill>
                <a:latin typeface="Consolas" panose="020B0609020204030204" pitchFamily="49" charset="0"/>
              </a:rPr>
              <a:t>);</a:t>
            </a:r>
          </a:p>
          <a:p>
            <a:pPr marL="0" indent="0">
              <a:buNone/>
            </a:pP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context.Add</a:t>
            </a:r>
            <a:r>
              <a:rPr lang="fr-CA" sz="1200" dirty="0">
                <a:solidFill>
                  <a:srgbClr val="000000"/>
                </a:solidFill>
                <a:latin typeface="Consolas" panose="020B0609020204030204" pitchFamily="49" charset="0"/>
              </a:rPr>
              <a:t>(client);</a:t>
            </a:r>
          </a:p>
          <a:p>
            <a:pPr marL="0" indent="0">
              <a:buNone/>
            </a:pPr>
            <a:r>
              <a:rPr lang="fr-CA" sz="1200" dirty="0">
                <a:solidFill>
                  <a:srgbClr val="000000"/>
                </a:solidFill>
                <a:latin typeface="Consolas" panose="020B0609020204030204" pitchFamily="49" charset="0"/>
              </a:rPr>
              <a:t>  Compte </a:t>
            </a:r>
            <a:r>
              <a:rPr lang="fr-CA" sz="1200" dirty="0" err="1">
                <a:solidFill>
                  <a:srgbClr val="000000"/>
                </a:solidFill>
                <a:latin typeface="Consolas" panose="020B0609020204030204" pitchFamily="49" charset="0"/>
              </a:rPr>
              <a:t>compte</a:t>
            </a:r>
            <a:r>
              <a:rPr lang="fr-CA" sz="1200" dirty="0">
                <a:solidFill>
                  <a:srgbClr val="000000"/>
                </a:solidFill>
                <a:latin typeface="Consolas" panose="020B0609020204030204" pitchFamily="49" charset="0"/>
              </a:rPr>
              <a:t> = </a:t>
            </a:r>
            <a:r>
              <a:rPr lang="fr-CA" sz="1200" dirty="0">
                <a:solidFill>
                  <a:srgbClr val="0000FF"/>
                </a:solidFill>
                <a:latin typeface="Consolas" panose="020B0609020204030204" pitchFamily="49" charset="0"/>
              </a:rPr>
              <a:t>new</a:t>
            </a:r>
            <a:r>
              <a:rPr lang="fr-CA" sz="1200" dirty="0">
                <a:solidFill>
                  <a:srgbClr val="000000"/>
                </a:solidFill>
                <a:latin typeface="Consolas" panose="020B0609020204030204" pitchFamily="49" charset="0"/>
              </a:rPr>
              <a:t> Compte(</a:t>
            </a:r>
            <a:r>
              <a:rPr lang="fr-CA" sz="1200" dirty="0">
                <a:solidFill>
                  <a:srgbClr val="A31515"/>
                </a:solidFill>
                <a:latin typeface="Consolas" panose="020B0609020204030204" pitchFamily="49" charset="0"/>
              </a:rPr>
              <a:t>"Khr01"</a:t>
            </a:r>
            <a:r>
              <a:rPr lang="fr-CA" sz="1200" dirty="0">
                <a:solidFill>
                  <a:srgbClr val="000000"/>
                </a:solidFill>
                <a:latin typeface="Consolas" panose="020B0609020204030204" pitchFamily="49" charset="0"/>
              </a:rPr>
              <a:t>, 100.0M, client);</a:t>
            </a:r>
          </a:p>
          <a:p>
            <a:pPr marL="0" indent="0">
              <a:buNone/>
            </a:pP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context.Add</a:t>
            </a:r>
            <a:r>
              <a:rPr lang="fr-CA" sz="1200" dirty="0">
                <a:solidFill>
                  <a:srgbClr val="000000"/>
                </a:solidFill>
                <a:latin typeface="Consolas" panose="020B0609020204030204" pitchFamily="49" charset="0"/>
              </a:rPr>
              <a:t>(compte);</a:t>
            </a:r>
          </a:p>
          <a:p>
            <a:pPr marL="0" indent="0">
              <a:buNone/>
            </a:pP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context.SaveChanges</a:t>
            </a:r>
            <a:r>
              <a:rPr lang="fr-CA" sz="1200" dirty="0">
                <a:solidFill>
                  <a:srgbClr val="000000"/>
                </a:solidFill>
                <a:latin typeface="Consolas" panose="020B0609020204030204" pitchFamily="49" charset="0"/>
              </a:rPr>
              <a:t>();</a:t>
            </a:r>
          </a:p>
          <a:p>
            <a:pPr marL="0" indent="0">
              <a:buNone/>
            </a:pPr>
            <a:r>
              <a:rPr lang="fr-CA" sz="1200" dirty="0">
                <a:solidFill>
                  <a:srgbClr val="000000"/>
                </a:solidFill>
                <a:latin typeface="Consolas" panose="020B0609020204030204" pitchFamily="49" charset="0"/>
              </a:rPr>
              <a:t> }</a:t>
            </a:r>
            <a:endParaRPr lang="fr-CA" sz="1200" dirty="0"/>
          </a:p>
        </p:txBody>
      </p:sp>
      <p:sp>
        <p:nvSpPr>
          <p:cNvPr id="4" name="Espace réservé du numéro de diapositive 3">
            <a:extLst>
              <a:ext uri="{FF2B5EF4-FFF2-40B4-BE49-F238E27FC236}">
                <a16:creationId xmlns:a16="http://schemas.microsoft.com/office/drawing/2014/main" id="{EB7D1CC9-4FF0-4880-A3EF-2EE0021AB76C}"/>
              </a:ext>
            </a:extLst>
          </p:cNvPr>
          <p:cNvSpPr>
            <a:spLocks noGrp="1"/>
          </p:cNvSpPr>
          <p:nvPr>
            <p:ph type="sldNum" sz="quarter" idx="12"/>
          </p:nvPr>
        </p:nvSpPr>
        <p:spPr/>
        <p:txBody>
          <a:bodyPr/>
          <a:lstStyle/>
          <a:p>
            <a:pPr>
              <a:defRPr/>
            </a:pPr>
            <a:fld id="{7FEE665E-3450-413D-913D-057FF7C87532}" type="slidenum">
              <a:rPr lang="en-US" altLang="en-US" smtClean="0"/>
              <a:pPr>
                <a:defRPr/>
              </a:pPr>
              <a:t>41</a:t>
            </a:fld>
            <a:endParaRPr lang="en-US" altLang="en-US"/>
          </a:p>
        </p:txBody>
      </p:sp>
    </p:spTree>
    <p:extLst>
      <p:ext uri="{BB962C8B-B14F-4D97-AF65-F5344CB8AC3E}">
        <p14:creationId xmlns:p14="http://schemas.microsoft.com/office/powerpoint/2010/main" val="1700307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Le patron Repository</a:t>
            </a:r>
          </a:p>
        </p:txBody>
      </p:sp>
      <p:sp>
        <p:nvSpPr>
          <p:cNvPr id="3" name="Espace réservé du contenu 2"/>
          <p:cNvSpPr>
            <a:spLocks noGrp="1"/>
          </p:cNvSpPr>
          <p:nvPr>
            <p:ph idx="1"/>
          </p:nvPr>
        </p:nvSpPr>
        <p:spPr>
          <a:xfrm>
            <a:off x="228600" y="1403874"/>
            <a:ext cx="8686800" cy="4473398"/>
          </a:xfrm>
        </p:spPr>
        <p:txBody>
          <a:bodyPr>
            <a:normAutofit/>
          </a:bodyPr>
          <a:lstStyle/>
          <a:p>
            <a:r>
              <a:rPr lang="fr-CA" sz="2400" dirty="0"/>
              <a:t>Permet de développer des référentiels qui sont des classes ou des composants qui encapsulent la logique requise pour accéder aux sources de données</a:t>
            </a:r>
          </a:p>
          <a:p>
            <a:r>
              <a:rPr lang="fr-CA" sz="2400" dirty="0"/>
              <a:t>Ils centralisent les fonctionnalités d’accès aux données communes, offrant une meilleure maintenabilité et découplant l’infrastructure ou la technologie utilisée pour accéder aux bases de données de la couche de modèle de domaine </a:t>
            </a:r>
            <a:endParaRPr lang="en-US" sz="2400" dirty="0"/>
          </a:p>
        </p:txBody>
      </p:sp>
      <p:sp>
        <p:nvSpPr>
          <p:cNvPr id="4" name="Espace réservé du numéro de diapositive 3">
            <a:extLst>
              <a:ext uri="{FF2B5EF4-FFF2-40B4-BE49-F238E27FC236}">
                <a16:creationId xmlns:a16="http://schemas.microsoft.com/office/drawing/2014/main" id="{3E74AC8B-1734-4984-B1BB-533EF7A8DC1C}"/>
              </a:ext>
            </a:extLst>
          </p:cNvPr>
          <p:cNvSpPr>
            <a:spLocks noGrp="1"/>
          </p:cNvSpPr>
          <p:nvPr>
            <p:ph type="sldNum" sz="quarter" idx="12"/>
          </p:nvPr>
        </p:nvSpPr>
        <p:spPr/>
        <p:txBody>
          <a:bodyPr/>
          <a:lstStyle/>
          <a:p>
            <a:pPr>
              <a:defRPr/>
            </a:pPr>
            <a:fld id="{7FEE665E-3450-413D-913D-057FF7C87532}" type="slidenum">
              <a:rPr lang="en-US" altLang="en-US" smtClean="0"/>
              <a:pPr>
                <a:defRPr/>
              </a:pPr>
              <a:t>42</a:t>
            </a:fld>
            <a:endParaRPr lang="en-US" altLang="en-US"/>
          </a:p>
        </p:txBody>
      </p:sp>
    </p:spTree>
    <p:extLst>
      <p:ext uri="{BB962C8B-B14F-4D97-AF65-F5344CB8AC3E}">
        <p14:creationId xmlns:p14="http://schemas.microsoft.com/office/powerpoint/2010/main" val="3465100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Exemple</a:t>
            </a:r>
          </a:p>
        </p:txBody>
      </p:sp>
      <p:sp>
        <p:nvSpPr>
          <p:cNvPr id="4" name="Espace réservé du numéro de diapositive 3">
            <a:extLst>
              <a:ext uri="{FF2B5EF4-FFF2-40B4-BE49-F238E27FC236}">
                <a16:creationId xmlns:a16="http://schemas.microsoft.com/office/drawing/2014/main" id="{3E74AC8B-1734-4984-B1BB-533EF7A8DC1C}"/>
              </a:ext>
            </a:extLst>
          </p:cNvPr>
          <p:cNvSpPr>
            <a:spLocks noGrp="1"/>
          </p:cNvSpPr>
          <p:nvPr>
            <p:ph type="sldNum" sz="quarter" idx="12"/>
          </p:nvPr>
        </p:nvSpPr>
        <p:spPr/>
        <p:txBody>
          <a:bodyPr/>
          <a:lstStyle/>
          <a:p>
            <a:pPr>
              <a:defRPr/>
            </a:pPr>
            <a:fld id="{7FEE665E-3450-413D-913D-057FF7C87532}" type="slidenum">
              <a:rPr lang="en-US" altLang="en-US" smtClean="0"/>
              <a:pPr>
                <a:defRPr/>
              </a:pPr>
              <a:t>43</a:t>
            </a:fld>
            <a:endParaRPr lang="en-US" altLang="en-US"/>
          </a:p>
        </p:txBody>
      </p:sp>
      <p:pic>
        <p:nvPicPr>
          <p:cNvPr id="1026" name="Picture 2" descr="Diagramme montrant les relations entre le domaine et les autres infrastructures.">
            <a:extLst>
              <a:ext uri="{FF2B5EF4-FFF2-40B4-BE49-F238E27FC236}">
                <a16:creationId xmlns:a16="http://schemas.microsoft.com/office/drawing/2014/main" id="{769857A9-19A8-0953-3604-D803FB2EA6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412776"/>
            <a:ext cx="8208466" cy="5112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3194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err="1"/>
              <a:t>EfRepository</a:t>
            </a:r>
            <a:endParaRPr lang="fr-CA" dirty="0"/>
          </a:p>
        </p:txBody>
      </p:sp>
      <p:sp>
        <p:nvSpPr>
          <p:cNvPr id="3" name="Espace réservé du contenu 2"/>
          <p:cNvSpPr>
            <a:spLocks noGrp="1"/>
          </p:cNvSpPr>
          <p:nvPr>
            <p:ph idx="1"/>
          </p:nvPr>
        </p:nvSpPr>
        <p:spPr>
          <a:xfrm>
            <a:off x="228600" y="1403874"/>
            <a:ext cx="8686800" cy="4473398"/>
          </a:xfrm>
        </p:spPr>
        <p:txBody>
          <a:bodyPr>
            <a:normAutofit fontScale="85000" lnSpcReduction="20000"/>
          </a:bodyPr>
          <a:lstStyle/>
          <a:p>
            <a:r>
              <a:rPr lang="fr-CA" sz="2800" dirty="0"/>
              <a:t>Créer un dossier Repositories dans le projet Infrastructure</a:t>
            </a:r>
          </a:p>
          <a:p>
            <a:r>
              <a:rPr lang="fr-CA" sz="2800" dirty="0"/>
              <a:t>Créer dans ce dossier la classe </a:t>
            </a:r>
            <a:r>
              <a:rPr lang="fr-CA" sz="2800" dirty="0" err="1"/>
              <a:t>EfRepository</a:t>
            </a:r>
            <a:r>
              <a:rPr lang="fr-CA" sz="2800" dirty="0"/>
              <a:t> à l’aide du modèle suivant</a:t>
            </a:r>
          </a:p>
          <a:p>
            <a:r>
              <a:rPr lang="fr-CA" sz="2800" dirty="0"/>
              <a:t>Le but de cette classe est de donner accès à un seul type d’entité à la fois à partir d’un contexte</a:t>
            </a:r>
          </a:p>
          <a:p>
            <a:r>
              <a:rPr lang="fr-CA" sz="2800" dirty="0"/>
              <a:t>C’est une forme d’adaptateur (patron de conception « Adapter » de Gamma et al., voir https://refactoring.guru/design-patterns/adapter) </a:t>
            </a:r>
          </a:p>
          <a:p>
            <a:r>
              <a:rPr lang="fr-CA" sz="2800" dirty="0"/>
              <a:t>Permet de convertir l’interface du contexte </a:t>
            </a:r>
            <a:r>
              <a:rPr lang="fr-CA" sz="2800" dirty="0" err="1"/>
              <a:t>Entity</a:t>
            </a:r>
            <a:r>
              <a:rPr lang="fr-CA" sz="2800" dirty="0"/>
              <a:t> Framework en celui du </a:t>
            </a:r>
            <a:r>
              <a:rPr lang="fr-CA" sz="2800" dirty="0" err="1"/>
              <a:t>IAsyncRepository</a:t>
            </a:r>
            <a:r>
              <a:rPr lang="fr-CA" sz="2800" dirty="0"/>
              <a:t> ou du </a:t>
            </a:r>
            <a:r>
              <a:rPr lang="fr-CA" sz="2800" dirty="0" err="1"/>
              <a:t>IRepository</a:t>
            </a:r>
            <a:endParaRPr lang="fr-CA" sz="2800" dirty="0"/>
          </a:p>
          <a:p>
            <a:r>
              <a:rPr lang="fr-CA" sz="2800" dirty="0"/>
              <a:t>Déclarer la classe comme ceci</a:t>
            </a:r>
          </a:p>
          <a:p>
            <a:pPr marL="109728" indent="0">
              <a:buNone/>
            </a:pPr>
            <a:endParaRPr lang="en-US" sz="900" dirty="0"/>
          </a:p>
          <a:p>
            <a:pPr marL="109728" indent="0">
              <a:buNone/>
            </a:pPr>
            <a:r>
              <a:rPr lang="fr-CA" sz="1800" dirty="0">
                <a:solidFill>
                  <a:srgbClr val="0000FF"/>
                </a:solidFill>
                <a:latin typeface="Consolas" panose="020B0609020204030204" pitchFamily="49" charset="0"/>
              </a:rPr>
              <a:t>public</a:t>
            </a:r>
            <a:r>
              <a:rPr lang="fr-CA" sz="1800" dirty="0">
                <a:solidFill>
                  <a:srgbClr val="000000"/>
                </a:solidFill>
                <a:latin typeface="Consolas" panose="020B0609020204030204" pitchFamily="49" charset="0"/>
              </a:rPr>
              <a:t> </a:t>
            </a:r>
            <a:r>
              <a:rPr lang="fr-CA" sz="1800" dirty="0">
                <a:solidFill>
                  <a:srgbClr val="0000FF"/>
                </a:solidFill>
                <a:latin typeface="Consolas" panose="020B0609020204030204" pitchFamily="49" charset="0"/>
              </a:rPr>
              <a:t>class</a:t>
            </a:r>
            <a:r>
              <a:rPr lang="fr-CA" sz="1800" dirty="0">
                <a:solidFill>
                  <a:srgbClr val="000000"/>
                </a:solidFill>
                <a:latin typeface="Consolas" panose="020B0609020204030204" pitchFamily="49" charset="0"/>
              </a:rPr>
              <a:t> </a:t>
            </a:r>
            <a:r>
              <a:rPr lang="fr-CA" sz="1800" dirty="0" err="1">
                <a:solidFill>
                  <a:srgbClr val="2B91AF"/>
                </a:solidFill>
                <a:latin typeface="Consolas" panose="020B0609020204030204" pitchFamily="49" charset="0"/>
              </a:rPr>
              <a:t>EfRepository</a:t>
            </a:r>
            <a:r>
              <a:rPr lang="fr-CA" sz="1800" dirty="0">
                <a:solidFill>
                  <a:srgbClr val="000000"/>
                </a:solidFill>
                <a:latin typeface="Consolas" panose="020B0609020204030204" pitchFamily="49" charset="0"/>
              </a:rPr>
              <a:t>&lt;</a:t>
            </a:r>
            <a:r>
              <a:rPr lang="fr-CA" sz="1800" dirty="0">
                <a:solidFill>
                  <a:srgbClr val="2B91AF"/>
                </a:solidFill>
                <a:latin typeface="Consolas" panose="020B0609020204030204" pitchFamily="49" charset="0"/>
              </a:rPr>
              <a:t>T</a:t>
            </a:r>
            <a:r>
              <a:rPr lang="fr-CA" sz="1800" dirty="0">
                <a:solidFill>
                  <a:srgbClr val="000000"/>
                </a:solidFill>
                <a:latin typeface="Consolas" panose="020B0609020204030204" pitchFamily="49" charset="0"/>
              </a:rPr>
              <a:t>&gt; : </a:t>
            </a:r>
            <a:r>
              <a:rPr lang="fr-CA" sz="1800" dirty="0" err="1">
                <a:solidFill>
                  <a:srgbClr val="000000"/>
                </a:solidFill>
                <a:latin typeface="Consolas" panose="020B0609020204030204" pitchFamily="49" charset="0"/>
              </a:rPr>
              <a:t>IAsyncRepository</a:t>
            </a:r>
            <a:r>
              <a:rPr lang="fr-CA" sz="1800" dirty="0">
                <a:solidFill>
                  <a:srgbClr val="000000"/>
                </a:solidFill>
                <a:latin typeface="Consolas" panose="020B0609020204030204" pitchFamily="49" charset="0"/>
              </a:rPr>
              <a:t>&lt;T&gt;, </a:t>
            </a:r>
            <a:r>
              <a:rPr lang="fr-CA" sz="1800" dirty="0" err="1">
                <a:solidFill>
                  <a:srgbClr val="000000"/>
                </a:solidFill>
                <a:latin typeface="Consolas" panose="020B0609020204030204" pitchFamily="49" charset="0"/>
              </a:rPr>
              <a:t>IRepository</a:t>
            </a:r>
            <a:r>
              <a:rPr lang="fr-CA" sz="1800" dirty="0">
                <a:solidFill>
                  <a:srgbClr val="000000"/>
                </a:solidFill>
                <a:latin typeface="Consolas" panose="020B0609020204030204" pitchFamily="49" charset="0"/>
              </a:rPr>
              <a:t>&lt;T&gt; </a:t>
            </a:r>
            <a:r>
              <a:rPr lang="fr-CA" sz="1800" dirty="0" err="1">
                <a:solidFill>
                  <a:srgbClr val="0000FF"/>
                </a:solidFill>
                <a:latin typeface="Consolas" panose="020B0609020204030204" pitchFamily="49" charset="0"/>
              </a:rPr>
              <a:t>where</a:t>
            </a:r>
            <a:r>
              <a:rPr lang="fr-CA" sz="1800" dirty="0">
                <a:solidFill>
                  <a:srgbClr val="000000"/>
                </a:solidFill>
                <a:latin typeface="Consolas" panose="020B0609020204030204" pitchFamily="49" charset="0"/>
              </a:rPr>
              <a:t> T : </a:t>
            </a:r>
          </a:p>
          <a:p>
            <a:pPr marL="109728" indent="0">
              <a:buNone/>
            </a:pPr>
            <a:r>
              <a:rPr lang="fr-CA" sz="1800" dirty="0">
                <a:solidFill>
                  <a:srgbClr val="000000"/>
                </a:solidFill>
                <a:latin typeface="Consolas" panose="020B0609020204030204" pitchFamily="49" charset="0"/>
              </a:rPr>
              <a:t>					</a:t>
            </a:r>
            <a:r>
              <a:rPr lang="fr-CA" sz="1800" dirty="0" err="1">
                <a:solidFill>
                  <a:srgbClr val="000000"/>
                </a:solidFill>
                <a:latin typeface="Consolas" panose="020B0609020204030204" pitchFamily="49" charset="0"/>
              </a:rPr>
              <a:t>BaseEntity</a:t>
            </a:r>
            <a:r>
              <a:rPr lang="fr-CA" sz="1800" dirty="0">
                <a:solidFill>
                  <a:srgbClr val="000000"/>
                </a:solidFill>
                <a:latin typeface="Consolas" panose="020B0609020204030204" pitchFamily="49" charset="0"/>
              </a:rPr>
              <a:t>, </a:t>
            </a:r>
            <a:r>
              <a:rPr lang="fr-CA" sz="1800" dirty="0" err="1">
                <a:solidFill>
                  <a:srgbClr val="000000"/>
                </a:solidFill>
                <a:latin typeface="Consolas" panose="020B0609020204030204" pitchFamily="49" charset="0"/>
              </a:rPr>
              <a:t>IAggregateRoot</a:t>
            </a:r>
            <a:endParaRPr lang="en-US" dirty="0"/>
          </a:p>
        </p:txBody>
      </p:sp>
      <p:sp>
        <p:nvSpPr>
          <p:cNvPr id="4" name="Espace réservé du numéro de diapositive 3">
            <a:extLst>
              <a:ext uri="{FF2B5EF4-FFF2-40B4-BE49-F238E27FC236}">
                <a16:creationId xmlns:a16="http://schemas.microsoft.com/office/drawing/2014/main" id="{3E74AC8B-1734-4984-B1BB-533EF7A8DC1C}"/>
              </a:ext>
            </a:extLst>
          </p:cNvPr>
          <p:cNvSpPr>
            <a:spLocks noGrp="1"/>
          </p:cNvSpPr>
          <p:nvPr>
            <p:ph type="sldNum" sz="quarter" idx="12"/>
          </p:nvPr>
        </p:nvSpPr>
        <p:spPr/>
        <p:txBody>
          <a:bodyPr/>
          <a:lstStyle/>
          <a:p>
            <a:pPr>
              <a:defRPr/>
            </a:pPr>
            <a:fld id="{7FEE665E-3450-413D-913D-057FF7C87532}" type="slidenum">
              <a:rPr lang="en-US" altLang="en-US" smtClean="0"/>
              <a:pPr>
                <a:defRPr/>
              </a:pPr>
              <a:t>44</a:t>
            </a:fld>
            <a:endParaRPr lang="en-US" altLang="en-US"/>
          </a:p>
        </p:txBody>
      </p:sp>
    </p:spTree>
    <p:extLst>
      <p:ext uri="{BB962C8B-B14F-4D97-AF65-F5344CB8AC3E}">
        <p14:creationId xmlns:p14="http://schemas.microsoft.com/office/powerpoint/2010/main" val="3680960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err="1"/>
              <a:t>EfRepository</a:t>
            </a:r>
            <a:endParaRPr lang="fr-CA" dirty="0"/>
          </a:p>
        </p:txBody>
      </p:sp>
      <p:sp>
        <p:nvSpPr>
          <p:cNvPr id="3" name="Espace réservé du contenu 2"/>
          <p:cNvSpPr>
            <a:spLocks noGrp="1"/>
          </p:cNvSpPr>
          <p:nvPr>
            <p:ph idx="1"/>
          </p:nvPr>
        </p:nvSpPr>
        <p:spPr/>
        <p:txBody>
          <a:bodyPr>
            <a:normAutofit/>
          </a:bodyPr>
          <a:lstStyle/>
          <a:p>
            <a:r>
              <a:rPr lang="fr-CA" sz="2400" dirty="0"/>
              <a:t>Ajouter un constructeur et un attribut pour conserver le contexte à utiliser lors des appels:</a:t>
            </a:r>
          </a:p>
          <a:p>
            <a:endParaRPr lang="en-US" dirty="0"/>
          </a:p>
          <a:p>
            <a:pPr marL="0" indent="0">
              <a:buNone/>
            </a:pPr>
            <a:r>
              <a:rPr lang="fr-CA" sz="1600" dirty="0" err="1">
                <a:solidFill>
                  <a:srgbClr val="0000FF"/>
                </a:solidFill>
                <a:latin typeface="Consolas" panose="020B0609020204030204" pitchFamily="49" charset="0"/>
              </a:rPr>
              <a:t>protected</a:t>
            </a:r>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readonly</a:t>
            </a: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SystèmeGestionStationServiceContext</a:t>
            </a:r>
            <a:r>
              <a:rPr lang="fr-CA" sz="1600" dirty="0">
                <a:solidFill>
                  <a:srgbClr val="000000"/>
                </a:solidFill>
                <a:latin typeface="Consolas" panose="020B0609020204030204" pitchFamily="49" charset="0"/>
              </a:rPr>
              <a:t> </a:t>
            </a:r>
          </a:p>
          <a:p>
            <a:pPr marL="0" indent="0">
              <a:buNone/>
            </a:pPr>
            <a:r>
              <a:rPr lang="fr-CA" sz="1600" dirty="0">
                <a:solidFill>
                  <a:srgbClr val="000000"/>
                </a:solidFill>
                <a:latin typeface="Consolas" panose="020B0609020204030204" pitchFamily="49" charset="0"/>
              </a:rPr>
              <a:t>	_</a:t>
            </a:r>
            <a:r>
              <a:rPr lang="fr-CA" sz="1600" dirty="0" err="1">
                <a:solidFill>
                  <a:srgbClr val="000000"/>
                </a:solidFill>
                <a:latin typeface="Consolas" panose="020B0609020204030204" pitchFamily="49" charset="0"/>
              </a:rPr>
              <a:t>SystèmeGestionStationServiceContext</a:t>
            </a:r>
            <a:r>
              <a:rPr lang="fr-CA" sz="1600" dirty="0">
                <a:solidFill>
                  <a:srgbClr val="000000"/>
                </a:solidFill>
                <a:latin typeface="Consolas" panose="020B0609020204030204" pitchFamily="49" charset="0"/>
              </a:rPr>
              <a:t>;</a:t>
            </a:r>
          </a:p>
          <a:p>
            <a:pPr marL="0" indent="0">
              <a:buNone/>
            </a:pPr>
            <a:endParaRPr lang="fr-CA" sz="1600" dirty="0">
              <a:solidFill>
                <a:srgbClr val="000000"/>
              </a:solidFill>
              <a:latin typeface="Consolas" panose="020B0609020204030204" pitchFamily="49" charset="0"/>
            </a:endParaRPr>
          </a:p>
          <a:p>
            <a:pPr marL="0" indent="0">
              <a:buNone/>
            </a:pPr>
            <a:r>
              <a:rPr lang="fr-CA" sz="1600" dirty="0">
                <a:solidFill>
                  <a:srgbClr val="0000FF"/>
                </a:solidFill>
                <a:latin typeface="Consolas" panose="020B0609020204030204" pitchFamily="49" charset="0"/>
              </a:rPr>
              <a:t>public</a:t>
            </a:r>
            <a:r>
              <a:rPr lang="fr-CA" sz="1600" dirty="0">
                <a:solidFill>
                  <a:srgbClr val="000000"/>
                </a:solidFill>
                <a:latin typeface="Consolas" panose="020B0609020204030204" pitchFamily="49" charset="0"/>
              </a:rPr>
              <a:t> </a:t>
            </a:r>
            <a:r>
              <a:rPr lang="fr-CA" sz="1600" dirty="0" err="1">
                <a:solidFill>
                  <a:srgbClr val="2B91AF"/>
                </a:solidFill>
                <a:latin typeface="Consolas" panose="020B0609020204030204" pitchFamily="49" charset="0"/>
              </a:rPr>
              <a:t>EfRepository</a:t>
            </a:r>
            <a:r>
              <a:rPr lang="fr-CA" sz="1600" dirty="0">
                <a:solidFill>
                  <a:srgbClr val="000000"/>
                </a:solidFill>
                <a:latin typeface="Consolas" panose="020B0609020204030204" pitchFamily="49" charset="0"/>
              </a:rPr>
              <a:t>(</a:t>
            </a:r>
            <a:r>
              <a:rPr lang="fr-CA" sz="1600" dirty="0" err="1">
                <a:solidFill>
                  <a:srgbClr val="000000"/>
                </a:solidFill>
                <a:latin typeface="Consolas" panose="020B0609020204030204" pitchFamily="49" charset="0"/>
              </a:rPr>
              <a:t>SystèmeGestionStationServiceContext</a:t>
            </a:r>
            <a:r>
              <a:rPr lang="fr-CA" sz="1600" dirty="0">
                <a:solidFill>
                  <a:srgbClr val="000000"/>
                </a:solidFill>
                <a:latin typeface="Consolas" panose="020B0609020204030204" pitchFamily="49" charset="0"/>
              </a:rPr>
              <a:t> </a:t>
            </a:r>
          </a:p>
          <a:p>
            <a:pPr marL="0" indent="0">
              <a:buNone/>
            </a:pP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systèmeGestionStationServiceContext</a:t>
            </a:r>
            <a:r>
              <a:rPr lang="fr-CA" sz="1600" dirty="0">
                <a:solidFill>
                  <a:srgbClr val="000000"/>
                </a:solidFill>
                <a:latin typeface="Consolas" panose="020B0609020204030204" pitchFamily="49" charset="0"/>
              </a:rPr>
              <a:t>)</a:t>
            </a:r>
          </a:p>
          <a:p>
            <a:pPr marL="0" indent="0">
              <a:buNone/>
            </a:pPr>
            <a:r>
              <a:rPr lang="fr-CA" sz="1600" dirty="0">
                <a:solidFill>
                  <a:srgbClr val="000000"/>
                </a:solidFill>
                <a:latin typeface="Consolas" panose="020B0609020204030204" pitchFamily="49" charset="0"/>
              </a:rPr>
              <a:t>  {</a:t>
            </a:r>
          </a:p>
          <a:p>
            <a:pPr marL="0" indent="0">
              <a:buNone/>
            </a:pPr>
            <a:r>
              <a:rPr lang="fr-CA" sz="1600" dirty="0">
                <a:solidFill>
                  <a:srgbClr val="000000"/>
                </a:solidFill>
                <a:latin typeface="Consolas" panose="020B0609020204030204" pitchFamily="49" charset="0"/>
              </a:rPr>
              <a:t>  	 _</a:t>
            </a:r>
            <a:r>
              <a:rPr lang="fr-CA" sz="1600" dirty="0" err="1">
                <a:solidFill>
                  <a:srgbClr val="000000"/>
                </a:solidFill>
                <a:latin typeface="Consolas" panose="020B0609020204030204" pitchFamily="49" charset="0"/>
              </a:rPr>
              <a:t>SystèmeGestionStationServiceContext</a:t>
            </a:r>
            <a:r>
              <a:rPr lang="fr-CA" sz="1600" dirty="0">
                <a:solidFill>
                  <a:srgbClr val="000000"/>
                </a:solidFill>
                <a:latin typeface="Consolas" panose="020B0609020204030204" pitchFamily="49" charset="0"/>
              </a:rPr>
              <a:t> = </a:t>
            </a:r>
          </a:p>
          <a:p>
            <a:pPr marL="0" indent="0">
              <a:buNone/>
            </a:pP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systèmeGestionStationServiceContext</a:t>
            </a:r>
            <a:r>
              <a:rPr lang="fr-CA" sz="1600" dirty="0">
                <a:solidFill>
                  <a:srgbClr val="000000"/>
                </a:solidFill>
                <a:latin typeface="Consolas" panose="020B0609020204030204" pitchFamily="49" charset="0"/>
              </a:rPr>
              <a:t>;</a:t>
            </a:r>
          </a:p>
          <a:p>
            <a:pPr marL="0" indent="0">
              <a:buNone/>
            </a:pPr>
            <a:r>
              <a:rPr lang="fr-CA" sz="1600" dirty="0">
                <a:solidFill>
                  <a:srgbClr val="000000"/>
                </a:solidFill>
                <a:latin typeface="Consolas" panose="020B0609020204030204" pitchFamily="49" charset="0"/>
              </a:rPr>
              <a:t>  }</a:t>
            </a:r>
            <a:endParaRPr lang="fr-CA" sz="1600" dirty="0"/>
          </a:p>
        </p:txBody>
      </p:sp>
      <p:sp>
        <p:nvSpPr>
          <p:cNvPr id="4" name="Espace réservé du numéro de diapositive 3">
            <a:extLst>
              <a:ext uri="{FF2B5EF4-FFF2-40B4-BE49-F238E27FC236}">
                <a16:creationId xmlns:a16="http://schemas.microsoft.com/office/drawing/2014/main" id="{C518A0DC-CDCD-43C7-9987-DB0ABB11E59D}"/>
              </a:ext>
            </a:extLst>
          </p:cNvPr>
          <p:cNvSpPr>
            <a:spLocks noGrp="1"/>
          </p:cNvSpPr>
          <p:nvPr>
            <p:ph type="sldNum" sz="quarter" idx="12"/>
          </p:nvPr>
        </p:nvSpPr>
        <p:spPr/>
        <p:txBody>
          <a:bodyPr/>
          <a:lstStyle/>
          <a:p>
            <a:pPr>
              <a:defRPr/>
            </a:pPr>
            <a:fld id="{7FEE665E-3450-413D-913D-057FF7C87532}" type="slidenum">
              <a:rPr lang="en-US" altLang="en-US" smtClean="0"/>
              <a:pPr>
                <a:defRPr/>
              </a:pPr>
              <a:t>45</a:t>
            </a:fld>
            <a:endParaRPr lang="en-US" altLang="en-US"/>
          </a:p>
        </p:txBody>
      </p:sp>
    </p:spTree>
    <p:extLst>
      <p:ext uri="{BB962C8B-B14F-4D97-AF65-F5344CB8AC3E}">
        <p14:creationId xmlns:p14="http://schemas.microsoft.com/office/powerpoint/2010/main" val="2296530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err="1"/>
              <a:t>EfRepository</a:t>
            </a:r>
            <a:endParaRPr lang="fr-CA" dirty="0"/>
          </a:p>
        </p:txBody>
      </p:sp>
      <p:sp>
        <p:nvSpPr>
          <p:cNvPr id="3" name="Espace réservé du contenu 2"/>
          <p:cNvSpPr>
            <a:spLocks noGrp="1"/>
          </p:cNvSpPr>
          <p:nvPr>
            <p:ph idx="1"/>
          </p:nvPr>
        </p:nvSpPr>
        <p:spPr/>
        <p:txBody>
          <a:bodyPr>
            <a:normAutofit fontScale="92500" lnSpcReduction="20000"/>
          </a:bodyPr>
          <a:lstStyle/>
          <a:p>
            <a:r>
              <a:rPr lang="fr-CA" sz="2400" dirty="0"/>
              <a:t>Implémenter toutes les méthodes de </a:t>
            </a:r>
            <a:r>
              <a:rPr lang="en-US" sz="2400" dirty="0" err="1"/>
              <a:t>IAsyncRepository</a:t>
            </a:r>
            <a:r>
              <a:rPr lang="en-US" sz="2400" dirty="0"/>
              <a:t> et </a:t>
            </a:r>
            <a:r>
              <a:rPr lang="en-US" sz="2400" dirty="0" err="1"/>
              <a:t>IRepository</a:t>
            </a:r>
            <a:r>
              <a:rPr lang="en-US" sz="2400" dirty="0"/>
              <a:t> </a:t>
            </a:r>
            <a:r>
              <a:rPr lang="fr-CA" sz="2400" dirty="0"/>
              <a:t>en déléguant le travail </a:t>
            </a:r>
            <a:r>
              <a:rPr lang="fr-CA" sz="2400"/>
              <a:t>au contexte</a:t>
            </a:r>
            <a:endParaRPr lang="en-US" sz="2400" dirty="0"/>
          </a:p>
          <a:p>
            <a:pPr lvl="1"/>
            <a:r>
              <a:rPr lang="fr-CA" sz="2100" dirty="0"/>
              <a:t>Si vous allez </a:t>
            </a:r>
            <a:r>
              <a:rPr lang="fr-CA" sz="2100" dirty="0" err="1"/>
              <a:t>utilser</a:t>
            </a:r>
            <a:r>
              <a:rPr lang="fr-CA" sz="2100" dirty="0"/>
              <a:t> seulement asynchrone, vous pouvez choisir de ne pas </a:t>
            </a:r>
            <a:r>
              <a:rPr lang="fr-CA" sz="2100" dirty="0" err="1"/>
              <a:t>implementer</a:t>
            </a:r>
            <a:r>
              <a:rPr lang="fr-CA" sz="2100" dirty="0"/>
              <a:t> l’interface </a:t>
            </a:r>
            <a:r>
              <a:rPr lang="fr-CA" sz="2100" dirty="0" err="1"/>
              <a:t>IRepository</a:t>
            </a:r>
            <a:endParaRPr lang="en-US" sz="2400" dirty="0"/>
          </a:p>
          <a:p>
            <a:r>
              <a:rPr lang="en-US" sz="2400" dirty="0"/>
              <a:t>Les </a:t>
            </a:r>
            <a:r>
              <a:rPr lang="fr-CA" sz="2400" dirty="0"/>
              <a:t>méthodes</a:t>
            </a:r>
            <a:r>
              <a:rPr lang="en-US" sz="2400" dirty="0"/>
              <a:t> </a:t>
            </a:r>
            <a:r>
              <a:rPr lang="fr-CA" sz="2400" dirty="0" err="1"/>
              <a:t>GetByIdAsync</a:t>
            </a:r>
            <a:r>
              <a:rPr lang="fr-CA" sz="2400" dirty="0"/>
              <a:t> et </a:t>
            </a:r>
            <a:r>
              <a:rPr lang="fr-CA" sz="2400" dirty="0" err="1"/>
              <a:t>ListAllAsync</a:t>
            </a:r>
            <a:r>
              <a:rPr lang="fr-CA" sz="2400" dirty="0"/>
              <a:t> ont une correspondance simple :</a:t>
            </a:r>
          </a:p>
          <a:p>
            <a:pPr marL="0" indent="0">
              <a:buNone/>
            </a:pPr>
            <a:endParaRPr lang="fr-CA" sz="1800" dirty="0">
              <a:solidFill>
                <a:srgbClr val="0000FF"/>
              </a:solidFill>
              <a:latin typeface="Consolas" panose="020B0609020204030204" pitchFamily="49" charset="0"/>
            </a:endParaRPr>
          </a:p>
          <a:p>
            <a:pPr marL="0" indent="0">
              <a:buNone/>
            </a:pPr>
            <a:r>
              <a:rPr lang="fr-CA" sz="1800" dirty="0">
                <a:solidFill>
                  <a:srgbClr val="0000FF"/>
                </a:solidFill>
                <a:latin typeface="Consolas" panose="020B0609020204030204" pitchFamily="49" charset="0"/>
              </a:rPr>
              <a:t>   </a:t>
            </a:r>
            <a:r>
              <a:rPr lang="fr-CA" sz="1700" dirty="0">
                <a:solidFill>
                  <a:srgbClr val="0000FF"/>
                </a:solidFill>
                <a:latin typeface="Consolas" panose="020B0609020204030204" pitchFamily="49" charset="0"/>
              </a:rPr>
              <a:t>public</a:t>
            </a:r>
            <a:r>
              <a:rPr lang="fr-CA" sz="1700" dirty="0">
                <a:solidFill>
                  <a:srgbClr val="000000"/>
                </a:solidFill>
                <a:latin typeface="Consolas" panose="020B0609020204030204" pitchFamily="49" charset="0"/>
              </a:rPr>
              <a:t> </a:t>
            </a:r>
            <a:r>
              <a:rPr lang="fr-CA" sz="1700" dirty="0" err="1">
                <a:solidFill>
                  <a:srgbClr val="0000FF"/>
                </a:solidFill>
                <a:latin typeface="Consolas" panose="020B0609020204030204" pitchFamily="49" charset="0"/>
              </a:rPr>
              <a:t>async</a:t>
            </a:r>
            <a:r>
              <a:rPr lang="fr-CA" sz="1700" dirty="0">
                <a:solidFill>
                  <a:srgbClr val="000000"/>
                </a:solidFill>
                <a:latin typeface="Consolas" panose="020B0609020204030204" pitchFamily="49" charset="0"/>
              </a:rPr>
              <a:t> </a:t>
            </a:r>
            <a:r>
              <a:rPr lang="fr-CA" sz="1700" dirty="0" err="1">
                <a:solidFill>
                  <a:srgbClr val="000000"/>
                </a:solidFill>
                <a:latin typeface="Consolas" panose="020B0609020204030204" pitchFamily="49" charset="0"/>
              </a:rPr>
              <a:t>Task</a:t>
            </a:r>
            <a:r>
              <a:rPr lang="fr-CA" sz="1700" dirty="0">
                <a:solidFill>
                  <a:srgbClr val="000000"/>
                </a:solidFill>
                <a:latin typeface="Consolas" panose="020B0609020204030204" pitchFamily="49" charset="0"/>
              </a:rPr>
              <a:t>&lt;T&gt; </a:t>
            </a:r>
            <a:r>
              <a:rPr lang="fr-CA" sz="1700" dirty="0" err="1">
                <a:solidFill>
                  <a:srgbClr val="000000"/>
                </a:solidFill>
                <a:latin typeface="Consolas" panose="020B0609020204030204" pitchFamily="49" charset="0"/>
              </a:rPr>
              <a:t>GetByIdAsync</a:t>
            </a:r>
            <a:r>
              <a:rPr lang="fr-CA" sz="1700" dirty="0">
                <a:solidFill>
                  <a:srgbClr val="000000"/>
                </a:solidFill>
                <a:latin typeface="Consolas" panose="020B0609020204030204" pitchFamily="49" charset="0"/>
              </a:rPr>
              <a:t>(</a:t>
            </a:r>
            <a:r>
              <a:rPr lang="fr-CA" sz="1700" dirty="0" err="1">
                <a:solidFill>
                  <a:srgbClr val="0000FF"/>
                </a:solidFill>
                <a:latin typeface="Consolas" panose="020B0609020204030204" pitchFamily="49" charset="0"/>
              </a:rPr>
              <a:t>int</a:t>
            </a:r>
            <a:r>
              <a:rPr lang="fr-CA" sz="1700" dirty="0">
                <a:solidFill>
                  <a:srgbClr val="000000"/>
                </a:solidFill>
                <a:latin typeface="Consolas" panose="020B0609020204030204" pitchFamily="49" charset="0"/>
              </a:rPr>
              <a:t> id)</a:t>
            </a:r>
          </a:p>
          <a:p>
            <a:pPr marL="0" indent="0">
              <a:buNone/>
            </a:pPr>
            <a:r>
              <a:rPr lang="fr-CA" sz="1700" dirty="0">
                <a:solidFill>
                  <a:srgbClr val="000000"/>
                </a:solidFill>
                <a:latin typeface="Consolas" panose="020B0609020204030204" pitchFamily="49" charset="0"/>
              </a:rPr>
              <a:t>    {</a:t>
            </a:r>
          </a:p>
          <a:p>
            <a:pPr marL="0" indent="0">
              <a:buNone/>
            </a:pPr>
            <a:r>
              <a:rPr lang="fr-CA" sz="1700" dirty="0">
                <a:solidFill>
                  <a:srgbClr val="000000"/>
                </a:solidFill>
                <a:latin typeface="Consolas" panose="020B0609020204030204" pitchFamily="49" charset="0"/>
              </a:rPr>
              <a:t>       </a:t>
            </a:r>
            <a:r>
              <a:rPr lang="fr-CA" sz="1700" dirty="0">
                <a:solidFill>
                  <a:srgbClr val="0000FF"/>
                </a:solidFill>
                <a:latin typeface="Consolas" panose="020B0609020204030204" pitchFamily="49" charset="0"/>
              </a:rPr>
              <a:t>return</a:t>
            </a:r>
            <a:r>
              <a:rPr lang="fr-CA" sz="1700" dirty="0">
                <a:solidFill>
                  <a:srgbClr val="000000"/>
                </a:solidFill>
                <a:latin typeface="Consolas" panose="020B0609020204030204" pitchFamily="49" charset="0"/>
              </a:rPr>
              <a:t> </a:t>
            </a:r>
            <a:r>
              <a:rPr lang="fr-CA" sz="1700" dirty="0" err="1">
                <a:solidFill>
                  <a:srgbClr val="0000FF"/>
                </a:solidFill>
                <a:latin typeface="Consolas" panose="020B0609020204030204" pitchFamily="49" charset="0"/>
              </a:rPr>
              <a:t>await</a:t>
            </a:r>
            <a:r>
              <a:rPr lang="fr-CA" sz="1700" dirty="0">
                <a:solidFill>
                  <a:srgbClr val="000000"/>
                </a:solidFill>
                <a:latin typeface="Consolas" panose="020B0609020204030204" pitchFamily="49" charset="0"/>
              </a:rPr>
              <a:t> </a:t>
            </a:r>
          </a:p>
          <a:p>
            <a:pPr marL="0" indent="0">
              <a:buNone/>
            </a:pPr>
            <a:r>
              <a:rPr lang="fr-CA" sz="1700" dirty="0">
                <a:solidFill>
                  <a:srgbClr val="000000"/>
                </a:solidFill>
                <a:latin typeface="Consolas" panose="020B0609020204030204" pitchFamily="49" charset="0"/>
              </a:rPr>
              <a:t>        _</a:t>
            </a:r>
            <a:r>
              <a:rPr lang="fr-CA" sz="1700" dirty="0" err="1">
                <a:solidFill>
                  <a:srgbClr val="000000"/>
                </a:solidFill>
                <a:latin typeface="Consolas" panose="020B0609020204030204" pitchFamily="49" charset="0"/>
              </a:rPr>
              <a:t>SystèmeGestionStationServiceContext.Set</a:t>
            </a:r>
            <a:r>
              <a:rPr lang="fr-CA" sz="1700" dirty="0">
                <a:solidFill>
                  <a:srgbClr val="000000"/>
                </a:solidFill>
                <a:latin typeface="Consolas" panose="020B0609020204030204" pitchFamily="49" charset="0"/>
              </a:rPr>
              <a:t>&lt;T&gt;().</a:t>
            </a:r>
            <a:r>
              <a:rPr lang="fr-CA" sz="1700" dirty="0" err="1">
                <a:solidFill>
                  <a:srgbClr val="000000"/>
                </a:solidFill>
                <a:latin typeface="Consolas" panose="020B0609020204030204" pitchFamily="49" charset="0"/>
              </a:rPr>
              <a:t>FindAsync</a:t>
            </a:r>
            <a:r>
              <a:rPr lang="fr-CA" sz="1700" dirty="0">
                <a:solidFill>
                  <a:srgbClr val="000000"/>
                </a:solidFill>
                <a:latin typeface="Consolas" panose="020B0609020204030204" pitchFamily="49" charset="0"/>
              </a:rPr>
              <a:t>(id);</a:t>
            </a:r>
          </a:p>
          <a:p>
            <a:pPr marL="0" indent="0">
              <a:buNone/>
            </a:pPr>
            <a:r>
              <a:rPr lang="fr-CA" sz="1700" dirty="0">
                <a:solidFill>
                  <a:srgbClr val="000000"/>
                </a:solidFill>
                <a:latin typeface="Consolas" panose="020B0609020204030204" pitchFamily="49" charset="0"/>
              </a:rPr>
              <a:t>    }</a:t>
            </a:r>
          </a:p>
          <a:p>
            <a:pPr marL="0" indent="0">
              <a:buNone/>
            </a:pPr>
            <a:r>
              <a:rPr lang="en-US" sz="1700" dirty="0">
                <a:solidFill>
                  <a:srgbClr val="000000"/>
                </a:solidFill>
                <a:latin typeface="Consolas" panose="020B0609020204030204" pitchFamily="49" charset="0"/>
              </a:rPr>
              <a:t>   </a:t>
            </a:r>
            <a:endParaRPr lang="fr-CA" sz="1700" dirty="0">
              <a:solidFill>
                <a:srgbClr val="000000"/>
              </a:solidFill>
              <a:latin typeface="Consolas" panose="020B0609020204030204" pitchFamily="49" charset="0"/>
            </a:endParaRPr>
          </a:p>
          <a:p>
            <a:pPr marL="0" indent="0">
              <a:buNone/>
            </a:pPr>
            <a:r>
              <a:rPr lang="fr-CA" sz="1700" dirty="0">
                <a:solidFill>
                  <a:srgbClr val="000000"/>
                </a:solidFill>
                <a:latin typeface="Consolas" panose="020B0609020204030204" pitchFamily="49" charset="0"/>
              </a:rPr>
              <a:t>   </a:t>
            </a:r>
            <a:r>
              <a:rPr lang="fr-CA" sz="1700" dirty="0">
                <a:solidFill>
                  <a:srgbClr val="0000FF"/>
                </a:solidFill>
                <a:latin typeface="Consolas" panose="020B0609020204030204" pitchFamily="49" charset="0"/>
              </a:rPr>
              <a:t>public</a:t>
            </a:r>
            <a:r>
              <a:rPr lang="fr-CA" sz="1700" dirty="0">
                <a:solidFill>
                  <a:srgbClr val="000000"/>
                </a:solidFill>
                <a:latin typeface="Consolas" panose="020B0609020204030204" pitchFamily="49" charset="0"/>
              </a:rPr>
              <a:t> </a:t>
            </a:r>
            <a:r>
              <a:rPr lang="fr-CA" sz="1700" dirty="0" err="1">
                <a:solidFill>
                  <a:srgbClr val="0000FF"/>
                </a:solidFill>
                <a:latin typeface="Consolas" panose="020B0609020204030204" pitchFamily="49" charset="0"/>
              </a:rPr>
              <a:t>async</a:t>
            </a:r>
            <a:r>
              <a:rPr lang="fr-CA" sz="1700" dirty="0">
                <a:solidFill>
                  <a:srgbClr val="000000"/>
                </a:solidFill>
                <a:latin typeface="Consolas" panose="020B0609020204030204" pitchFamily="49" charset="0"/>
              </a:rPr>
              <a:t> </a:t>
            </a:r>
            <a:r>
              <a:rPr lang="fr-CA" sz="1700" dirty="0" err="1">
                <a:solidFill>
                  <a:srgbClr val="000000"/>
                </a:solidFill>
                <a:latin typeface="Consolas" panose="020B0609020204030204" pitchFamily="49" charset="0"/>
              </a:rPr>
              <a:t>Task</a:t>
            </a:r>
            <a:r>
              <a:rPr lang="fr-CA" sz="1700" dirty="0">
                <a:solidFill>
                  <a:srgbClr val="000000"/>
                </a:solidFill>
                <a:latin typeface="Consolas" panose="020B0609020204030204" pitchFamily="49" charset="0"/>
              </a:rPr>
              <a:t>&lt;</a:t>
            </a:r>
            <a:r>
              <a:rPr lang="fr-CA" sz="1700" dirty="0" err="1">
                <a:solidFill>
                  <a:srgbClr val="000000"/>
                </a:solidFill>
                <a:latin typeface="Consolas" panose="020B0609020204030204" pitchFamily="49" charset="0"/>
              </a:rPr>
              <a:t>IReadOnlyList</a:t>
            </a:r>
            <a:r>
              <a:rPr lang="fr-CA" sz="1700" dirty="0">
                <a:solidFill>
                  <a:srgbClr val="000000"/>
                </a:solidFill>
                <a:latin typeface="Consolas" panose="020B0609020204030204" pitchFamily="49" charset="0"/>
              </a:rPr>
              <a:t>&lt;T&gt;&gt; </a:t>
            </a:r>
            <a:r>
              <a:rPr lang="fr-CA" sz="1700" dirty="0" err="1">
                <a:solidFill>
                  <a:srgbClr val="000000"/>
                </a:solidFill>
                <a:latin typeface="Consolas" panose="020B0609020204030204" pitchFamily="49" charset="0"/>
              </a:rPr>
              <a:t>ListAllAsync</a:t>
            </a:r>
            <a:r>
              <a:rPr lang="fr-CA" sz="1700" dirty="0">
                <a:solidFill>
                  <a:srgbClr val="000000"/>
                </a:solidFill>
                <a:latin typeface="Consolas" panose="020B0609020204030204" pitchFamily="49" charset="0"/>
              </a:rPr>
              <a:t>()</a:t>
            </a:r>
          </a:p>
          <a:p>
            <a:pPr marL="0" indent="0">
              <a:buNone/>
            </a:pPr>
            <a:r>
              <a:rPr lang="fr-CA" sz="1700" dirty="0">
                <a:solidFill>
                  <a:srgbClr val="000000"/>
                </a:solidFill>
                <a:latin typeface="Consolas" panose="020B0609020204030204" pitchFamily="49" charset="0"/>
              </a:rPr>
              <a:t>    {</a:t>
            </a:r>
          </a:p>
          <a:p>
            <a:pPr marL="0" indent="0">
              <a:buNone/>
            </a:pPr>
            <a:r>
              <a:rPr lang="fr-CA" sz="1700" dirty="0">
                <a:solidFill>
                  <a:srgbClr val="000000"/>
                </a:solidFill>
                <a:latin typeface="Consolas" panose="020B0609020204030204" pitchFamily="49" charset="0"/>
              </a:rPr>
              <a:t>      </a:t>
            </a:r>
            <a:r>
              <a:rPr lang="fr-CA" sz="1700" dirty="0">
                <a:solidFill>
                  <a:srgbClr val="0000FF"/>
                </a:solidFill>
                <a:latin typeface="Consolas" panose="020B0609020204030204" pitchFamily="49" charset="0"/>
              </a:rPr>
              <a:t>return</a:t>
            </a:r>
            <a:r>
              <a:rPr lang="fr-CA" sz="1700" dirty="0">
                <a:solidFill>
                  <a:srgbClr val="000000"/>
                </a:solidFill>
                <a:latin typeface="Consolas" panose="020B0609020204030204" pitchFamily="49" charset="0"/>
              </a:rPr>
              <a:t> </a:t>
            </a:r>
            <a:r>
              <a:rPr lang="fr-CA" sz="1700" dirty="0" err="1">
                <a:solidFill>
                  <a:srgbClr val="0000FF"/>
                </a:solidFill>
                <a:latin typeface="Consolas" panose="020B0609020204030204" pitchFamily="49" charset="0"/>
              </a:rPr>
              <a:t>await</a:t>
            </a:r>
            <a:r>
              <a:rPr lang="fr-CA" sz="1700" dirty="0">
                <a:solidFill>
                  <a:srgbClr val="000000"/>
                </a:solidFill>
                <a:latin typeface="Consolas" panose="020B0609020204030204" pitchFamily="49" charset="0"/>
              </a:rPr>
              <a:t> </a:t>
            </a:r>
          </a:p>
          <a:p>
            <a:pPr marL="0" indent="0">
              <a:buNone/>
            </a:pPr>
            <a:r>
              <a:rPr lang="fr-CA" sz="1700" dirty="0">
                <a:solidFill>
                  <a:srgbClr val="000000"/>
                </a:solidFill>
                <a:latin typeface="Consolas" panose="020B0609020204030204" pitchFamily="49" charset="0"/>
              </a:rPr>
              <a:t>        _</a:t>
            </a:r>
            <a:r>
              <a:rPr lang="fr-CA" sz="1700" dirty="0" err="1">
                <a:solidFill>
                  <a:srgbClr val="000000"/>
                </a:solidFill>
                <a:latin typeface="Consolas" panose="020B0609020204030204" pitchFamily="49" charset="0"/>
              </a:rPr>
              <a:t>SystèmeGestionStationServiceContext.Set</a:t>
            </a:r>
            <a:r>
              <a:rPr lang="fr-CA" sz="1700" dirty="0">
                <a:solidFill>
                  <a:srgbClr val="000000"/>
                </a:solidFill>
                <a:latin typeface="Consolas" panose="020B0609020204030204" pitchFamily="49" charset="0"/>
              </a:rPr>
              <a:t>&lt;T&gt;().</a:t>
            </a:r>
            <a:r>
              <a:rPr lang="fr-CA" sz="1700" dirty="0" err="1">
                <a:solidFill>
                  <a:srgbClr val="000000"/>
                </a:solidFill>
                <a:latin typeface="Consolas" panose="020B0609020204030204" pitchFamily="49" charset="0"/>
              </a:rPr>
              <a:t>ToListAsync</a:t>
            </a:r>
            <a:r>
              <a:rPr lang="fr-CA" sz="1700" dirty="0">
                <a:solidFill>
                  <a:srgbClr val="000000"/>
                </a:solidFill>
                <a:latin typeface="Consolas" panose="020B0609020204030204" pitchFamily="49" charset="0"/>
              </a:rPr>
              <a:t>();</a:t>
            </a:r>
          </a:p>
          <a:p>
            <a:pPr marL="0" indent="0">
              <a:buNone/>
            </a:pPr>
            <a:r>
              <a:rPr lang="fr-CA" sz="1700" dirty="0">
                <a:solidFill>
                  <a:srgbClr val="000000"/>
                </a:solidFill>
                <a:latin typeface="Consolas" panose="020B0609020204030204" pitchFamily="49" charset="0"/>
              </a:rPr>
              <a:t>    }</a:t>
            </a:r>
            <a:endParaRPr lang="fr-CA" sz="1700" dirty="0"/>
          </a:p>
        </p:txBody>
      </p:sp>
      <p:sp>
        <p:nvSpPr>
          <p:cNvPr id="4" name="Espace réservé du numéro de diapositive 3">
            <a:extLst>
              <a:ext uri="{FF2B5EF4-FFF2-40B4-BE49-F238E27FC236}">
                <a16:creationId xmlns:a16="http://schemas.microsoft.com/office/drawing/2014/main" id="{63616605-CDBB-4FE8-A005-10539686042D}"/>
              </a:ext>
            </a:extLst>
          </p:cNvPr>
          <p:cNvSpPr>
            <a:spLocks noGrp="1"/>
          </p:cNvSpPr>
          <p:nvPr>
            <p:ph type="sldNum" sz="quarter" idx="12"/>
          </p:nvPr>
        </p:nvSpPr>
        <p:spPr/>
        <p:txBody>
          <a:bodyPr/>
          <a:lstStyle/>
          <a:p>
            <a:pPr>
              <a:defRPr/>
            </a:pPr>
            <a:fld id="{7FEE665E-3450-413D-913D-057FF7C87532}" type="slidenum">
              <a:rPr lang="en-US" altLang="en-US" smtClean="0"/>
              <a:pPr>
                <a:defRPr/>
              </a:pPr>
              <a:t>46</a:t>
            </a:fld>
            <a:endParaRPr lang="en-US" altLang="en-US"/>
          </a:p>
        </p:txBody>
      </p:sp>
    </p:spTree>
    <p:extLst>
      <p:ext uri="{BB962C8B-B14F-4D97-AF65-F5344CB8AC3E}">
        <p14:creationId xmlns:p14="http://schemas.microsoft.com/office/powerpoint/2010/main" val="89545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err="1"/>
              <a:t>EfRepository</a:t>
            </a:r>
            <a:endParaRPr lang="fr-CA" dirty="0"/>
          </a:p>
        </p:txBody>
      </p:sp>
      <p:sp>
        <p:nvSpPr>
          <p:cNvPr id="3" name="Espace réservé du contenu 2"/>
          <p:cNvSpPr>
            <a:spLocks noGrp="1"/>
          </p:cNvSpPr>
          <p:nvPr>
            <p:ph idx="1"/>
          </p:nvPr>
        </p:nvSpPr>
        <p:spPr/>
        <p:txBody>
          <a:bodyPr>
            <a:normAutofit/>
          </a:bodyPr>
          <a:lstStyle/>
          <a:p>
            <a:r>
              <a:rPr lang="fr-CA" sz="2400" dirty="0"/>
              <a:t>Les 3 méthodes de modification ont une implémentation différente car elles sauvegardent immédiatement le résultat</a:t>
            </a:r>
          </a:p>
          <a:p>
            <a:r>
              <a:rPr lang="fr-CA" sz="2400" dirty="0"/>
              <a:t>La méthode asynchrone dont on attend le résultat est donc </a:t>
            </a:r>
            <a:r>
              <a:rPr lang="fr-CA" sz="2400" dirty="0" err="1"/>
              <a:t>SaveChagesAsync</a:t>
            </a:r>
            <a:r>
              <a:rPr lang="fr-CA" sz="2400" dirty="0"/>
              <a:t>()</a:t>
            </a:r>
          </a:p>
          <a:p>
            <a:pPr marL="400050" lvl="1" indent="0">
              <a:buNone/>
            </a:pPr>
            <a:endParaRPr lang="fr-CA" sz="1400" dirty="0">
              <a:solidFill>
                <a:srgbClr val="0000FF"/>
              </a:solidFill>
              <a:latin typeface="Consolas" panose="020B0609020204030204" pitchFamily="49" charset="0"/>
            </a:endParaRPr>
          </a:p>
          <a:p>
            <a:pPr marL="400050" lvl="1" indent="0">
              <a:buNone/>
            </a:pPr>
            <a:r>
              <a:rPr lang="fr-CA" sz="1600" dirty="0">
                <a:solidFill>
                  <a:srgbClr val="0000FF"/>
                </a:solidFill>
                <a:latin typeface="Consolas" panose="020B0609020204030204" pitchFamily="49" charset="0"/>
              </a:rPr>
              <a:t>public</a:t>
            </a:r>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async</a:t>
            </a: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Task</a:t>
            </a:r>
            <a:r>
              <a:rPr lang="fr-CA" sz="1600" dirty="0">
                <a:solidFill>
                  <a:srgbClr val="000000"/>
                </a:solidFill>
                <a:latin typeface="Consolas" panose="020B0609020204030204" pitchFamily="49" charset="0"/>
              </a:rPr>
              <a:t>&lt;T&gt; </a:t>
            </a:r>
            <a:r>
              <a:rPr lang="fr-CA" sz="1600" dirty="0" err="1">
                <a:solidFill>
                  <a:srgbClr val="000000"/>
                </a:solidFill>
                <a:latin typeface="Consolas" panose="020B0609020204030204" pitchFamily="49" charset="0"/>
              </a:rPr>
              <a:t>AddAsync</a:t>
            </a:r>
            <a:r>
              <a:rPr lang="fr-CA" sz="1600" dirty="0">
                <a:solidFill>
                  <a:srgbClr val="000000"/>
                </a:solidFill>
                <a:latin typeface="Consolas" panose="020B0609020204030204" pitchFamily="49" charset="0"/>
              </a:rPr>
              <a:t>(T </a:t>
            </a:r>
            <a:r>
              <a:rPr lang="fr-CA" sz="1600" dirty="0" err="1">
                <a:solidFill>
                  <a:srgbClr val="000000"/>
                </a:solidFill>
                <a:latin typeface="Consolas" panose="020B0609020204030204" pitchFamily="49" charset="0"/>
              </a:rPr>
              <a:t>entity</a:t>
            </a:r>
            <a:r>
              <a:rPr lang="fr-CA" sz="1600" dirty="0">
                <a:solidFill>
                  <a:srgbClr val="000000"/>
                </a:solidFill>
                <a:latin typeface="Consolas" panose="020B0609020204030204" pitchFamily="49" charset="0"/>
              </a:rPr>
              <a:t>)</a:t>
            </a:r>
          </a:p>
          <a:p>
            <a:pPr marL="400050" lvl="1" indent="0">
              <a:buNone/>
            </a:pPr>
            <a:r>
              <a:rPr lang="fr-CA" sz="1600" dirty="0">
                <a:solidFill>
                  <a:srgbClr val="000000"/>
                </a:solidFill>
                <a:latin typeface="Consolas" panose="020B0609020204030204" pitchFamily="49" charset="0"/>
              </a:rPr>
              <a:t>{</a:t>
            </a:r>
          </a:p>
          <a:p>
            <a:pPr marL="400050" lvl="1" indent="0">
              <a:buNone/>
            </a:pPr>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await</a:t>
            </a:r>
            <a:r>
              <a:rPr lang="fr-CA" sz="1600" dirty="0">
                <a:solidFill>
                  <a:srgbClr val="000000"/>
                </a:solidFill>
                <a:latin typeface="Consolas" panose="020B0609020204030204" pitchFamily="49" charset="0"/>
              </a:rPr>
              <a:t> _</a:t>
            </a:r>
            <a:r>
              <a:rPr lang="fr-CA" sz="1600" dirty="0" err="1">
                <a:solidFill>
                  <a:srgbClr val="000000"/>
                </a:solidFill>
                <a:latin typeface="Consolas" panose="020B0609020204030204" pitchFamily="49" charset="0"/>
              </a:rPr>
              <a:t>SystèmeGestionStationServiceContext.Set</a:t>
            </a:r>
            <a:r>
              <a:rPr lang="fr-CA" sz="1600" dirty="0">
                <a:solidFill>
                  <a:srgbClr val="000000"/>
                </a:solidFill>
                <a:latin typeface="Consolas" panose="020B0609020204030204" pitchFamily="49" charset="0"/>
              </a:rPr>
              <a:t>&lt;T&gt;().</a:t>
            </a:r>
            <a:r>
              <a:rPr lang="fr-CA" sz="1600" dirty="0" err="1">
                <a:solidFill>
                  <a:srgbClr val="000000"/>
                </a:solidFill>
                <a:latin typeface="Consolas" panose="020B0609020204030204" pitchFamily="49" charset="0"/>
              </a:rPr>
              <a:t>AddAsync</a:t>
            </a:r>
            <a:r>
              <a:rPr lang="fr-CA" sz="1600" dirty="0">
                <a:solidFill>
                  <a:srgbClr val="000000"/>
                </a:solidFill>
                <a:latin typeface="Consolas" panose="020B0609020204030204" pitchFamily="49" charset="0"/>
              </a:rPr>
              <a:t>(</a:t>
            </a:r>
            <a:r>
              <a:rPr lang="fr-CA" sz="1600" dirty="0" err="1">
                <a:solidFill>
                  <a:srgbClr val="000000"/>
                </a:solidFill>
                <a:latin typeface="Consolas" panose="020B0609020204030204" pitchFamily="49" charset="0"/>
              </a:rPr>
              <a:t>entity</a:t>
            </a:r>
            <a:r>
              <a:rPr lang="fr-CA" sz="1600" dirty="0">
                <a:solidFill>
                  <a:srgbClr val="000000"/>
                </a:solidFill>
                <a:latin typeface="Consolas" panose="020B0609020204030204" pitchFamily="49" charset="0"/>
              </a:rPr>
              <a:t>);</a:t>
            </a:r>
          </a:p>
          <a:p>
            <a:pPr marL="400050" lvl="1" indent="0">
              <a:buNone/>
            </a:pPr>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await</a:t>
            </a:r>
            <a:r>
              <a:rPr lang="fr-CA" sz="1600" dirty="0">
                <a:solidFill>
                  <a:srgbClr val="000000"/>
                </a:solidFill>
                <a:latin typeface="Consolas" panose="020B0609020204030204" pitchFamily="49" charset="0"/>
              </a:rPr>
              <a:t> _</a:t>
            </a:r>
            <a:r>
              <a:rPr lang="fr-CA" sz="1600" dirty="0" err="1">
                <a:solidFill>
                  <a:srgbClr val="000000"/>
                </a:solidFill>
                <a:latin typeface="Consolas" panose="020B0609020204030204" pitchFamily="49" charset="0"/>
              </a:rPr>
              <a:t>SystèmeGestionStationServiceContext.SaveChangesAsync</a:t>
            </a:r>
            <a:r>
              <a:rPr lang="fr-CA" sz="1600" dirty="0">
                <a:solidFill>
                  <a:srgbClr val="000000"/>
                </a:solidFill>
                <a:latin typeface="Consolas" panose="020B0609020204030204" pitchFamily="49" charset="0"/>
              </a:rPr>
              <a:t>();</a:t>
            </a:r>
          </a:p>
          <a:p>
            <a:pPr marL="400050" lvl="1" indent="0">
              <a:buNone/>
            </a:pPr>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return</a:t>
            </a: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entity</a:t>
            </a:r>
            <a:r>
              <a:rPr lang="fr-CA" sz="1600" dirty="0">
                <a:solidFill>
                  <a:srgbClr val="000000"/>
                </a:solidFill>
                <a:latin typeface="Consolas" panose="020B0609020204030204" pitchFamily="49" charset="0"/>
              </a:rPr>
              <a:t>;</a:t>
            </a:r>
          </a:p>
          <a:p>
            <a:pPr marL="400050" lvl="1" indent="0">
              <a:buNone/>
            </a:pPr>
            <a:endParaRPr lang="fr-CA" sz="1600" dirty="0">
              <a:solidFill>
                <a:srgbClr val="000000"/>
              </a:solidFill>
              <a:latin typeface="Consolas" panose="020B0609020204030204" pitchFamily="49" charset="0"/>
            </a:endParaRPr>
          </a:p>
          <a:p>
            <a:pPr marL="400050" lvl="1" indent="0">
              <a:buNone/>
            </a:pPr>
            <a:r>
              <a:rPr lang="fr-CA" sz="1600" dirty="0">
                <a:solidFill>
                  <a:srgbClr val="000000"/>
                </a:solidFill>
                <a:latin typeface="Consolas" panose="020B0609020204030204" pitchFamily="49" charset="0"/>
              </a:rPr>
              <a:t>}</a:t>
            </a:r>
            <a:endParaRPr lang="fr-CA" sz="1600" dirty="0"/>
          </a:p>
        </p:txBody>
      </p:sp>
      <p:sp>
        <p:nvSpPr>
          <p:cNvPr id="4" name="Espace réservé du numéro de diapositive 3">
            <a:extLst>
              <a:ext uri="{FF2B5EF4-FFF2-40B4-BE49-F238E27FC236}">
                <a16:creationId xmlns:a16="http://schemas.microsoft.com/office/drawing/2014/main" id="{AD467977-95FA-4EDF-8A40-486D77CF066F}"/>
              </a:ext>
            </a:extLst>
          </p:cNvPr>
          <p:cNvSpPr>
            <a:spLocks noGrp="1"/>
          </p:cNvSpPr>
          <p:nvPr>
            <p:ph type="sldNum" sz="quarter" idx="12"/>
          </p:nvPr>
        </p:nvSpPr>
        <p:spPr/>
        <p:txBody>
          <a:bodyPr/>
          <a:lstStyle/>
          <a:p>
            <a:pPr>
              <a:defRPr/>
            </a:pPr>
            <a:fld id="{7FEE665E-3450-413D-913D-057FF7C87532}" type="slidenum">
              <a:rPr lang="en-US" altLang="en-US" smtClean="0"/>
              <a:pPr>
                <a:defRPr/>
              </a:pPr>
              <a:t>47</a:t>
            </a:fld>
            <a:endParaRPr lang="en-US" altLang="en-US"/>
          </a:p>
        </p:txBody>
      </p:sp>
    </p:spTree>
    <p:extLst>
      <p:ext uri="{BB962C8B-B14F-4D97-AF65-F5344CB8AC3E}">
        <p14:creationId xmlns:p14="http://schemas.microsoft.com/office/powerpoint/2010/main" val="1804191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err="1"/>
              <a:t>EfRepository</a:t>
            </a:r>
            <a:endParaRPr lang="fr-CA" dirty="0"/>
          </a:p>
        </p:txBody>
      </p:sp>
      <p:sp>
        <p:nvSpPr>
          <p:cNvPr id="3" name="Espace réservé du contenu 2"/>
          <p:cNvSpPr>
            <a:spLocks noGrp="1"/>
          </p:cNvSpPr>
          <p:nvPr>
            <p:ph idx="1"/>
          </p:nvPr>
        </p:nvSpPr>
        <p:spPr/>
        <p:txBody>
          <a:bodyPr>
            <a:normAutofit/>
          </a:bodyPr>
          <a:lstStyle/>
          <a:p>
            <a:pPr marL="0" indent="0">
              <a:buNone/>
            </a:pPr>
            <a:r>
              <a:rPr lang="fr-CA" sz="2000" dirty="0"/>
              <a:t> </a:t>
            </a:r>
            <a:r>
              <a:rPr lang="fr-CA" sz="1600" dirty="0">
                <a:solidFill>
                  <a:srgbClr val="0000FF"/>
                </a:solidFill>
                <a:latin typeface="Consolas" panose="020B0609020204030204" pitchFamily="49" charset="0"/>
              </a:rPr>
              <a:t>public</a:t>
            </a:r>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async</a:t>
            </a: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Task</a:t>
            </a: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UpdateAsync</a:t>
            </a:r>
            <a:r>
              <a:rPr lang="fr-CA" sz="1600" dirty="0">
                <a:solidFill>
                  <a:srgbClr val="000000"/>
                </a:solidFill>
                <a:latin typeface="Consolas" panose="020B0609020204030204" pitchFamily="49" charset="0"/>
              </a:rPr>
              <a:t>(T </a:t>
            </a:r>
            <a:r>
              <a:rPr lang="fr-CA" sz="1600" dirty="0" err="1">
                <a:solidFill>
                  <a:srgbClr val="000000"/>
                </a:solidFill>
                <a:latin typeface="Consolas" panose="020B0609020204030204" pitchFamily="49" charset="0"/>
              </a:rPr>
              <a:t>entity</a:t>
            </a:r>
            <a:r>
              <a:rPr lang="fr-CA" sz="1600" dirty="0">
                <a:solidFill>
                  <a:srgbClr val="000000"/>
                </a:solidFill>
                <a:latin typeface="Consolas" panose="020B0609020204030204" pitchFamily="49" charset="0"/>
              </a:rPr>
              <a:t>)</a:t>
            </a:r>
          </a:p>
          <a:p>
            <a:pPr marL="0" indent="0">
              <a:buNone/>
            </a:pPr>
            <a:r>
              <a:rPr lang="fr-CA" sz="1600" dirty="0">
                <a:solidFill>
                  <a:srgbClr val="000000"/>
                </a:solidFill>
                <a:latin typeface="Consolas" panose="020B0609020204030204" pitchFamily="49" charset="0"/>
              </a:rPr>
              <a:t> {</a:t>
            </a:r>
          </a:p>
          <a:p>
            <a:pPr marL="0" indent="0">
              <a:buNone/>
            </a:pPr>
            <a:r>
              <a:rPr lang="fr-CA" sz="1600" dirty="0">
                <a:solidFill>
                  <a:srgbClr val="000000"/>
                </a:solidFill>
                <a:latin typeface="Consolas" panose="020B0609020204030204" pitchFamily="49" charset="0"/>
              </a:rPr>
              <a:t>   _</a:t>
            </a:r>
            <a:r>
              <a:rPr lang="fr-CA" sz="1600" dirty="0" err="1">
                <a:solidFill>
                  <a:srgbClr val="000000"/>
                </a:solidFill>
                <a:latin typeface="Consolas" panose="020B0609020204030204" pitchFamily="49" charset="0"/>
              </a:rPr>
              <a:t>SystèmeGestionStationServiceContext.Entry</a:t>
            </a:r>
            <a:r>
              <a:rPr lang="fr-CA" sz="1600" dirty="0">
                <a:solidFill>
                  <a:srgbClr val="000000"/>
                </a:solidFill>
                <a:latin typeface="Consolas" panose="020B0609020204030204" pitchFamily="49" charset="0"/>
              </a:rPr>
              <a:t>(</a:t>
            </a:r>
            <a:r>
              <a:rPr lang="fr-CA" sz="1600" dirty="0" err="1">
                <a:solidFill>
                  <a:srgbClr val="000000"/>
                </a:solidFill>
                <a:latin typeface="Consolas" panose="020B0609020204030204" pitchFamily="49" charset="0"/>
              </a:rPr>
              <a:t>entity</a:t>
            </a:r>
            <a:r>
              <a:rPr lang="fr-CA" sz="1600" dirty="0">
                <a:solidFill>
                  <a:srgbClr val="000000"/>
                </a:solidFill>
                <a:latin typeface="Consolas" panose="020B0609020204030204" pitchFamily="49" charset="0"/>
              </a:rPr>
              <a:t>).State = </a:t>
            </a:r>
          </a:p>
          <a:p>
            <a:pPr marL="0" indent="0">
              <a:buNone/>
            </a:pP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EntityState.Modified</a:t>
            </a:r>
            <a:r>
              <a:rPr lang="fr-CA" sz="1600" dirty="0">
                <a:solidFill>
                  <a:srgbClr val="000000"/>
                </a:solidFill>
                <a:latin typeface="Consolas" panose="020B0609020204030204" pitchFamily="49" charset="0"/>
              </a:rPr>
              <a:t>;</a:t>
            </a:r>
          </a:p>
          <a:p>
            <a:pPr marL="0" indent="0">
              <a:buNone/>
            </a:pPr>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await</a:t>
            </a:r>
            <a:r>
              <a:rPr lang="fr-CA" sz="1600" dirty="0">
                <a:solidFill>
                  <a:srgbClr val="000000"/>
                </a:solidFill>
                <a:latin typeface="Consolas" panose="020B0609020204030204" pitchFamily="49" charset="0"/>
              </a:rPr>
              <a:t> _</a:t>
            </a:r>
            <a:r>
              <a:rPr lang="fr-CA" sz="1600" dirty="0" err="1">
                <a:solidFill>
                  <a:srgbClr val="000000"/>
                </a:solidFill>
                <a:latin typeface="Consolas" panose="020B0609020204030204" pitchFamily="49" charset="0"/>
              </a:rPr>
              <a:t>SystèmeGestionStationServiceContext.SaveChangesAsync</a:t>
            </a:r>
            <a:r>
              <a:rPr lang="fr-CA" sz="1600" dirty="0">
                <a:solidFill>
                  <a:srgbClr val="000000"/>
                </a:solidFill>
                <a:latin typeface="Consolas" panose="020B0609020204030204" pitchFamily="49" charset="0"/>
              </a:rPr>
              <a:t>();</a:t>
            </a:r>
          </a:p>
          <a:p>
            <a:pPr marL="0" indent="0">
              <a:buNone/>
            </a:pPr>
            <a:r>
              <a:rPr lang="fr-CA" sz="1600" dirty="0">
                <a:solidFill>
                  <a:srgbClr val="000000"/>
                </a:solidFill>
                <a:latin typeface="Consolas" panose="020B0609020204030204" pitchFamily="49" charset="0"/>
              </a:rPr>
              <a:t> }</a:t>
            </a:r>
            <a:endParaRPr lang="fr-CA" sz="1600" dirty="0"/>
          </a:p>
          <a:p>
            <a:pPr marL="0" indent="0">
              <a:buNone/>
            </a:pPr>
            <a:r>
              <a:rPr lang="fr-CA" sz="1800" dirty="0"/>
              <a:t> </a:t>
            </a:r>
          </a:p>
          <a:p>
            <a:pPr marL="0" indent="0">
              <a:buNone/>
            </a:pPr>
            <a:r>
              <a:rPr lang="fr-CA" sz="1600" dirty="0">
                <a:solidFill>
                  <a:srgbClr val="0000FF"/>
                </a:solidFill>
                <a:latin typeface="Consolas" panose="020B0609020204030204" pitchFamily="49" charset="0"/>
              </a:rPr>
              <a:t>public</a:t>
            </a:r>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async</a:t>
            </a: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Task</a:t>
            </a: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DeleteAsync</a:t>
            </a:r>
            <a:r>
              <a:rPr lang="fr-CA" sz="1600" dirty="0">
                <a:solidFill>
                  <a:srgbClr val="000000"/>
                </a:solidFill>
                <a:latin typeface="Consolas" panose="020B0609020204030204" pitchFamily="49" charset="0"/>
              </a:rPr>
              <a:t>(T </a:t>
            </a:r>
            <a:r>
              <a:rPr lang="fr-CA" sz="1600" dirty="0" err="1">
                <a:solidFill>
                  <a:srgbClr val="000000"/>
                </a:solidFill>
                <a:latin typeface="Consolas" panose="020B0609020204030204" pitchFamily="49" charset="0"/>
              </a:rPr>
              <a:t>entity</a:t>
            </a:r>
            <a:r>
              <a:rPr lang="fr-CA" sz="1600" dirty="0">
                <a:solidFill>
                  <a:srgbClr val="000000"/>
                </a:solidFill>
                <a:latin typeface="Consolas" panose="020B0609020204030204" pitchFamily="49" charset="0"/>
              </a:rPr>
              <a:t>)</a:t>
            </a:r>
          </a:p>
          <a:p>
            <a:pPr marL="0" indent="0">
              <a:buNone/>
            </a:pPr>
            <a:r>
              <a:rPr lang="fr-CA" sz="1600" dirty="0">
                <a:solidFill>
                  <a:srgbClr val="000000"/>
                </a:solidFill>
                <a:latin typeface="Consolas" panose="020B0609020204030204" pitchFamily="49" charset="0"/>
              </a:rPr>
              <a:t> {</a:t>
            </a:r>
          </a:p>
          <a:p>
            <a:pPr marL="0" indent="0">
              <a:buNone/>
            </a:pPr>
            <a:r>
              <a:rPr lang="fr-CA" sz="1600" dirty="0">
                <a:solidFill>
                  <a:srgbClr val="000000"/>
                </a:solidFill>
                <a:latin typeface="Consolas" panose="020B0609020204030204" pitchFamily="49" charset="0"/>
              </a:rPr>
              <a:t>   _</a:t>
            </a:r>
            <a:r>
              <a:rPr lang="fr-CA" sz="1600" dirty="0" err="1">
                <a:solidFill>
                  <a:srgbClr val="000000"/>
                </a:solidFill>
                <a:latin typeface="Consolas" panose="020B0609020204030204" pitchFamily="49" charset="0"/>
              </a:rPr>
              <a:t>SystèmeGestionStationServiceContext.Set</a:t>
            </a:r>
            <a:r>
              <a:rPr lang="fr-CA" sz="1600" dirty="0">
                <a:solidFill>
                  <a:srgbClr val="000000"/>
                </a:solidFill>
                <a:latin typeface="Consolas" panose="020B0609020204030204" pitchFamily="49" charset="0"/>
              </a:rPr>
              <a:t>&lt;T&gt;().</a:t>
            </a:r>
            <a:r>
              <a:rPr lang="fr-CA" sz="1600" dirty="0" err="1">
                <a:solidFill>
                  <a:srgbClr val="000000"/>
                </a:solidFill>
                <a:latin typeface="Consolas" panose="020B0609020204030204" pitchFamily="49" charset="0"/>
              </a:rPr>
              <a:t>Remove</a:t>
            </a:r>
            <a:r>
              <a:rPr lang="fr-CA" sz="1600" dirty="0">
                <a:solidFill>
                  <a:srgbClr val="000000"/>
                </a:solidFill>
                <a:latin typeface="Consolas" panose="020B0609020204030204" pitchFamily="49" charset="0"/>
              </a:rPr>
              <a:t>(</a:t>
            </a:r>
            <a:r>
              <a:rPr lang="fr-CA" sz="1600" dirty="0" err="1">
                <a:solidFill>
                  <a:srgbClr val="000000"/>
                </a:solidFill>
                <a:latin typeface="Consolas" panose="020B0609020204030204" pitchFamily="49" charset="0"/>
              </a:rPr>
              <a:t>entity</a:t>
            </a:r>
            <a:r>
              <a:rPr lang="fr-CA" sz="1600" dirty="0">
                <a:solidFill>
                  <a:srgbClr val="000000"/>
                </a:solidFill>
                <a:latin typeface="Consolas" panose="020B0609020204030204" pitchFamily="49" charset="0"/>
              </a:rPr>
              <a:t>);</a:t>
            </a:r>
          </a:p>
          <a:p>
            <a:pPr marL="0" indent="0">
              <a:buNone/>
            </a:pPr>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await</a:t>
            </a:r>
            <a:r>
              <a:rPr lang="fr-CA" sz="1600" dirty="0">
                <a:solidFill>
                  <a:srgbClr val="000000"/>
                </a:solidFill>
                <a:latin typeface="Consolas" panose="020B0609020204030204" pitchFamily="49" charset="0"/>
              </a:rPr>
              <a:t> _</a:t>
            </a:r>
            <a:r>
              <a:rPr lang="fr-CA" sz="1600" dirty="0" err="1">
                <a:solidFill>
                  <a:srgbClr val="000000"/>
                </a:solidFill>
                <a:latin typeface="Consolas" panose="020B0609020204030204" pitchFamily="49" charset="0"/>
              </a:rPr>
              <a:t>SystèmeGestionStationServiceContext.SaveChangesAsync</a:t>
            </a:r>
            <a:r>
              <a:rPr lang="fr-CA" sz="1600" dirty="0">
                <a:solidFill>
                  <a:srgbClr val="000000"/>
                </a:solidFill>
                <a:latin typeface="Consolas" panose="020B0609020204030204" pitchFamily="49" charset="0"/>
              </a:rPr>
              <a:t>();</a:t>
            </a:r>
          </a:p>
          <a:p>
            <a:pPr marL="0" indent="0">
              <a:buNone/>
            </a:pPr>
            <a:r>
              <a:rPr lang="fr-CA" sz="1600" dirty="0">
                <a:solidFill>
                  <a:srgbClr val="000000"/>
                </a:solidFill>
                <a:latin typeface="Consolas" panose="020B0609020204030204" pitchFamily="49" charset="0"/>
              </a:rPr>
              <a:t> }</a:t>
            </a:r>
            <a:endParaRPr lang="fr-CA" sz="1600" dirty="0"/>
          </a:p>
        </p:txBody>
      </p:sp>
      <p:sp>
        <p:nvSpPr>
          <p:cNvPr id="4" name="Espace réservé du numéro de diapositive 3">
            <a:extLst>
              <a:ext uri="{FF2B5EF4-FFF2-40B4-BE49-F238E27FC236}">
                <a16:creationId xmlns:a16="http://schemas.microsoft.com/office/drawing/2014/main" id="{08BC2267-E4A2-48D6-92EC-DDC0BC9491B9}"/>
              </a:ext>
            </a:extLst>
          </p:cNvPr>
          <p:cNvSpPr>
            <a:spLocks noGrp="1"/>
          </p:cNvSpPr>
          <p:nvPr>
            <p:ph type="sldNum" sz="quarter" idx="12"/>
          </p:nvPr>
        </p:nvSpPr>
        <p:spPr/>
        <p:txBody>
          <a:bodyPr/>
          <a:lstStyle/>
          <a:p>
            <a:pPr>
              <a:defRPr/>
            </a:pPr>
            <a:fld id="{7FEE665E-3450-413D-913D-057FF7C87532}" type="slidenum">
              <a:rPr lang="en-US" altLang="en-US" smtClean="0"/>
              <a:pPr>
                <a:defRPr/>
              </a:pPr>
              <a:t>48</a:t>
            </a:fld>
            <a:endParaRPr lang="en-US" altLang="en-US"/>
          </a:p>
        </p:txBody>
      </p:sp>
    </p:spTree>
    <p:extLst>
      <p:ext uri="{BB962C8B-B14F-4D97-AF65-F5344CB8AC3E}">
        <p14:creationId xmlns:p14="http://schemas.microsoft.com/office/powerpoint/2010/main" val="2728870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err="1"/>
              <a:t>EfRepository</a:t>
            </a:r>
            <a:endParaRPr lang="fr-CA" dirty="0"/>
          </a:p>
        </p:txBody>
      </p:sp>
      <p:sp>
        <p:nvSpPr>
          <p:cNvPr id="3" name="Espace réservé du contenu 2"/>
          <p:cNvSpPr>
            <a:spLocks noGrp="1"/>
          </p:cNvSpPr>
          <p:nvPr>
            <p:ph idx="1"/>
          </p:nvPr>
        </p:nvSpPr>
        <p:spPr/>
        <p:txBody>
          <a:bodyPr>
            <a:normAutofit fontScale="92500" lnSpcReduction="20000"/>
          </a:bodyPr>
          <a:lstStyle/>
          <a:p>
            <a:r>
              <a:rPr lang="fr-CA" sz="2400" dirty="0"/>
              <a:t>Finalement, les 2 méthodes de recherche utilisent la classe </a:t>
            </a:r>
            <a:r>
              <a:rPr lang="fr-CA" sz="2400" dirty="0" err="1"/>
              <a:t>SpecificationEvaluator</a:t>
            </a:r>
            <a:r>
              <a:rPr lang="fr-CA" sz="2400" dirty="0"/>
              <a:t> de la façon suivante:</a:t>
            </a:r>
          </a:p>
          <a:p>
            <a:pPr marL="0" indent="0">
              <a:buNone/>
            </a:pPr>
            <a:r>
              <a:rPr lang="fr-CA" dirty="0"/>
              <a:t> </a:t>
            </a:r>
            <a:r>
              <a:rPr lang="fr-CA" sz="1700" dirty="0" err="1">
                <a:solidFill>
                  <a:srgbClr val="0000FF"/>
                </a:solidFill>
                <a:latin typeface="Consolas" panose="020B0609020204030204" pitchFamily="49" charset="0"/>
              </a:rPr>
              <a:t>private</a:t>
            </a:r>
            <a:r>
              <a:rPr lang="fr-CA" sz="1700" dirty="0">
                <a:solidFill>
                  <a:srgbClr val="000000"/>
                </a:solidFill>
                <a:latin typeface="Consolas" panose="020B0609020204030204" pitchFamily="49" charset="0"/>
              </a:rPr>
              <a:t> </a:t>
            </a:r>
            <a:r>
              <a:rPr lang="fr-CA" sz="1700" dirty="0" err="1">
                <a:solidFill>
                  <a:srgbClr val="000000"/>
                </a:solidFill>
                <a:latin typeface="Consolas" panose="020B0609020204030204" pitchFamily="49" charset="0"/>
              </a:rPr>
              <a:t>IQueryable</a:t>
            </a:r>
            <a:r>
              <a:rPr lang="fr-CA" sz="1700" dirty="0">
                <a:solidFill>
                  <a:srgbClr val="000000"/>
                </a:solidFill>
                <a:latin typeface="Consolas" panose="020B0609020204030204" pitchFamily="49" charset="0"/>
              </a:rPr>
              <a:t>&lt;T&gt; </a:t>
            </a:r>
            <a:r>
              <a:rPr lang="fr-CA" sz="1700" dirty="0" err="1">
                <a:solidFill>
                  <a:srgbClr val="000000"/>
                </a:solidFill>
                <a:latin typeface="Consolas" panose="020B0609020204030204" pitchFamily="49" charset="0"/>
              </a:rPr>
              <a:t>ApplySpecification</a:t>
            </a:r>
            <a:r>
              <a:rPr lang="fr-CA" sz="1700" dirty="0">
                <a:solidFill>
                  <a:srgbClr val="000000"/>
                </a:solidFill>
                <a:latin typeface="Consolas" panose="020B0609020204030204" pitchFamily="49" charset="0"/>
              </a:rPr>
              <a:t>(</a:t>
            </a:r>
            <a:r>
              <a:rPr lang="fr-CA" sz="1700" dirty="0" err="1">
                <a:solidFill>
                  <a:srgbClr val="000000"/>
                </a:solidFill>
                <a:latin typeface="Consolas" panose="020B0609020204030204" pitchFamily="49" charset="0"/>
              </a:rPr>
              <a:t>ISpecification</a:t>
            </a:r>
            <a:r>
              <a:rPr lang="fr-CA" sz="1700" dirty="0">
                <a:solidFill>
                  <a:srgbClr val="000000"/>
                </a:solidFill>
                <a:latin typeface="Consolas" panose="020B0609020204030204" pitchFamily="49" charset="0"/>
              </a:rPr>
              <a:t>&lt;T&gt; </a:t>
            </a:r>
            <a:r>
              <a:rPr lang="fr-CA" sz="1700" dirty="0" err="1">
                <a:solidFill>
                  <a:srgbClr val="000000"/>
                </a:solidFill>
                <a:latin typeface="Consolas" panose="020B0609020204030204" pitchFamily="49" charset="0"/>
              </a:rPr>
              <a:t>spec</a:t>
            </a:r>
            <a:r>
              <a:rPr lang="fr-CA" sz="1700" dirty="0">
                <a:solidFill>
                  <a:srgbClr val="000000"/>
                </a:solidFill>
                <a:latin typeface="Consolas" panose="020B0609020204030204" pitchFamily="49" charset="0"/>
              </a:rPr>
              <a:t>)</a:t>
            </a:r>
          </a:p>
          <a:p>
            <a:pPr marL="0" indent="0">
              <a:buNone/>
            </a:pPr>
            <a:r>
              <a:rPr lang="fr-CA" sz="1700" dirty="0">
                <a:solidFill>
                  <a:srgbClr val="000000"/>
                </a:solidFill>
                <a:latin typeface="Consolas" panose="020B0609020204030204" pitchFamily="49" charset="0"/>
              </a:rPr>
              <a:t> {</a:t>
            </a:r>
          </a:p>
          <a:p>
            <a:pPr marL="0" indent="0">
              <a:buNone/>
            </a:pPr>
            <a:r>
              <a:rPr lang="fr-CA" sz="1700" dirty="0">
                <a:solidFill>
                  <a:srgbClr val="000000"/>
                </a:solidFill>
                <a:latin typeface="Consolas" panose="020B0609020204030204" pitchFamily="49" charset="0"/>
              </a:rPr>
              <a:t>   </a:t>
            </a:r>
            <a:r>
              <a:rPr lang="fr-CA" sz="1700" dirty="0">
                <a:solidFill>
                  <a:srgbClr val="0000FF"/>
                </a:solidFill>
                <a:latin typeface="Consolas" panose="020B0609020204030204" pitchFamily="49" charset="0"/>
              </a:rPr>
              <a:t>return</a:t>
            </a:r>
            <a:r>
              <a:rPr lang="fr-CA" sz="1700" dirty="0">
                <a:solidFill>
                  <a:srgbClr val="000000"/>
                </a:solidFill>
                <a:latin typeface="Consolas" panose="020B0609020204030204" pitchFamily="49" charset="0"/>
              </a:rPr>
              <a:t> </a:t>
            </a:r>
          </a:p>
          <a:p>
            <a:pPr marL="0" indent="0">
              <a:buNone/>
            </a:pPr>
            <a:r>
              <a:rPr lang="fr-CA" sz="1700" dirty="0">
                <a:solidFill>
                  <a:srgbClr val="000000"/>
                </a:solidFill>
                <a:latin typeface="Consolas" panose="020B0609020204030204" pitchFamily="49" charset="0"/>
              </a:rPr>
              <a:t>   </a:t>
            </a:r>
            <a:r>
              <a:rPr lang="fr-CA" sz="1700" dirty="0" err="1">
                <a:solidFill>
                  <a:srgbClr val="000000"/>
                </a:solidFill>
                <a:latin typeface="Consolas" panose="020B0609020204030204" pitchFamily="49" charset="0"/>
              </a:rPr>
              <a:t>SpecificationEvaluator</a:t>
            </a:r>
            <a:r>
              <a:rPr lang="fr-CA" sz="1700" dirty="0">
                <a:solidFill>
                  <a:srgbClr val="000000"/>
                </a:solidFill>
                <a:latin typeface="Consolas" panose="020B0609020204030204" pitchFamily="49" charset="0"/>
              </a:rPr>
              <a:t>&lt;T&gt;.</a:t>
            </a:r>
            <a:r>
              <a:rPr lang="fr-CA" sz="1700" dirty="0" err="1">
                <a:solidFill>
                  <a:srgbClr val="000000"/>
                </a:solidFill>
                <a:latin typeface="Consolas" panose="020B0609020204030204" pitchFamily="49" charset="0"/>
              </a:rPr>
              <a:t>GetQuery</a:t>
            </a:r>
            <a:r>
              <a:rPr lang="fr-CA" sz="1700" dirty="0">
                <a:solidFill>
                  <a:srgbClr val="000000"/>
                </a:solidFill>
                <a:latin typeface="Consolas" panose="020B0609020204030204" pitchFamily="49" charset="0"/>
              </a:rPr>
              <a:t>(    </a:t>
            </a:r>
          </a:p>
          <a:p>
            <a:pPr marL="0" indent="0">
              <a:buNone/>
            </a:pPr>
            <a:r>
              <a:rPr lang="fr-CA" sz="1700" dirty="0">
                <a:solidFill>
                  <a:srgbClr val="000000"/>
                </a:solidFill>
                <a:latin typeface="Consolas" panose="020B0609020204030204" pitchFamily="49" charset="0"/>
              </a:rPr>
              <a:t>     _</a:t>
            </a:r>
            <a:r>
              <a:rPr lang="fr-CA" sz="1700" dirty="0" err="1">
                <a:solidFill>
                  <a:srgbClr val="000000"/>
                </a:solidFill>
                <a:latin typeface="Consolas" panose="020B0609020204030204" pitchFamily="49" charset="0"/>
              </a:rPr>
              <a:t>SystèmeGestionStationServiceContext.Set</a:t>
            </a:r>
            <a:r>
              <a:rPr lang="fr-CA" sz="1700" dirty="0">
                <a:solidFill>
                  <a:srgbClr val="000000"/>
                </a:solidFill>
                <a:latin typeface="Consolas" panose="020B0609020204030204" pitchFamily="49" charset="0"/>
              </a:rPr>
              <a:t>&lt;T&gt;().</a:t>
            </a:r>
            <a:r>
              <a:rPr lang="fr-CA" sz="1700" dirty="0" err="1">
                <a:solidFill>
                  <a:srgbClr val="000000"/>
                </a:solidFill>
                <a:latin typeface="Consolas" panose="020B0609020204030204" pitchFamily="49" charset="0"/>
              </a:rPr>
              <a:t>AsQueryable</a:t>
            </a:r>
            <a:r>
              <a:rPr lang="fr-CA" sz="1700" dirty="0">
                <a:solidFill>
                  <a:srgbClr val="000000"/>
                </a:solidFill>
                <a:latin typeface="Consolas" panose="020B0609020204030204" pitchFamily="49" charset="0"/>
              </a:rPr>
              <a:t>(), </a:t>
            </a:r>
            <a:r>
              <a:rPr lang="fr-CA" sz="1700" dirty="0" err="1">
                <a:solidFill>
                  <a:srgbClr val="000000"/>
                </a:solidFill>
                <a:latin typeface="Consolas" panose="020B0609020204030204" pitchFamily="49" charset="0"/>
              </a:rPr>
              <a:t>spec</a:t>
            </a:r>
            <a:r>
              <a:rPr lang="fr-CA" sz="1700" dirty="0">
                <a:solidFill>
                  <a:srgbClr val="000000"/>
                </a:solidFill>
                <a:latin typeface="Consolas" panose="020B0609020204030204" pitchFamily="49" charset="0"/>
              </a:rPr>
              <a:t>);</a:t>
            </a:r>
          </a:p>
          <a:p>
            <a:pPr marL="0" indent="0">
              <a:buNone/>
            </a:pPr>
            <a:r>
              <a:rPr lang="fr-CA" sz="1700" dirty="0">
                <a:solidFill>
                  <a:srgbClr val="000000"/>
                </a:solidFill>
                <a:latin typeface="Consolas" panose="020B0609020204030204" pitchFamily="49" charset="0"/>
              </a:rPr>
              <a:t> }</a:t>
            </a:r>
            <a:endParaRPr lang="fr-CA" sz="1700" dirty="0"/>
          </a:p>
          <a:p>
            <a:pPr marL="0" indent="0">
              <a:buNone/>
            </a:pPr>
            <a:r>
              <a:rPr lang="fr-CA" sz="1600" dirty="0"/>
              <a:t> </a:t>
            </a:r>
          </a:p>
          <a:p>
            <a:pPr marL="0" indent="0">
              <a:buNone/>
            </a:pPr>
            <a:r>
              <a:rPr lang="fr-CA" sz="1700" dirty="0">
                <a:solidFill>
                  <a:srgbClr val="0000FF"/>
                </a:solidFill>
                <a:latin typeface="Consolas" panose="020B0609020204030204" pitchFamily="49" charset="0"/>
              </a:rPr>
              <a:t> public</a:t>
            </a:r>
            <a:r>
              <a:rPr lang="fr-CA" sz="1700" dirty="0">
                <a:solidFill>
                  <a:srgbClr val="000000"/>
                </a:solidFill>
                <a:latin typeface="Consolas" panose="020B0609020204030204" pitchFamily="49" charset="0"/>
              </a:rPr>
              <a:t> </a:t>
            </a:r>
            <a:r>
              <a:rPr lang="fr-CA" sz="1700" dirty="0" err="1">
                <a:solidFill>
                  <a:srgbClr val="0000FF"/>
                </a:solidFill>
                <a:latin typeface="Consolas" panose="020B0609020204030204" pitchFamily="49" charset="0"/>
              </a:rPr>
              <a:t>async</a:t>
            </a:r>
            <a:r>
              <a:rPr lang="fr-CA" sz="1700" dirty="0">
                <a:solidFill>
                  <a:srgbClr val="000000"/>
                </a:solidFill>
                <a:latin typeface="Consolas" panose="020B0609020204030204" pitchFamily="49" charset="0"/>
              </a:rPr>
              <a:t> </a:t>
            </a:r>
            <a:r>
              <a:rPr lang="fr-CA" sz="1700" dirty="0" err="1">
                <a:solidFill>
                  <a:srgbClr val="000000"/>
                </a:solidFill>
                <a:latin typeface="Consolas" panose="020B0609020204030204" pitchFamily="49" charset="0"/>
              </a:rPr>
              <a:t>Task</a:t>
            </a:r>
            <a:r>
              <a:rPr lang="fr-CA" sz="1700" dirty="0">
                <a:solidFill>
                  <a:srgbClr val="000000"/>
                </a:solidFill>
                <a:latin typeface="Consolas" panose="020B0609020204030204" pitchFamily="49" charset="0"/>
              </a:rPr>
              <a:t>&lt;</a:t>
            </a:r>
            <a:r>
              <a:rPr lang="fr-CA" sz="1700" dirty="0" err="1">
                <a:solidFill>
                  <a:srgbClr val="000000"/>
                </a:solidFill>
                <a:latin typeface="Consolas" panose="020B0609020204030204" pitchFamily="49" charset="0"/>
              </a:rPr>
              <a:t>IReadOnlyList</a:t>
            </a:r>
            <a:r>
              <a:rPr lang="fr-CA" sz="1700" dirty="0">
                <a:solidFill>
                  <a:srgbClr val="000000"/>
                </a:solidFill>
                <a:latin typeface="Consolas" panose="020B0609020204030204" pitchFamily="49" charset="0"/>
              </a:rPr>
              <a:t>&lt;T&gt;&gt; </a:t>
            </a:r>
            <a:r>
              <a:rPr lang="fr-CA" sz="1700" dirty="0" err="1">
                <a:solidFill>
                  <a:srgbClr val="000000"/>
                </a:solidFill>
                <a:latin typeface="Consolas" panose="020B0609020204030204" pitchFamily="49" charset="0"/>
              </a:rPr>
              <a:t>ListAsync</a:t>
            </a:r>
            <a:r>
              <a:rPr lang="fr-CA" sz="1700" dirty="0">
                <a:solidFill>
                  <a:srgbClr val="000000"/>
                </a:solidFill>
                <a:latin typeface="Consolas" panose="020B0609020204030204" pitchFamily="49" charset="0"/>
              </a:rPr>
              <a:t>(</a:t>
            </a:r>
            <a:r>
              <a:rPr lang="fr-CA" sz="1700" dirty="0" err="1">
                <a:solidFill>
                  <a:srgbClr val="000000"/>
                </a:solidFill>
                <a:latin typeface="Consolas" panose="020B0609020204030204" pitchFamily="49" charset="0"/>
              </a:rPr>
              <a:t>ISpecification</a:t>
            </a:r>
            <a:r>
              <a:rPr lang="fr-CA" sz="1700" dirty="0">
                <a:solidFill>
                  <a:srgbClr val="000000"/>
                </a:solidFill>
                <a:latin typeface="Consolas" panose="020B0609020204030204" pitchFamily="49" charset="0"/>
              </a:rPr>
              <a:t>&lt;T&gt; </a:t>
            </a:r>
            <a:r>
              <a:rPr lang="fr-CA" sz="1700" dirty="0" err="1">
                <a:solidFill>
                  <a:srgbClr val="000000"/>
                </a:solidFill>
                <a:latin typeface="Consolas" panose="020B0609020204030204" pitchFamily="49" charset="0"/>
              </a:rPr>
              <a:t>spec</a:t>
            </a:r>
            <a:r>
              <a:rPr lang="fr-CA" sz="1700" dirty="0">
                <a:solidFill>
                  <a:srgbClr val="000000"/>
                </a:solidFill>
                <a:latin typeface="Consolas" panose="020B0609020204030204" pitchFamily="49" charset="0"/>
              </a:rPr>
              <a:t>)</a:t>
            </a:r>
          </a:p>
          <a:p>
            <a:pPr marL="0" indent="0">
              <a:buNone/>
            </a:pPr>
            <a:r>
              <a:rPr lang="fr-CA" sz="1700" dirty="0">
                <a:solidFill>
                  <a:srgbClr val="000000"/>
                </a:solidFill>
                <a:latin typeface="Consolas" panose="020B0609020204030204" pitchFamily="49" charset="0"/>
              </a:rPr>
              <a:t>  {</a:t>
            </a:r>
          </a:p>
          <a:p>
            <a:pPr marL="0" indent="0">
              <a:buNone/>
            </a:pPr>
            <a:r>
              <a:rPr lang="en-US" sz="1700" dirty="0">
                <a:solidFill>
                  <a:srgbClr val="000000"/>
                </a:solidFill>
                <a:latin typeface="Consolas" panose="020B0609020204030204" pitchFamily="49" charset="0"/>
              </a:rPr>
              <a:t>    </a:t>
            </a:r>
            <a:r>
              <a:rPr lang="en-US" sz="1700" dirty="0">
                <a:solidFill>
                  <a:srgbClr val="0000FF"/>
                </a:solidFill>
                <a:latin typeface="Consolas" panose="020B0609020204030204" pitchFamily="49" charset="0"/>
              </a:rPr>
              <a:t>return</a:t>
            </a:r>
            <a:r>
              <a:rPr lang="en-US" sz="1700" dirty="0">
                <a:solidFill>
                  <a:srgbClr val="000000"/>
                </a:solidFill>
                <a:latin typeface="Consolas" panose="020B0609020204030204" pitchFamily="49" charset="0"/>
              </a:rPr>
              <a:t> </a:t>
            </a:r>
            <a:r>
              <a:rPr lang="en-US" sz="1700" dirty="0">
                <a:solidFill>
                  <a:srgbClr val="0000FF"/>
                </a:solidFill>
                <a:latin typeface="Consolas" panose="020B0609020204030204" pitchFamily="49" charset="0"/>
              </a:rPr>
              <a:t>await</a:t>
            </a:r>
            <a:r>
              <a:rPr lang="en-US" sz="1700" dirty="0">
                <a:solidFill>
                  <a:srgbClr val="000000"/>
                </a:solidFill>
                <a:latin typeface="Consolas" panose="020B0609020204030204" pitchFamily="49" charset="0"/>
              </a:rPr>
              <a:t> </a:t>
            </a:r>
            <a:r>
              <a:rPr lang="en-US" sz="1700" dirty="0" err="1">
                <a:solidFill>
                  <a:srgbClr val="000000"/>
                </a:solidFill>
                <a:latin typeface="Consolas" panose="020B0609020204030204" pitchFamily="49" charset="0"/>
              </a:rPr>
              <a:t>ApplySpecification</a:t>
            </a:r>
            <a:r>
              <a:rPr lang="en-US" sz="1700" dirty="0">
                <a:solidFill>
                  <a:srgbClr val="000000"/>
                </a:solidFill>
                <a:latin typeface="Consolas" panose="020B0609020204030204" pitchFamily="49" charset="0"/>
              </a:rPr>
              <a:t>(spec).</a:t>
            </a:r>
            <a:r>
              <a:rPr lang="en-US" sz="1700" dirty="0" err="1">
                <a:solidFill>
                  <a:srgbClr val="000000"/>
                </a:solidFill>
                <a:latin typeface="Consolas" panose="020B0609020204030204" pitchFamily="49" charset="0"/>
              </a:rPr>
              <a:t>ToListAsync</a:t>
            </a:r>
            <a:r>
              <a:rPr lang="en-US" sz="1700" dirty="0">
                <a:solidFill>
                  <a:srgbClr val="000000"/>
                </a:solidFill>
                <a:latin typeface="Consolas" panose="020B0609020204030204" pitchFamily="49" charset="0"/>
              </a:rPr>
              <a:t>();</a:t>
            </a:r>
          </a:p>
          <a:p>
            <a:pPr marL="0" indent="0">
              <a:buNone/>
            </a:pPr>
            <a:r>
              <a:rPr lang="fr-CA" sz="1700" dirty="0">
                <a:solidFill>
                  <a:srgbClr val="000000"/>
                </a:solidFill>
                <a:latin typeface="Consolas" panose="020B0609020204030204" pitchFamily="49" charset="0"/>
              </a:rPr>
              <a:t>  }</a:t>
            </a:r>
            <a:endParaRPr lang="fr-CA" sz="1700" dirty="0"/>
          </a:p>
          <a:p>
            <a:pPr marL="0" indent="0">
              <a:buNone/>
            </a:pPr>
            <a:r>
              <a:rPr lang="fr-CA" sz="1700" dirty="0"/>
              <a:t> </a:t>
            </a:r>
          </a:p>
          <a:p>
            <a:pPr marL="0" indent="0">
              <a:buNone/>
            </a:pPr>
            <a:r>
              <a:rPr lang="fr-CA" sz="1700" dirty="0">
                <a:solidFill>
                  <a:srgbClr val="0000FF"/>
                </a:solidFill>
                <a:latin typeface="Consolas" panose="020B0609020204030204" pitchFamily="49" charset="0"/>
              </a:rPr>
              <a:t> public</a:t>
            </a:r>
            <a:r>
              <a:rPr lang="fr-CA" sz="1700" dirty="0">
                <a:solidFill>
                  <a:srgbClr val="000000"/>
                </a:solidFill>
                <a:latin typeface="Consolas" panose="020B0609020204030204" pitchFamily="49" charset="0"/>
              </a:rPr>
              <a:t> </a:t>
            </a:r>
            <a:r>
              <a:rPr lang="fr-CA" sz="1700" dirty="0" err="1">
                <a:solidFill>
                  <a:srgbClr val="0000FF"/>
                </a:solidFill>
                <a:latin typeface="Consolas" panose="020B0609020204030204" pitchFamily="49" charset="0"/>
              </a:rPr>
              <a:t>async</a:t>
            </a:r>
            <a:r>
              <a:rPr lang="fr-CA" sz="1700" dirty="0">
                <a:solidFill>
                  <a:srgbClr val="000000"/>
                </a:solidFill>
                <a:latin typeface="Consolas" panose="020B0609020204030204" pitchFamily="49" charset="0"/>
              </a:rPr>
              <a:t> </a:t>
            </a:r>
            <a:r>
              <a:rPr lang="fr-CA" sz="1700" dirty="0" err="1">
                <a:solidFill>
                  <a:srgbClr val="000000"/>
                </a:solidFill>
                <a:latin typeface="Consolas" panose="020B0609020204030204" pitchFamily="49" charset="0"/>
              </a:rPr>
              <a:t>Task</a:t>
            </a:r>
            <a:r>
              <a:rPr lang="fr-CA" sz="1700" dirty="0">
                <a:solidFill>
                  <a:srgbClr val="000000"/>
                </a:solidFill>
                <a:latin typeface="Consolas" panose="020B0609020204030204" pitchFamily="49" charset="0"/>
              </a:rPr>
              <a:t>&lt;</a:t>
            </a:r>
            <a:r>
              <a:rPr lang="fr-CA" sz="1700" dirty="0" err="1">
                <a:solidFill>
                  <a:srgbClr val="0000FF"/>
                </a:solidFill>
                <a:latin typeface="Consolas" panose="020B0609020204030204" pitchFamily="49" charset="0"/>
              </a:rPr>
              <a:t>int</a:t>
            </a:r>
            <a:r>
              <a:rPr lang="fr-CA" sz="1700" dirty="0">
                <a:solidFill>
                  <a:srgbClr val="000000"/>
                </a:solidFill>
                <a:latin typeface="Consolas" panose="020B0609020204030204" pitchFamily="49" charset="0"/>
              </a:rPr>
              <a:t>&gt; </a:t>
            </a:r>
            <a:r>
              <a:rPr lang="fr-CA" sz="1700" dirty="0" err="1">
                <a:solidFill>
                  <a:srgbClr val="000000"/>
                </a:solidFill>
                <a:latin typeface="Consolas" panose="020B0609020204030204" pitchFamily="49" charset="0"/>
              </a:rPr>
              <a:t>CountAsync</a:t>
            </a:r>
            <a:r>
              <a:rPr lang="fr-CA" sz="1700" dirty="0">
                <a:solidFill>
                  <a:srgbClr val="000000"/>
                </a:solidFill>
                <a:latin typeface="Consolas" panose="020B0609020204030204" pitchFamily="49" charset="0"/>
              </a:rPr>
              <a:t>(</a:t>
            </a:r>
            <a:r>
              <a:rPr lang="fr-CA" sz="1700" dirty="0" err="1">
                <a:solidFill>
                  <a:srgbClr val="000000"/>
                </a:solidFill>
                <a:latin typeface="Consolas" panose="020B0609020204030204" pitchFamily="49" charset="0"/>
              </a:rPr>
              <a:t>ISpecification</a:t>
            </a:r>
            <a:r>
              <a:rPr lang="fr-CA" sz="1700" dirty="0">
                <a:solidFill>
                  <a:srgbClr val="000000"/>
                </a:solidFill>
                <a:latin typeface="Consolas" panose="020B0609020204030204" pitchFamily="49" charset="0"/>
              </a:rPr>
              <a:t>&lt;T&gt; </a:t>
            </a:r>
            <a:r>
              <a:rPr lang="fr-CA" sz="1700" dirty="0" err="1">
                <a:solidFill>
                  <a:srgbClr val="000000"/>
                </a:solidFill>
                <a:latin typeface="Consolas" panose="020B0609020204030204" pitchFamily="49" charset="0"/>
              </a:rPr>
              <a:t>spec</a:t>
            </a:r>
            <a:r>
              <a:rPr lang="fr-CA" sz="1700" dirty="0">
                <a:solidFill>
                  <a:srgbClr val="000000"/>
                </a:solidFill>
                <a:latin typeface="Consolas" panose="020B0609020204030204" pitchFamily="49" charset="0"/>
              </a:rPr>
              <a:t>)</a:t>
            </a:r>
          </a:p>
          <a:p>
            <a:pPr marL="0" indent="0">
              <a:buNone/>
            </a:pPr>
            <a:r>
              <a:rPr lang="fr-CA" sz="1700" dirty="0">
                <a:solidFill>
                  <a:srgbClr val="000000"/>
                </a:solidFill>
                <a:latin typeface="Consolas" panose="020B0609020204030204" pitchFamily="49" charset="0"/>
              </a:rPr>
              <a:t>  {</a:t>
            </a:r>
          </a:p>
          <a:p>
            <a:pPr marL="0" indent="0">
              <a:buNone/>
            </a:pPr>
            <a:r>
              <a:rPr lang="en-US" sz="1700" dirty="0">
                <a:solidFill>
                  <a:srgbClr val="000000"/>
                </a:solidFill>
                <a:latin typeface="Consolas" panose="020B0609020204030204" pitchFamily="49" charset="0"/>
              </a:rPr>
              <a:t>    </a:t>
            </a:r>
            <a:r>
              <a:rPr lang="en-US" sz="1700" dirty="0">
                <a:solidFill>
                  <a:srgbClr val="0000FF"/>
                </a:solidFill>
                <a:latin typeface="Consolas" panose="020B0609020204030204" pitchFamily="49" charset="0"/>
              </a:rPr>
              <a:t>return</a:t>
            </a:r>
            <a:r>
              <a:rPr lang="en-US" sz="1700" dirty="0">
                <a:solidFill>
                  <a:srgbClr val="000000"/>
                </a:solidFill>
                <a:latin typeface="Consolas" panose="020B0609020204030204" pitchFamily="49" charset="0"/>
              </a:rPr>
              <a:t> </a:t>
            </a:r>
            <a:r>
              <a:rPr lang="en-US" sz="1700" dirty="0">
                <a:solidFill>
                  <a:srgbClr val="0000FF"/>
                </a:solidFill>
                <a:latin typeface="Consolas" panose="020B0609020204030204" pitchFamily="49" charset="0"/>
              </a:rPr>
              <a:t>await</a:t>
            </a:r>
            <a:r>
              <a:rPr lang="en-US" sz="1700" dirty="0">
                <a:solidFill>
                  <a:srgbClr val="000000"/>
                </a:solidFill>
                <a:latin typeface="Consolas" panose="020B0609020204030204" pitchFamily="49" charset="0"/>
              </a:rPr>
              <a:t> </a:t>
            </a:r>
            <a:r>
              <a:rPr lang="en-US" sz="1700" dirty="0" err="1">
                <a:solidFill>
                  <a:srgbClr val="000000"/>
                </a:solidFill>
                <a:latin typeface="Consolas" panose="020B0609020204030204" pitchFamily="49" charset="0"/>
              </a:rPr>
              <a:t>ApplySpecification</a:t>
            </a:r>
            <a:r>
              <a:rPr lang="en-US" sz="1700" dirty="0">
                <a:solidFill>
                  <a:srgbClr val="000000"/>
                </a:solidFill>
                <a:latin typeface="Consolas" panose="020B0609020204030204" pitchFamily="49" charset="0"/>
              </a:rPr>
              <a:t>(spec).</a:t>
            </a:r>
            <a:r>
              <a:rPr lang="en-US" sz="1700" dirty="0" err="1">
                <a:solidFill>
                  <a:srgbClr val="000000"/>
                </a:solidFill>
                <a:latin typeface="Consolas" panose="020B0609020204030204" pitchFamily="49" charset="0"/>
              </a:rPr>
              <a:t>CountAsync</a:t>
            </a:r>
            <a:r>
              <a:rPr lang="en-US" sz="1700" dirty="0">
                <a:solidFill>
                  <a:srgbClr val="000000"/>
                </a:solidFill>
                <a:latin typeface="Consolas" panose="020B0609020204030204" pitchFamily="49" charset="0"/>
              </a:rPr>
              <a:t>();</a:t>
            </a:r>
          </a:p>
          <a:p>
            <a:pPr marL="0" indent="0">
              <a:buNone/>
            </a:pPr>
            <a:r>
              <a:rPr lang="fr-CA" sz="1700" dirty="0">
                <a:solidFill>
                  <a:srgbClr val="000000"/>
                </a:solidFill>
                <a:latin typeface="Consolas" panose="020B0609020204030204" pitchFamily="49" charset="0"/>
              </a:rPr>
              <a:t>  }</a:t>
            </a:r>
            <a:endParaRPr lang="fr-CA" sz="1700" dirty="0"/>
          </a:p>
        </p:txBody>
      </p:sp>
      <p:sp>
        <p:nvSpPr>
          <p:cNvPr id="4" name="Espace réservé du numéro de diapositive 3">
            <a:extLst>
              <a:ext uri="{FF2B5EF4-FFF2-40B4-BE49-F238E27FC236}">
                <a16:creationId xmlns:a16="http://schemas.microsoft.com/office/drawing/2014/main" id="{A440F9A8-D4F2-4263-B3D6-953825B5D1FE}"/>
              </a:ext>
            </a:extLst>
          </p:cNvPr>
          <p:cNvSpPr>
            <a:spLocks noGrp="1"/>
          </p:cNvSpPr>
          <p:nvPr>
            <p:ph type="sldNum" sz="quarter" idx="12"/>
          </p:nvPr>
        </p:nvSpPr>
        <p:spPr/>
        <p:txBody>
          <a:bodyPr/>
          <a:lstStyle/>
          <a:p>
            <a:pPr>
              <a:defRPr/>
            </a:pPr>
            <a:fld id="{7FEE665E-3450-413D-913D-057FF7C87532}" type="slidenum">
              <a:rPr lang="en-US" altLang="en-US" smtClean="0"/>
              <a:pPr>
                <a:defRPr/>
              </a:pPr>
              <a:t>49</a:t>
            </a:fld>
            <a:endParaRPr lang="en-US" altLang="en-US"/>
          </a:p>
        </p:txBody>
      </p:sp>
    </p:spTree>
    <p:extLst>
      <p:ext uri="{BB962C8B-B14F-4D97-AF65-F5344CB8AC3E}">
        <p14:creationId xmlns:p14="http://schemas.microsoft.com/office/powerpoint/2010/main" val="2646769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CA" dirty="0"/>
              <a:t>Repository</a:t>
            </a:r>
            <a:r>
              <a:rPr lang="fr-CA" dirty="0"/>
              <a:t> spécifique</a:t>
            </a:r>
          </a:p>
        </p:txBody>
      </p:sp>
      <p:sp>
        <p:nvSpPr>
          <p:cNvPr id="3" name="Espace réservé du contenu 2"/>
          <p:cNvSpPr>
            <a:spLocks noGrp="1"/>
          </p:cNvSpPr>
          <p:nvPr>
            <p:ph idx="1"/>
          </p:nvPr>
        </p:nvSpPr>
        <p:spPr/>
        <p:txBody>
          <a:bodyPr/>
          <a:lstStyle/>
          <a:p>
            <a:r>
              <a:rPr lang="fr-CA" sz="2400" dirty="0"/>
              <a:t>Parfois, il peut être utile d’avoir des méthodes supplémentaires dans un </a:t>
            </a:r>
            <a:r>
              <a:rPr lang="en-CA" sz="2400" i="1" dirty="0"/>
              <a:t>repository</a:t>
            </a:r>
            <a:r>
              <a:rPr lang="fr-CA" sz="2400" dirty="0"/>
              <a:t> pour effectuer des opérations d’extraction fréquemment utilisées</a:t>
            </a:r>
          </a:p>
          <a:p>
            <a:r>
              <a:rPr lang="fr-CA" sz="2400" dirty="0"/>
              <a:t>Par exemple, lorsqu’on charge une racine, on veut généralement manipuler ses sous-composants. Il faut alors les charger au préalable</a:t>
            </a:r>
          </a:p>
          <a:p>
            <a:r>
              <a:rPr lang="fr-CA" sz="2400" dirty="0"/>
              <a:t>Si on prend la racine </a:t>
            </a:r>
            <a:r>
              <a:rPr lang="fr-CA" sz="2400" i="1" dirty="0"/>
              <a:t>Transaction</a:t>
            </a:r>
            <a:r>
              <a:rPr lang="fr-CA" sz="2400" dirty="0"/>
              <a:t> en exemple, les étapes sont:</a:t>
            </a:r>
          </a:p>
          <a:p>
            <a:endParaRPr lang="fr-CA" dirty="0"/>
          </a:p>
          <a:p>
            <a:endParaRPr lang="fr-CA" dirty="0"/>
          </a:p>
        </p:txBody>
      </p:sp>
      <p:sp>
        <p:nvSpPr>
          <p:cNvPr id="4" name="Espace réservé du numéro de diapositive 3">
            <a:extLst>
              <a:ext uri="{FF2B5EF4-FFF2-40B4-BE49-F238E27FC236}">
                <a16:creationId xmlns:a16="http://schemas.microsoft.com/office/drawing/2014/main" id="{D277B298-8220-415C-84EA-0831B15D0C5E}"/>
              </a:ext>
            </a:extLst>
          </p:cNvPr>
          <p:cNvSpPr>
            <a:spLocks noGrp="1"/>
          </p:cNvSpPr>
          <p:nvPr>
            <p:ph type="sldNum" sz="quarter" idx="12"/>
          </p:nvPr>
        </p:nvSpPr>
        <p:spPr/>
        <p:txBody>
          <a:bodyPr/>
          <a:lstStyle/>
          <a:p>
            <a:pPr>
              <a:defRPr/>
            </a:pPr>
            <a:fld id="{7FEE665E-3450-413D-913D-057FF7C87532}" type="slidenum">
              <a:rPr lang="en-US" altLang="en-US" smtClean="0"/>
              <a:pPr>
                <a:defRPr/>
              </a:pPr>
              <a:t>50</a:t>
            </a:fld>
            <a:endParaRPr lang="en-US" altLang="en-US"/>
          </a:p>
        </p:txBody>
      </p:sp>
    </p:spTree>
    <p:extLst>
      <p:ext uri="{BB962C8B-B14F-4D97-AF65-F5344CB8AC3E}">
        <p14:creationId xmlns:p14="http://schemas.microsoft.com/office/powerpoint/2010/main" val="3379131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CA" dirty="0"/>
              <a:t>Repository</a:t>
            </a:r>
            <a:r>
              <a:rPr lang="fr-CA" dirty="0"/>
              <a:t> spécifique</a:t>
            </a:r>
          </a:p>
        </p:txBody>
      </p:sp>
      <p:sp>
        <p:nvSpPr>
          <p:cNvPr id="3" name="Espace réservé du contenu 2"/>
          <p:cNvSpPr>
            <a:spLocks noGrp="1"/>
          </p:cNvSpPr>
          <p:nvPr>
            <p:ph idx="1"/>
          </p:nvPr>
        </p:nvSpPr>
        <p:spPr>
          <a:xfrm>
            <a:off x="467544" y="1448780"/>
            <a:ext cx="8473736" cy="4325112"/>
          </a:xfrm>
        </p:spPr>
        <p:txBody>
          <a:bodyPr>
            <a:normAutofit/>
          </a:bodyPr>
          <a:lstStyle/>
          <a:p>
            <a:r>
              <a:rPr lang="fr-CA" sz="2400" dirty="0"/>
              <a:t>Déclarer l’interface de ce nouveau </a:t>
            </a:r>
            <a:r>
              <a:rPr lang="en-CA" sz="2400" dirty="0"/>
              <a:t>Repository</a:t>
            </a:r>
            <a:r>
              <a:rPr lang="fr-CA" sz="2400" dirty="0"/>
              <a:t> dans S</a:t>
            </a:r>
            <a:r>
              <a:rPr lang="en-CA" sz="2400" dirty="0" err="1"/>
              <a:t>ystèmeGestionStationService</a:t>
            </a:r>
            <a:r>
              <a:rPr lang="fr-CA" sz="2400" dirty="0"/>
              <a:t>.</a:t>
            </a:r>
            <a:r>
              <a:rPr lang="fr-CA" sz="2400" dirty="0" err="1"/>
              <a:t>Core.Interfaces</a:t>
            </a:r>
            <a:r>
              <a:rPr lang="fr-CA" sz="2400" dirty="0"/>
              <a:t> (dossier </a:t>
            </a:r>
            <a:r>
              <a:rPr lang="fr-CA" sz="2400" i="1" dirty="0"/>
              <a:t>Interfaces</a:t>
            </a:r>
            <a:r>
              <a:rPr lang="fr-CA" sz="2400" dirty="0"/>
              <a:t>):</a:t>
            </a:r>
          </a:p>
          <a:p>
            <a:pPr marL="0" indent="0">
              <a:buNone/>
            </a:pPr>
            <a:r>
              <a:rPr lang="fr-CA" sz="1600" dirty="0">
                <a:solidFill>
                  <a:srgbClr val="0000FF"/>
                </a:solidFill>
                <a:latin typeface="Consolas" panose="020B0609020204030204" pitchFamily="49" charset="0"/>
              </a:rPr>
              <a:t> public</a:t>
            </a:r>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interface</a:t>
            </a:r>
            <a:r>
              <a:rPr lang="fr-CA" sz="1600" dirty="0">
                <a:solidFill>
                  <a:srgbClr val="000000"/>
                </a:solidFill>
                <a:latin typeface="Consolas" panose="020B0609020204030204" pitchFamily="49" charset="0"/>
              </a:rPr>
              <a:t> </a:t>
            </a:r>
            <a:r>
              <a:rPr lang="fr-CA" sz="1600" dirty="0" err="1">
                <a:solidFill>
                  <a:srgbClr val="2B91AF"/>
                </a:solidFill>
                <a:latin typeface="Consolas" panose="020B0609020204030204" pitchFamily="49" charset="0"/>
              </a:rPr>
              <a:t>ITransactionRepository</a:t>
            </a:r>
            <a:r>
              <a:rPr lang="fr-CA" sz="1600" dirty="0">
                <a:solidFill>
                  <a:srgbClr val="000000"/>
                </a:solidFill>
                <a:latin typeface="Consolas" panose="020B0609020204030204" pitchFamily="49" charset="0"/>
              </a:rPr>
              <a:t> : </a:t>
            </a:r>
            <a:r>
              <a:rPr lang="fr-CA" sz="1600" dirty="0" err="1">
                <a:solidFill>
                  <a:srgbClr val="000000"/>
                </a:solidFill>
                <a:latin typeface="Consolas" panose="020B0609020204030204" pitchFamily="49" charset="0"/>
              </a:rPr>
              <a:t>IAsyncRepository</a:t>
            </a:r>
            <a:r>
              <a:rPr lang="fr-CA" sz="1600" dirty="0">
                <a:solidFill>
                  <a:srgbClr val="000000"/>
                </a:solidFill>
                <a:latin typeface="Consolas" panose="020B0609020204030204" pitchFamily="49" charset="0"/>
              </a:rPr>
              <a:t>&lt;Transaction&gt;, </a:t>
            </a:r>
          </a:p>
          <a:p>
            <a:pPr marL="0" indent="0">
              <a:buNone/>
            </a:pP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IRepository</a:t>
            </a:r>
            <a:r>
              <a:rPr lang="fr-CA" sz="1600" dirty="0">
                <a:solidFill>
                  <a:srgbClr val="000000"/>
                </a:solidFill>
                <a:latin typeface="Consolas" panose="020B0609020204030204" pitchFamily="49" charset="0"/>
              </a:rPr>
              <a:t>&lt;Transaction&gt;</a:t>
            </a:r>
          </a:p>
          <a:p>
            <a:pPr marL="0" indent="0">
              <a:buNone/>
            </a:pPr>
            <a:r>
              <a:rPr lang="fr-CA" sz="1600" dirty="0">
                <a:solidFill>
                  <a:srgbClr val="000000"/>
                </a:solidFill>
                <a:latin typeface="Consolas" panose="020B0609020204030204" pitchFamily="49" charset="0"/>
              </a:rPr>
              <a:t>  {</a:t>
            </a:r>
          </a:p>
          <a:p>
            <a:pPr marL="0" indent="0">
              <a:buNone/>
            </a:pP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Task</a:t>
            </a:r>
            <a:r>
              <a:rPr lang="fr-CA" sz="1600" dirty="0">
                <a:solidFill>
                  <a:srgbClr val="000000"/>
                </a:solidFill>
                <a:latin typeface="Consolas" panose="020B0609020204030204" pitchFamily="49" charset="0"/>
              </a:rPr>
              <a:t>&lt;Transaction&gt; </a:t>
            </a:r>
            <a:r>
              <a:rPr lang="fr-CA" sz="1600" dirty="0" err="1">
                <a:solidFill>
                  <a:srgbClr val="000000"/>
                </a:solidFill>
                <a:latin typeface="Consolas" panose="020B0609020204030204" pitchFamily="49" charset="0"/>
              </a:rPr>
              <a:t>GetByIdWithPaiementsAsync</a:t>
            </a:r>
            <a:r>
              <a:rPr lang="fr-CA" sz="1600" dirty="0">
                <a:solidFill>
                  <a:srgbClr val="000000"/>
                </a:solidFill>
                <a:latin typeface="Consolas" panose="020B0609020204030204" pitchFamily="49" charset="0"/>
              </a:rPr>
              <a:t>(</a:t>
            </a:r>
            <a:r>
              <a:rPr lang="fr-CA" sz="1600" dirty="0" err="1">
                <a:solidFill>
                  <a:srgbClr val="0000FF"/>
                </a:solidFill>
                <a:latin typeface="Consolas" panose="020B0609020204030204" pitchFamily="49" charset="0"/>
              </a:rPr>
              <a:t>int</a:t>
            </a:r>
            <a:r>
              <a:rPr lang="fr-CA" sz="1600" dirty="0">
                <a:solidFill>
                  <a:srgbClr val="000000"/>
                </a:solidFill>
                <a:latin typeface="Consolas" panose="020B0609020204030204" pitchFamily="49" charset="0"/>
              </a:rPr>
              <a:t> id);</a:t>
            </a:r>
          </a:p>
          <a:p>
            <a:pPr marL="0" indent="0">
              <a:buNone/>
            </a:pPr>
            <a:r>
              <a:rPr lang="fr-CA" sz="1600" dirty="0">
                <a:solidFill>
                  <a:srgbClr val="000000"/>
                </a:solidFill>
                <a:latin typeface="Consolas" panose="020B0609020204030204" pitchFamily="49" charset="0"/>
              </a:rPr>
              <a:t>    Transaction </a:t>
            </a:r>
            <a:r>
              <a:rPr lang="fr-CA" sz="1600" dirty="0" err="1">
                <a:solidFill>
                  <a:srgbClr val="000000"/>
                </a:solidFill>
                <a:latin typeface="Consolas" panose="020B0609020204030204" pitchFamily="49" charset="0"/>
              </a:rPr>
              <a:t>GetByIdWithPaiements</a:t>
            </a:r>
            <a:r>
              <a:rPr lang="fr-CA" sz="1600" dirty="0">
                <a:solidFill>
                  <a:srgbClr val="000000"/>
                </a:solidFill>
                <a:latin typeface="Consolas" panose="020B0609020204030204" pitchFamily="49" charset="0"/>
              </a:rPr>
              <a:t>(</a:t>
            </a:r>
            <a:r>
              <a:rPr lang="fr-CA" sz="1600" dirty="0" err="1">
                <a:solidFill>
                  <a:srgbClr val="0000FF"/>
                </a:solidFill>
                <a:latin typeface="Consolas" panose="020B0609020204030204" pitchFamily="49" charset="0"/>
              </a:rPr>
              <a:t>int</a:t>
            </a:r>
            <a:r>
              <a:rPr lang="fr-CA" sz="1600" dirty="0">
                <a:solidFill>
                  <a:srgbClr val="000000"/>
                </a:solidFill>
                <a:latin typeface="Consolas" panose="020B0609020204030204" pitchFamily="49" charset="0"/>
              </a:rPr>
              <a:t> id);</a:t>
            </a:r>
          </a:p>
          <a:p>
            <a:pPr marL="0" indent="0">
              <a:buNone/>
            </a:pPr>
            <a:r>
              <a:rPr lang="fr-CA" sz="1600" dirty="0">
                <a:solidFill>
                  <a:srgbClr val="000000"/>
                </a:solidFill>
                <a:latin typeface="Consolas" panose="020B0609020204030204" pitchFamily="49" charset="0"/>
              </a:rPr>
              <a:t>  }</a:t>
            </a:r>
            <a:endParaRPr lang="fr-CA" sz="1600" dirty="0"/>
          </a:p>
          <a:p>
            <a:r>
              <a:rPr lang="fr-CA" sz="2400" dirty="0"/>
              <a:t>Implanter le repository dans le dossier repositories du projet Infrastructure</a:t>
            </a:r>
          </a:p>
          <a:p>
            <a:endParaRPr lang="fr-CA" dirty="0"/>
          </a:p>
        </p:txBody>
      </p:sp>
      <p:sp>
        <p:nvSpPr>
          <p:cNvPr id="4" name="Espace réservé du numéro de diapositive 3">
            <a:extLst>
              <a:ext uri="{FF2B5EF4-FFF2-40B4-BE49-F238E27FC236}">
                <a16:creationId xmlns:a16="http://schemas.microsoft.com/office/drawing/2014/main" id="{1EF4CAFC-85C8-4506-AC71-D0A6B8C245DB}"/>
              </a:ext>
            </a:extLst>
          </p:cNvPr>
          <p:cNvSpPr>
            <a:spLocks noGrp="1"/>
          </p:cNvSpPr>
          <p:nvPr>
            <p:ph type="sldNum" sz="quarter" idx="12"/>
          </p:nvPr>
        </p:nvSpPr>
        <p:spPr/>
        <p:txBody>
          <a:bodyPr/>
          <a:lstStyle/>
          <a:p>
            <a:pPr>
              <a:defRPr/>
            </a:pPr>
            <a:fld id="{7FEE665E-3450-413D-913D-057FF7C87532}" type="slidenum">
              <a:rPr lang="en-US" altLang="en-US" smtClean="0"/>
              <a:pPr>
                <a:defRPr/>
              </a:pPr>
              <a:t>51</a:t>
            </a:fld>
            <a:endParaRPr lang="en-US" altLang="en-US"/>
          </a:p>
        </p:txBody>
      </p:sp>
    </p:spTree>
    <p:extLst>
      <p:ext uri="{BB962C8B-B14F-4D97-AF65-F5344CB8AC3E}">
        <p14:creationId xmlns:p14="http://schemas.microsoft.com/office/powerpoint/2010/main" val="1683695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err="1"/>
              <a:t>Repository</a:t>
            </a:r>
            <a:r>
              <a:rPr lang="fr-CA" dirty="0"/>
              <a:t> spécifique</a:t>
            </a:r>
          </a:p>
        </p:txBody>
      </p:sp>
      <p:sp>
        <p:nvSpPr>
          <p:cNvPr id="3" name="Espace réservé du contenu 2"/>
          <p:cNvSpPr>
            <a:spLocks noGrp="1"/>
          </p:cNvSpPr>
          <p:nvPr>
            <p:ph idx="1"/>
          </p:nvPr>
        </p:nvSpPr>
        <p:spPr>
          <a:xfrm>
            <a:off x="228600" y="1403874"/>
            <a:ext cx="8686800" cy="5454126"/>
          </a:xfrm>
        </p:spPr>
        <p:txBody>
          <a:bodyPr>
            <a:normAutofit fontScale="62500" lnSpcReduction="20000"/>
          </a:bodyPr>
          <a:lstStyle/>
          <a:p>
            <a:pPr marL="0" indent="0">
              <a:buNone/>
            </a:pPr>
            <a:r>
              <a:rPr lang="en-US" dirty="0"/>
              <a:t> </a:t>
            </a:r>
            <a:r>
              <a:rPr lang="en-US" sz="2300" dirty="0">
                <a:solidFill>
                  <a:srgbClr val="0000FF"/>
                </a:solidFill>
                <a:latin typeface="Consolas" panose="020B0609020204030204" pitchFamily="49" charset="0"/>
              </a:rPr>
              <a:t>public</a:t>
            </a:r>
            <a:r>
              <a:rPr lang="en-US" sz="2300" dirty="0">
                <a:solidFill>
                  <a:srgbClr val="000000"/>
                </a:solidFill>
                <a:latin typeface="Consolas" panose="020B0609020204030204" pitchFamily="49" charset="0"/>
              </a:rPr>
              <a:t> </a:t>
            </a:r>
            <a:r>
              <a:rPr lang="en-US" sz="2300" dirty="0">
                <a:solidFill>
                  <a:srgbClr val="0000FF"/>
                </a:solidFill>
                <a:latin typeface="Consolas" panose="020B0609020204030204" pitchFamily="49" charset="0"/>
              </a:rPr>
              <a:t>class</a:t>
            </a:r>
            <a:r>
              <a:rPr lang="en-US" sz="2300" dirty="0">
                <a:solidFill>
                  <a:srgbClr val="000000"/>
                </a:solidFill>
                <a:latin typeface="Consolas" panose="020B0609020204030204" pitchFamily="49" charset="0"/>
              </a:rPr>
              <a:t> </a:t>
            </a:r>
            <a:r>
              <a:rPr lang="en-US" sz="2300" dirty="0" err="1">
                <a:solidFill>
                  <a:srgbClr val="2B91AF"/>
                </a:solidFill>
                <a:latin typeface="Consolas" panose="020B0609020204030204" pitchFamily="49" charset="0"/>
              </a:rPr>
              <a:t>TransactionRepository</a:t>
            </a:r>
            <a:r>
              <a:rPr lang="en-US" sz="2300" dirty="0">
                <a:solidFill>
                  <a:srgbClr val="000000"/>
                </a:solidFill>
                <a:latin typeface="Consolas" panose="020B0609020204030204" pitchFamily="49" charset="0"/>
              </a:rPr>
              <a:t> : </a:t>
            </a:r>
            <a:r>
              <a:rPr lang="en-US" sz="2300" dirty="0" err="1">
                <a:solidFill>
                  <a:srgbClr val="000000"/>
                </a:solidFill>
                <a:latin typeface="Consolas" panose="020B0609020204030204" pitchFamily="49" charset="0"/>
              </a:rPr>
              <a:t>EfRepository</a:t>
            </a:r>
            <a:r>
              <a:rPr lang="en-US" sz="2300" dirty="0">
                <a:solidFill>
                  <a:srgbClr val="000000"/>
                </a:solidFill>
                <a:latin typeface="Consolas" panose="020B0609020204030204" pitchFamily="49" charset="0"/>
              </a:rPr>
              <a:t>&lt;Transaction&gt;, </a:t>
            </a:r>
            <a:r>
              <a:rPr lang="en-US" sz="2300" dirty="0" err="1">
                <a:solidFill>
                  <a:srgbClr val="000000"/>
                </a:solidFill>
                <a:latin typeface="Consolas" panose="020B0609020204030204" pitchFamily="49" charset="0"/>
              </a:rPr>
              <a:t>ITransactionRepository</a:t>
            </a:r>
            <a:endParaRPr lang="en-US" sz="2300" dirty="0">
              <a:solidFill>
                <a:srgbClr val="000000"/>
              </a:solidFill>
              <a:latin typeface="Consolas" panose="020B0609020204030204" pitchFamily="49" charset="0"/>
            </a:endParaRPr>
          </a:p>
          <a:p>
            <a:pPr marL="0" indent="0">
              <a:buNone/>
            </a:pPr>
            <a:r>
              <a:rPr lang="fr-CA" sz="2300" dirty="0">
                <a:solidFill>
                  <a:srgbClr val="000000"/>
                </a:solidFill>
                <a:latin typeface="Consolas" panose="020B0609020204030204" pitchFamily="49" charset="0"/>
              </a:rPr>
              <a:t>  {</a:t>
            </a:r>
          </a:p>
          <a:p>
            <a:pPr marL="0" indent="0">
              <a:buNone/>
            </a:pPr>
            <a:r>
              <a:rPr lang="fr-CA" sz="2300" dirty="0">
                <a:solidFill>
                  <a:srgbClr val="000000"/>
                </a:solidFill>
                <a:latin typeface="Consolas" panose="020B0609020204030204" pitchFamily="49" charset="0"/>
              </a:rPr>
              <a:t>    </a:t>
            </a:r>
            <a:r>
              <a:rPr lang="fr-CA" sz="2300" dirty="0">
                <a:solidFill>
                  <a:srgbClr val="0000FF"/>
                </a:solidFill>
                <a:latin typeface="Consolas" panose="020B0609020204030204" pitchFamily="49" charset="0"/>
              </a:rPr>
              <a:t>public</a:t>
            </a:r>
            <a:r>
              <a:rPr lang="fr-CA" sz="2300" dirty="0">
                <a:solidFill>
                  <a:srgbClr val="000000"/>
                </a:solidFill>
                <a:latin typeface="Consolas" panose="020B0609020204030204" pitchFamily="49" charset="0"/>
              </a:rPr>
              <a:t> </a:t>
            </a:r>
            <a:r>
              <a:rPr lang="fr-CA" sz="2300" dirty="0" err="1">
                <a:solidFill>
                  <a:srgbClr val="2B91AF"/>
                </a:solidFill>
                <a:latin typeface="Consolas" panose="020B0609020204030204" pitchFamily="49" charset="0"/>
              </a:rPr>
              <a:t>TransactionRepository</a:t>
            </a:r>
            <a:r>
              <a:rPr lang="fr-CA" sz="2300" dirty="0">
                <a:solidFill>
                  <a:srgbClr val="000000"/>
                </a:solidFill>
                <a:latin typeface="Consolas" panose="020B0609020204030204" pitchFamily="49" charset="0"/>
              </a:rPr>
              <a:t>(</a:t>
            </a:r>
            <a:r>
              <a:rPr lang="fr-CA" sz="2300" dirty="0" err="1">
                <a:solidFill>
                  <a:srgbClr val="000000"/>
                </a:solidFill>
                <a:latin typeface="Consolas" panose="020B0609020204030204" pitchFamily="49" charset="0"/>
              </a:rPr>
              <a:t>SystèmeGestionStationServiceContext</a:t>
            </a:r>
            <a:r>
              <a:rPr lang="fr-CA" sz="2300" dirty="0">
                <a:solidFill>
                  <a:srgbClr val="000000"/>
                </a:solidFill>
                <a:latin typeface="Consolas" panose="020B0609020204030204" pitchFamily="49" charset="0"/>
              </a:rPr>
              <a:t> </a:t>
            </a:r>
          </a:p>
          <a:p>
            <a:pPr marL="0" indent="0">
              <a:buNone/>
            </a:pPr>
            <a:r>
              <a:rPr lang="fr-CA" sz="2300" dirty="0">
                <a:solidFill>
                  <a:srgbClr val="000000"/>
                </a:solidFill>
                <a:latin typeface="Consolas" panose="020B0609020204030204" pitchFamily="49" charset="0"/>
              </a:rPr>
              <a:t>        </a:t>
            </a:r>
            <a:r>
              <a:rPr lang="fr-CA" sz="2300" dirty="0" err="1">
                <a:solidFill>
                  <a:srgbClr val="000000"/>
                </a:solidFill>
                <a:latin typeface="Consolas" panose="020B0609020204030204" pitchFamily="49" charset="0"/>
              </a:rPr>
              <a:t>systèmeGestionStationServiceContext</a:t>
            </a:r>
            <a:r>
              <a:rPr lang="fr-CA" sz="2300" dirty="0">
                <a:solidFill>
                  <a:srgbClr val="000000"/>
                </a:solidFill>
                <a:latin typeface="Consolas" panose="020B0609020204030204" pitchFamily="49" charset="0"/>
              </a:rPr>
              <a:t>) : </a:t>
            </a:r>
          </a:p>
          <a:p>
            <a:pPr marL="0" indent="0">
              <a:buNone/>
            </a:pPr>
            <a:r>
              <a:rPr lang="fr-CA" sz="2300" dirty="0">
                <a:solidFill>
                  <a:srgbClr val="000000"/>
                </a:solidFill>
                <a:latin typeface="Consolas" panose="020B0609020204030204" pitchFamily="49" charset="0"/>
              </a:rPr>
              <a:t>        </a:t>
            </a:r>
            <a:r>
              <a:rPr lang="fr-CA" sz="2300" dirty="0">
                <a:solidFill>
                  <a:srgbClr val="0000FF"/>
                </a:solidFill>
                <a:latin typeface="Consolas" panose="020B0609020204030204" pitchFamily="49" charset="0"/>
              </a:rPr>
              <a:t>base</a:t>
            </a:r>
            <a:r>
              <a:rPr lang="fr-CA" sz="2300" dirty="0">
                <a:solidFill>
                  <a:srgbClr val="000000"/>
                </a:solidFill>
                <a:latin typeface="Consolas" panose="020B0609020204030204" pitchFamily="49" charset="0"/>
              </a:rPr>
              <a:t>(</a:t>
            </a:r>
            <a:r>
              <a:rPr lang="fr-CA" sz="2300" dirty="0" err="1">
                <a:solidFill>
                  <a:srgbClr val="000000"/>
                </a:solidFill>
                <a:latin typeface="Consolas" panose="020B0609020204030204" pitchFamily="49" charset="0"/>
              </a:rPr>
              <a:t>systèmeGestionStationServiceContext</a:t>
            </a:r>
            <a:r>
              <a:rPr lang="fr-CA" sz="2300" dirty="0">
                <a:solidFill>
                  <a:srgbClr val="000000"/>
                </a:solidFill>
                <a:latin typeface="Consolas" panose="020B0609020204030204" pitchFamily="49" charset="0"/>
              </a:rPr>
              <a:t>)</a:t>
            </a:r>
          </a:p>
          <a:p>
            <a:pPr marL="0" indent="0">
              <a:buNone/>
            </a:pPr>
            <a:r>
              <a:rPr lang="fr-CA" sz="2300" dirty="0">
                <a:solidFill>
                  <a:srgbClr val="000000"/>
                </a:solidFill>
                <a:latin typeface="Consolas" panose="020B0609020204030204" pitchFamily="49" charset="0"/>
              </a:rPr>
              <a:t>    {    }</a:t>
            </a:r>
          </a:p>
          <a:p>
            <a:pPr marL="0" indent="0">
              <a:buNone/>
            </a:pPr>
            <a:endParaRPr lang="fr-CA" sz="2300" dirty="0">
              <a:solidFill>
                <a:srgbClr val="000000"/>
              </a:solidFill>
              <a:latin typeface="Consolas" panose="020B0609020204030204" pitchFamily="49" charset="0"/>
            </a:endParaRPr>
          </a:p>
          <a:p>
            <a:pPr marL="0" indent="0">
              <a:buNone/>
            </a:pPr>
            <a:r>
              <a:rPr lang="fr-CA" sz="2300" dirty="0">
                <a:solidFill>
                  <a:srgbClr val="000000"/>
                </a:solidFill>
                <a:latin typeface="Consolas" panose="020B0609020204030204" pitchFamily="49" charset="0"/>
              </a:rPr>
              <a:t>   </a:t>
            </a:r>
            <a:r>
              <a:rPr lang="fr-CA" sz="2300" dirty="0">
                <a:solidFill>
                  <a:srgbClr val="0000FF"/>
                </a:solidFill>
                <a:latin typeface="Consolas" panose="020B0609020204030204" pitchFamily="49" charset="0"/>
              </a:rPr>
              <a:t>public</a:t>
            </a:r>
            <a:r>
              <a:rPr lang="fr-CA" sz="2300" dirty="0">
                <a:solidFill>
                  <a:srgbClr val="000000"/>
                </a:solidFill>
                <a:latin typeface="Consolas" panose="020B0609020204030204" pitchFamily="49" charset="0"/>
              </a:rPr>
              <a:t> </a:t>
            </a:r>
            <a:r>
              <a:rPr lang="fr-CA" sz="2300" dirty="0" err="1">
                <a:solidFill>
                  <a:srgbClr val="000000"/>
                </a:solidFill>
                <a:latin typeface="Consolas" panose="020B0609020204030204" pitchFamily="49" charset="0"/>
              </a:rPr>
              <a:t>Task</a:t>
            </a:r>
            <a:r>
              <a:rPr lang="fr-CA" sz="2300" dirty="0">
                <a:solidFill>
                  <a:srgbClr val="000000"/>
                </a:solidFill>
                <a:latin typeface="Consolas" panose="020B0609020204030204" pitchFamily="49" charset="0"/>
              </a:rPr>
              <a:t>&lt;Transaction&gt; </a:t>
            </a:r>
            <a:r>
              <a:rPr lang="fr-CA" sz="2300" dirty="0" err="1">
                <a:solidFill>
                  <a:srgbClr val="000000"/>
                </a:solidFill>
                <a:latin typeface="Consolas" panose="020B0609020204030204" pitchFamily="49" charset="0"/>
              </a:rPr>
              <a:t>GetByIdWithPaiementsAsync</a:t>
            </a:r>
            <a:r>
              <a:rPr lang="fr-CA" sz="2300" dirty="0">
                <a:solidFill>
                  <a:srgbClr val="000000"/>
                </a:solidFill>
                <a:latin typeface="Consolas" panose="020B0609020204030204" pitchFamily="49" charset="0"/>
              </a:rPr>
              <a:t>(</a:t>
            </a:r>
            <a:r>
              <a:rPr lang="fr-CA" sz="2300" dirty="0" err="1">
                <a:solidFill>
                  <a:srgbClr val="0000FF"/>
                </a:solidFill>
                <a:latin typeface="Consolas" panose="020B0609020204030204" pitchFamily="49" charset="0"/>
              </a:rPr>
              <a:t>int</a:t>
            </a:r>
            <a:r>
              <a:rPr lang="fr-CA" sz="2300" dirty="0">
                <a:solidFill>
                  <a:srgbClr val="000000"/>
                </a:solidFill>
                <a:latin typeface="Consolas" panose="020B0609020204030204" pitchFamily="49" charset="0"/>
              </a:rPr>
              <a:t> id)</a:t>
            </a:r>
          </a:p>
          <a:p>
            <a:pPr marL="0" indent="0">
              <a:buNone/>
            </a:pPr>
            <a:r>
              <a:rPr lang="fr-CA" sz="2300" dirty="0">
                <a:solidFill>
                  <a:srgbClr val="000000"/>
                </a:solidFill>
                <a:latin typeface="Consolas" panose="020B0609020204030204" pitchFamily="49" charset="0"/>
              </a:rPr>
              <a:t>    {</a:t>
            </a:r>
          </a:p>
          <a:p>
            <a:pPr marL="0" indent="0">
              <a:buNone/>
            </a:pPr>
            <a:r>
              <a:rPr lang="fr-CA" sz="2300" dirty="0">
                <a:solidFill>
                  <a:srgbClr val="000000"/>
                </a:solidFill>
                <a:latin typeface="Consolas" panose="020B0609020204030204" pitchFamily="49" charset="0"/>
              </a:rPr>
              <a:t>      </a:t>
            </a:r>
            <a:r>
              <a:rPr lang="fr-CA" sz="2300" dirty="0">
                <a:solidFill>
                  <a:srgbClr val="0000FF"/>
                </a:solidFill>
                <a:latin typeface="Consolas" panose="020B0609020204030204" pitchFamily="49" charset="0"/>
              </a:rPr>
              <a:t>return</a:t>
            </a:r>
            <a:r>
              <a:rPr lang="fr-CA" sz="2300" dirty="0">
                <a:solidFill>
                  <a:srgbClr val="000000"/>
                </a:solidFill>
                <a:latin typeface="Consolas" panose="020B0609020204030204" pitchFamily="49" charset="0"/>
              </a:rPr>
              <a:t> _</a:t>
            </a:r>
            <a:r>
              <a:rPr lang="fr-CA" sz="2300" dirty="0" err="1">
                <a:solidFill>
                  <a:srgbClr val="000000"/>
                </a:solidFill>
                <a:latin typeface="Consolas" panose="020B0609020204030204" pitchFamily="49" charset="0"/>
              </a:rPr>
              <a:t>SystèmeGestionStationServiceContext.Transactions</a:t>
            </a:r>
            <a:endParaRPr lang="fr-CA" sz="2300" dirty="0">
              <a:solidFill>
                <a:srgbClr val="000000"/>
              </a:solidFill>
              <a:latin typeface="Consolas" panose="020B0609020204030204" pitchFamily="49" charset="0"/>
            </a:endParaRPr>
          </a:p>
          <a:p>
            <a:pPr marL="0" indent="0">
              <a:buNone/>
            </a:pPr>
            <a:r>
              <a:rPr lang="fr-CA" sz="2300" dirty="0">
                <a:solidFill>
                  <a:srgbClr val="000000"/>
                </a:solidFill>
                <a:latin typeface="Consolas" panose="020B0609020204030204" pitchFamily="49" charset="0"/>
              </a:rPr>
              <a:t>            .</a:t>
            </a:r>
            <a:r>
              <a:rPr lang="fr-CA" sz="2300" dirty="0" err="1">
                <a:solidFill>
                  <a:srgbClr val="000000"/>
                </a:solidFill>
                <a:latin typeface="Consolas" panose="020B0609020204030204" pitchFamily="49" charset="0"/>
              </a:rPr>
              <a:t>Include</a:t>
            </a:r>
            <a:r>
              <a:rPr lang="fr-CA" sz="2300" dirty="0">
                <a:solidFill>
                  <a:srgbClr val="000000"/>
                </a:solidFill>
                <a:latin typeface="Consolas" panose="020B0609020204030204" pitchFamily="49" charset="0"/>
              </a:rPr>
              <a:t>(t =&gt; </a:t>
            </a:r>
            <a:r>
              <a:rPr lang="fr-CA" sz="2300" dirty="0" err="1">
                <a:solidFill>
                  <a:srgbClr val="000000"/>
                </a:solidFill>
                <a:latin typeface="Consolas" panose="020B0609020204030204" pitchFamily="49" charset="0"/>
              </a:rPr>
              <a:t>t.Paiements</a:t>
            </a:r>
            <a:r>
              <a:rPr lang="fr-CA" sz="2300" dirty="0">
                <a:solidFill>
                  <a:srgbClr val="000000"/>
                </a:solidFill>
                <a:latin typeface="Consolas" panose="020B0609020204030204" pitchFamily="49" charset="0"/>
              </a:rPr>
              <a:t>)</a:t>
            </a:r>
          </a:p>
          <a:p>
            <a:pPr marL="0" indent="0">
              <a:buNone/>
            </a:pPr>
            <a:r>
              <a:rPr lang="fr-CA" sz="2300" dirty="0">
                <a:solidFill>
                  <a:srgbClr val="000000"/>
                </a:solidFill>
                <a:latin typeface="Consolas" panose="020B0609020204030204" pitchFamily="49" charset="0"/>
              </a:rPr>
              <a:t>            .</a:t>
            </a:r>
            <a:r>
              <a:rPr lang="fr-CA" sz="2300" dirty="0" err="1">
                <a:solidFill>
                  <a:srgbClr val="000000"/>
                </a:solidFill>
                <a:latin typeface="Consolas" panose="020B0609020204030204" pitchFamily="49" charset="0"/>
              </a:rPr>
              <a:t>Include</a:t>
            </a:r>
            <a:r>
              <a:rPr lang="fr-CA" sz="2300" dirty="0">
                <a:solidFill>
                  <a:srgbClr val="000000"/>
                </a:solidFill>
                <a:latin typeface="Consolas" panose="020B0609020204030204" pitchFamily="49" charset="0"/>
              </a:rPr>
              <a:t>(t =&gt; </a:t>
            </a:r>
            <a:r>
              <a:rPr lang="fr-CA" sz="2300" dirty="0" err="1">
                <a:solidFill>
                  <a:srgbClr val="000000"/>
                </a:solidFill>
                <a:latin typeface="Consolas" panose="020B0609020204030204" pitchFamily="49" charset="0"/>
              </a:rPr>
              <a:t>t.Pompe</a:t>
            </a:r>
            <a:r>
              <a:rPr lang="fr-CA" sz="2300" dirty="0">
                <a:solidFill>
                  <a:srgbClr val="000000"/>
                </a:solidFill>
                <a:latin typeface="Consolas" panose="020B0609020204030204" pitchFamily="49" charset="0"/>
              </a:rPr>
              <a:t>)</a:t>
            </a:r>
          </a:p>
          <a:p>
            <a:pPr marL="0" indent="0">
              <a:buNone/>
            </a:pPr>
            <a:r>
              <a:rPr lang="fr-CA" sz="2300" dirty="0">
                <a:solidFill>
                  <a:srgbClr val="000000"/>
                </a:solidFill>
                <a:latin typeface="Consolas" panose="020B0609020204030204" pitchFamily="49" charset="0"/>
              </a:rPr>
              <a:t>           .</a:t>
            </a:r>
            <a:r>
              <a:rPr lang="fr-CA" sz="2300" dirty="0" err="1">
                <a:solidFill>
                  <a:srgbClr val="000000"/>
                </a:solidFill>
                <a:latin typeface="Consolas" panose="020B0609020204030204" pitchFamily="49" charset="0"/>
              </a:rPr>
              <a:t>FirstOrDefaultAsync</a:t>
            </a:r>
            <a:r>
              <a:rPr lang="fr-CA" sz="2300" dirty="0">
                <a:solidFill>
                  <a:srgbClr val="000000"/>
                </a:solidFill>
                <a:latin typeface="Consolas" panose="020B0609020204030204" pitchFamily="49" charset="0"/>
              </a:rPr>
              <a:t>(t =&gt; </a:t>
            </a:r>
            <a:r>
              <a:rPr lang="fr-CA" sz="2300" dirty="0" err="1">
                <a:solidFill>
                  <a:srgbClr val="000000"/>
                </a:solidFill>
                <a:latin typeface="Consolas" panose="020B0609020204030204" pitchFamily="49" charset="0"/>
              </a:rPr>
              <a:t>t.Id</a:t>
            </a:r>
            <a:r>
              <a:rPr lang="fr-CA" sz="2300" dirty="0">
                <a:solidFill>
                  <a:srgbClr val="000000"/>
                </a:solidFill>
                <a:latin typeface="Consolas" panose="020B0609020204030204" pitchFamily="49" charset="0"/>
              </a:rPr>
              <a:t> == id);</a:t>
            </a:r>
          </a:p>
          <a:p>
            <a:pPr marL="0" indent="0">
              <a:buNone/>
            </a:pPr>
            <a:r>
              <a:rPr lang="fr-CA" sz="2300" dirty="0">
                <a:solidFill>
                  <a:srgbClr val="000000"/>
                </a:solidFill>
                <a:latin typeface="Consolas" panose="020B0609020204030204" pitchFamily="49" charset="0"/>
              </a:rPr>
              <a:t>    }</a:t>
            </a:r>
          </a:p>
          <a:p>
            <a:pPr marL="0" indent="0">
              <a:buNone/>
            </a:pPr>
            <a:endParaRPr lang="fr-CA" sz="2300" dirty="0">
              <a:solidFill>
                <a:srgbClr val="000000"/>
              </a:solidFill>
              <a:latin typeface="Consolas" panose="020B0609020204030204" pitchFamily="49" charset="0"/>
            </a:endParaRPr>
          </a:p>
          <a:p>
            <a:pPr marL="0" indent="0">
              <a:buNone/>
            </a:pPr>
            <a:r>
              <a:rPr lang="fr-CA" sz="2300" dirty="0">
                <a:solidFill>
                  <a:srgbClr val="000000"/>
                </a:solidFill>
                <a:latin typeface="Consolas" panose="020B0609020204030204" pitchFamily="49" charset="0"/>
              </a:rPr>
              <a:t>    </a:t>
            </a:r>
            <a:r>
              <a:rPr lang="fr-CA" sz="2300" dirty="0">
                <a:solidFill>
                  <a:srgbClr val="0000FF"/>
                </a:solidFill>
                <a:latin typeface="Consolas" panose="020B0609020204030204" pitchFamily="49" charset="0"/>
              </a:rPr>
              <a:t>public</a:t>
            </a:r>
            <a:r>
              <a:rPr lang="fr-CA" sz="2300" dirty="0">
                <a:solidFill>
                  <a:srgbClr val="000000"/>
                </a:solidFill>
                <a:latin typeface="Consolas" panose="020B0609020204030204" pitchFamily="49" charset="0"/>
              </a:rPr>
              <a:t> Transaction </a:t>
            </a:r>
            <a:r>
              <a:rPr lang="fr-CA" sz="2300" dirty="0" err="1">
                <a:solidFill>
                  <a:srgbClr val="000000"/>
                </a:solidFill>
                <a:latin typeface="Consolas" panose="020B0609020204030204" pitchFamily="49" charset="0"/>
              </a:rPr>
              <a:t>GetByIdWithPaiements</a:t>
            </a:r>
            <a:r>
              <a:rPr lang="fr-CA" sz="2300" dirty="0">
                <a:solidFill>
                  <a:srgbClr val="000000"/>
                </a:solidFill>
                <a:latin typeface="Consolas" panose="020B0609020204030204" pitchFamily="49" charset="0"/>
              </a:rPr>
              <a:t>(</a:t>
            </a:r>
            <a:r>
              <a:rPr lang="fr-CA" sz="2300" dirty="0" err="1">
                <a:solidFill>
                  <a:srgbClr val="0000FF"/>
                </a:solidFill>
                <a:latin typeface="Consolas" panose="020B0609020204030204" pitchFamily="49" charset="0"/>
              </a:rPr>
              <a:t>int</a:t>
            </a:r>
            <a:r>
              <a:rPr lang="fr-CA" sz="2300" dirty="0">
                <a:solidFill>
                  <a:srgbClr val="000000"/>
                </a:solidFill>
                <a:latin typeface="Consolas" panose="020B0609020204030204" pitchFamily="49" charset="0"/>
              </a:rPr>
              <a:t> id)</a:t>
            </a:r>
          </a:p>
          <a:p>
            <a:pPr marL="0" indent="0">
              <a:buNone/>
            </a:pPr>
            <a:r>
              <a:rPr lang="fr-CA" sz="2300" dirty="0">
                <a:solidFill>
                  <a:srgbClr val="000000"/>
                </a:solidFill>
                <a:latin typeface="Consolas" panose="020B0609020204030204" pitchFamily="49" charset="0"/>
              </a:rPr>
              <a:t>     {</a:t>
            </a:r>
          </a:p>
          <a:p>
            <a:pPr marL="0" indent="0">
              <a:buNone/>
            </a:pPr>
            <a:r>
              <a:rPr lang="fr-CA" sz="2300" dirty="0">
                <a:solidFill>
                  <a:srgbClr val="000000"/>
                </a:solidFill>
                <a:latin typeface="Consolas" panose="020B0609020204030204" pitchFamily="49" charset="0"/>
              </a:rPr>
              <a:t>       </a:t>
            </a:r>
            <a:r>
              <a:rPr lang="fr-CA" sz="2300" dirty="0">
                <a:solidFill>
                  <a:srgbClr val="0000FF"/>
                </a:solidFill>
                <a:latin typeface="Consolas" panose="020B0609020204030204" pitchFamily="49" charset="0"/>
              </a:rPr>
              <a:t>return</a:t>
            </a:r>
            <a:r>
              <a:rPr lang="fr-CA" sz="2300" dirty="0">
                <a:solidFill>
                  <a:srgbClr val="000000"/>
                </a:solidFill>
                <a:latin typeface="Consolas" panose="020B0609020204030204" pitchFamily="49" charset="0"/>
              </a:rPr>
              <a:t> _</a:t>
            </a:r>
            <a:r>
              <a:rPr lang="fr-CA" sz="2300" dirty="0" err="1">
                <a:solidFill>
                  <a:srgbClr val="000000"/>
                </a:solidFill>
                <a:latin typeface="Consolas" panose="020B0609020204030204" pitchFamily="49" charset="0"/>
              </a:rPr>
              <a:t>SystèmeGestionStationServiceContext.Transactions</a:t>
            </a:r>
            <a:endParaRPr lang="fr-CA" sz="2300" dirty="0">
              <a:solidFill>
                <a:srgbClr val="000000"/>
              </a:solidFill>
              <a:latin typeface="Consolas" panose="020B0609020204030204" pitchFamily="49" charset="0"/>
            </a:endParaRPr>
          </a:p>
          <a:p>
            <a:pPr marL="0" indent="0">
              <a:buNone/>
            </a:pPr>
            <a:r>
              <a:rPr lang="fr-CA" sz="2300" dirty="0">
                <a:solidFill>
                  <a:srgbClr val="000000"/>
                </a:solidFill>
                <a:latin typeface="Consolas" panose="020B0609020204030204" pitchFamily="49" charset="0"/>
              </a:rPr>
              <a:t>              .</a:t>
            </a:r>
            <a:r>
              <a:rPr lang="fr-CA" sz="2300" dirty="0" err="1">
                <a:solidFill>
                  <a:srgbClr val="000000"/>
                </a:solidFill>
                <a:latin typeface="Consolas" panose="020B0609020204030204" pitchFamily="49" charset="0"/>
              </a:rPr>
              <a:t>Include</a:t>
            </a:r>
            <a:r>
              <a:rPr lang="fr-CA" sz="2300" dirty="0">
                <a:solidFill>
                  <a:srgbClr val="000000"/>
                </a:solidFill>
                <a:latin typeface="Consolas" panose="020B0609020204030204" pitchFamily="49" charset="0"/>
              </a:rPr>
              <a:t>(t =&gt; </a:t>
            </a:r>
            <a:r>
              <a:rPr lang="fr-CA" sz="2300" dirty="0" err="1">
                <a:solidFill>
                  <a:srgbClr val="000000"/>
                </a:solidFill>
                <a:latin typeface="Consolas" panose="020B0609020204030204" pitchFamily="49" charset="0"/>
              </a:rPr>
              <a:t>t.Paiements</a:t>
            </a:r>
            <a:r>
              <a:rPr lang="fr-CA" sz="2300" dirty="0">
                <a:solidFill>
                  <a:srgbClr val="000000"/>
                </a:solidFill>
                <a:latin typeface="Consolas" panose="020B0609020204030204" pitchFamily="49" charset="0"/>
              </a:rPr>
              <a:t>)</a:t>
            </a:r>
          </a:p>
          <a:p>
            <a:pPr marL="0" indent="0">
              <a:buNone/>
            </a:pPr>
            <a:r>
              <a:rPr lang="fr-CA" sz="2300" dirty="0">
                <a:solidFill>
                  <a:srgbClr val="000000"/>
                </a:solidFill>
                <a:latin typeface="Consolas" panose="020B0609020204030204" pitchFamily="49" charset="0"/>
              </a:rPr>
              <a:t>              .</a:t>
            </a:r>
            <a:r>
              <a:rPr lang="fr-CA" sz="2300" dirty="0" err="1">
                <a:solidFill>
                  <a:srgbClr val="000000"/>
                </a:solidFill>
                <a:latin typeface="Consolas" panose="020B0609020204030204" pitchFamily="49" charset="0"/>
              </a:rPr>
              <a:t>Include</a:t>
            </a:r>
            <a:r>
              <a:rPr lang="fr-CA" sz="2300" dirty="0">
                <a:solidFill>
                  <a:srgbClr val="000000"/>
                </a:solidFill>
                <a:latin typeface="Consolas" panose="020B0609020204030204" pitchFamily="49" charset="0"/>
              </a:rPr>
              <a:t>(t =&gt; </a:t>
            </a:r>
            <a:r>
              <a:rPr lang="fr-CA" sz="2300" dirty="0" err="1">
                <a:solidFill>
                  <a:srgbClr val="000000"/>
                </a:solidFill>
                <a:latin typeface="Consolas" panose="020B0609020204030204" pitchFamily="49" charset="0"/>
              </a:rPr>
              <a:t>t.Pompe</a:t>
            </a:r>
            <a:r>
              <a:rPr lang="fr-CA" sz="2300" dirty="0">
                <a:solidFill>
                  <a:srgbClr val="000000"/>
                </a:solidFill>
                <a:latin typeface="Consolas" panose="020B0609020204030204" pitchFamily="49" charset="0"/>
              </a:rPr>
              <a:t>)</a:t>
            </a:r>
          </a:p>
          <a:p>
            <a:pPr marL="0" indent="0">
              <a:buNone/>
            </a:pPr>
            <a:r>
              <a:rPr lang="en-US" sz="2300" dirty="0">
                <a:solidFill>
                  <a:srgbClr val="000000"/>
                </a:solidFill>
                <a:latin typeface="Consolas" panose="020B0609020204030204" pitchFamily="49" charset="0"/>
              </a:rPr>
              <a:t>              .</a:t>
            </a:r>
            <a:r>
              <a:rPr lang="en-US" sz="2300" dirty="0" err="1">
                <a:solidFill>
                  <a:srgbClr val="000000"/>
                </a:solidFill>
                <a:latin typeface="Consolas" panose="020B0609020204030204" pitchFamily="49" charset="0"/>
              </a:rPr>
              <a:t>FirstOrDefault</a:t>
            </a:r>
            <a:r>
              <a:rPr lang="en-US" sz="2300" dirty="0">
                <a:solidFill>
                  <a:srgbClr val="000000"/>
                </a:solidFill>
                <a:latin typeface="Consolas" panose="020B0609020204030204" pitchFamily="49" charset="0"/>
              </a:rPr>
              <a:t>(t =&gt; </a:t>
            </a:r>
            <a:r>
              <a:rPr lang="en-US" sz="2300" dirty="0" err="1">
                <a:solidFill>
                  <a:srgbClr val="000000"/>
                </a:solidFill>
                <a:latin typeface="Consolas" panose="020B0609020204030204" pitchFamily="49" charset="0"/>
              </a:rPr>
              <a:t>t.Id</a:t>
            </a:r>
            <a:r>
              <a:rPr lang="en-US" sz="2300" dirty="0">
                <a:solidFill>
                  <a:srgbClr val="000000"/>
                </a:solidFill>
                <a:latin typeface="Consolas" panose="020B0609020204030204" pitchFamily="49" charset="0"/>
              </a:rPr>
              <a:t> == id);</a:t>
            </a:r>
          </a:p>
          <a:p>
            <a:pPr marL="0" indent="0">
              <a:buNone/>
            </a:pPr>
            <a:r>
              <a:rPr lang="fr-CA" sz="2300" dirty="0">
                <a:solidFill>
                  <a:srgbClr val="000000"/>
                </a:solidFill>
                <a:latin typeface="Consolas" panose="020B0609020204030204" pitchFamily="49" charset="0"/>
              </a:rPr>
              <a:t>     }</a:t>
            </a:r>
          </a:p>
          <a:p>
            <a:pPr marL="0" indent="0">
              <a:buNone/>
            </a:pPr>
            <a:r>
              <a:rPr lang="fr-CA" sz="2300" dirty="0">
                <a:solidFill>
                  <a:srgbClr val="000000"/>
                </a:solidFill>
                <a:latin typeface="Consolas" panose="020B0609020204030204" pitchFamily="49" charset="0"/>
              </a:rPr>
              <a:t>  }</a:t>
            </a:r>
            <a:endParaRPr lang="fr-CA" sz="2300" dirty="0"/>
          </a:p>
        </p:txBody>
      </p:sp>
      <p:sp>
        <p:nvSpPr>
          <p:cNvPr id="4" name="Espace réservé du numéro de diapositive 3">
            <a:extLst>
              <a:ext uri="{FF2B5EF4-FFF2-40B4-BE49-F238E27FC236}">
                <a16:creationId xmlns:a16="http://schemas.microsoft.com/office/drawing/2014/main" id="{E86235DC-2550-4087-99E9-7DA34D96E0A0}"/>
              </a:ext>
            </a:extLst>
          </p:cNvPr>
          <p:cNvSpPr>
            <a:spLocks noGrp="1"/>
          </p:cNvSpPr>
          <p:nvPr>
            <p:ph type="sldNum" sz="quarter" idx="12"/>
          </p:nvPr>
        </p:nvSpPr>
        <p:spPr/>
        <p:txBody>
          <a:bodyPr/>
          <a:lstStyle/>
          <a:p>
            <a:pPr>
              <a:defRPr/>
            </a:pPr>
            <a:fld id="{7FEE665E-3450-413D-913D-057FF7C87532}" type="slidenum">
              <a:rPr lang="en-US" altLang="en-US" smtClean="0"/>
              <a:pPr>
                <a:defRPr/>
              </a:pPr>
              <a:t>52</a:t>
            </a:fld>
            <a:endParaRPr lang="en-US" altLang="en-US"/>
          </a:p>
        </p:txBody>
      </p:sp>
    </p:spTree>
    <p:extLst>
      <p:ext uri="{BB962C8B-B14F-4D97-AF65-F5344CB8AC3E}">
        <p14:creationId xmlns:p14="http://schemas.microsoft.com/office/powerpoint/2010/main" val="466384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CA" dirty="0"/>
              <a:t>Repository</a:t>
            </a:r>
            <a:r>
              <a:rPr lang="fr-CA" dirty="0"/>
              <a:t> spécifique</a:t>
            </a:r>
          </a:p>
        </p:txBody>
      </p:sp>
      <p:sp>
        <p:nvSpPr>
          <p:cNvPr id="3" name="Espace réservé du contenu 2"/>
          <p:cNvSpPr>
            <a:spLocks noGrp="1"/>
          </p:cNvSpPr>
          <p:nvPr>
            <p:ph idx="1"/>
          </p:nvPr>
        </p:nvSpPr>
        <p:spPr>
          <a:xfrm>
            <a:off x="431540" y="1664804"/>
            <a:ext cx="8473736" cy="4325112"/>
          </a:xfrm>
        </p:spPr>
        <p:txBody>
          <a:bodyPr>
            <a:normAutofit/>
          </a:bodyPr>
          <a:lstStyle/>
          <a:p>
            <a:r>
              <a:rPr lang="fr-CA" sz="2400" dirty="0"/>
              <a:t>Même chose pour </a:t>
            </a:r>
            <a:r>
              <a:rPr lang="fr-CA" sz="2400" dirty="0" err="1"/>
              <a:t>IClientRepository</a:t>
            </a:r>
            <a:r>
              <a:rPr lang="fr-CA" sz="2400" dirty="0"/>
              <a:t> et </a:t>
            </a:r>
            <a:r>
              <a:rPr lang="fr-CA" sz="2400" dirty="0" err="1"/>
              <a:t>ClientRepository</a:t>
            </a:r>
            <a:endParaRPr lang="fr-CA" sz="2400" dirty="0"/>
          </a:p>
          <a:p>
            <a:r>
              <a:rPr lang="fr-CA" sz="2400" dirty="0"/>
              <a:t>Voir le code dans les projets</a:t>
            </a:r>
          </a:p>
          <a:p>
            <a:r>
              <a:rPr lang="fr-CA" sz="2400" dirty="0"/>
              <a:t>La méthode supplémentaire:</a:t>
            </a:r>
          </a:p>
          <a:p>
            <a:pPr marL="411480" lvl="1" indent="0">
              <a:buNone/>
            </a:pPr>
            <a:r>
              <a:rPr lang="en-US" sz="2000" dirty="0"/>
              <a:t>Task&lt;Client&gt; </a:t>
            </a:r>
            <a:r>
              <a:rPr lang="en-US" sz="2000" dirty="0" err="1"/>
              <a:t>GetByIdWithCompteAsync</a:t>
            </a:r>
            <a:r>
              <a:rPr lang="en-US" sz="2000" dirty="0"/>
              <a:t> (int id);</a:t>
            </a:r>
            <a:endParaRPr lang="fr-CA" sz="2000" dirty="0"/>
          </a:p>
          <a:p>
            <a:endParaRPr lang="fr-CA" dirty="0"/>
          </a:p>
        </p:txBody>
      </p:sp>
      <p:sp>
        <p:nvSpPr>
          <p:cNvPr id="4" name="Espace réservé du numéro de diapositive 3">
            <a:extLst>
              <a:ext uri="{FF2B5EF4-FFF2-40B4-BE49-F238E27FC236}">
                <a16:creationId xmlns:a16="http://schemas.microsoft.com/office/drawing/2014/main" id="{795B52DE-581E-4748-9622-0BA8A16B6CDE}"/>
              </a:ext>
            </a:extLst>
          </p:cNvPr>
          <p:cNvSpPr>
            <a:spLocks noGrp="1"/>
          </p:cNvSpPr>
          <p:nvPr>
            <p:ph type="sldNum" sz="quarter" idx="12"/>
          </p:nvPr>
        </p:nvSpPr>
        <p:spPr/>
        <p:txBody>
          <a:bodyPr/>
          <a:lstStyle/>
          <a:p>
            <a:pPr>
              <a:defRPr/>
            </a:pPr>
            <a:fld id="{7FEE665E-3450-413D-913D-057FF7C87532}" type="slidenum">
              <a:rPr lang="en-US" altLang="en-US" smtClean="0"/>
              <a:pPr>
                <a:defRPr/>
              </a:pPr>
              <a:t>53</a:t>
            </a:fld>
            <a:endParaRPr lang="en-US" altLang="en-US"/>
          </a:p>
        </p:txBody>
      </p:sp>
    </p:spTree>
    <p:extLst>
      <p:ext uri="{BB962C8B-B14F-4D97-AF65-F5344CB8AC3E}">
        <p14:creationId xmlns:p14="http://schemas.microsoft.com/office/powerpoint/2010/main" val="3733836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a:t>Test avec l’utilisation du </a:t>
            </a:r>
            <a:r>
              <a:rPr lang="fr-CA" dirty="0" err="1"/>
              <a:t>EfRepository</a:t>
            </a:r>
            <a:endParaRPr lang="fr-CA" dirty="0"/>
          </a:p>
        </p:txBody>
      </p:sp>
      <p:sp>
        <p:nvSpPr>
          <p:cNvPr id="3" name="Espace réservé du contenu 2"/>
          <p:cNvSpPr>
            <a:spLocks noGrp="1"/>
          </p:cNvSpPr>
          <p:nvPr>
            <p:ph idx="1"/>
          </p:nvPr>
        </p:nvSpPr>
        <p:spPr/>
        <p:txBody>
          <a:bodyPr>
            <a:normAutofit/>
          </a:bodyPr>
          <a:lstStyle/>
          <a:p>
            <a:r>
              <a:rPr lang="fr-CA" sz="2400" dirty="0"/>
              <a:t>Créer un test dans votre application console vous permettant de confirmer le fonctionnement de votre classe </a:t>
            </a:r>
            <a:r>
              <a:rPr lang="fr-CA" sz="2400" dirty="0" err="1"/>
              <a:t>EfRepository</a:t>
            </a:r>
            <a:endParaRPr lang="fr-CA" sz="2400" dirty="0"/>
          </a:p>
          <a:p>
            <a:r>
              <a:rPr lang="fr-CA" sz="2400" dirty="0"/>
              <a:t>Exemple d’utilisation</a:t>
            </a:r>
          </a:p>
          <a:p>
            <a:pPr lvl="1"/>
            <a:r>
              <a:rPr lang="fr-CA" sz="2000" dirty="0"/>
              <a:t>Voir Test2 : recherche d’un client</a:t>
            </a:r>
          </a:p>
        </p:txBody>
      </p:sp>
      <p:sp>
        <p:nvSpPr>
          <p:cNvPr id="4" name="Espace réservé du numéro de diapositive 3">
            <a:extLst>
              <a:ext uri="{FF2B5EF4-FFF2-40B4-BE49-F238E27FC236}">
                <a16:creationId xmlns:a16="http://schemas.microsoft.com/office/drawing/2014/main" id="{D8F133C7-F17A-44FC-863F-05C8CBC07430}"/>
              </a:ext>
            </a:extLst>
          </p:cNvPr>
          <p:cNvSpPr>
            <a:spLocks noGrp="1"/>
          </p:cNvSpPr>
          <p:nvPr>
            <p:ph type="sldNum" sz="quarter" idx="12"/>
          </p:nvPr>
        </p:nvSpPr>
        <p:spPr/>
        <p:txBody>
          <a:bodyPr/>
          <a:lstStyle/>
          <a:p>
            <a:pPr>
              <a:defRPr/>
            </a:pPr>
            <a:fld id="{7FEE665E-3450-413D-913D-057FF7C87532}" type="slidenum">
              <a:rPr lang="en-US" altLang="en-US" smtClean="0"/>
              <a:pPr>
                <a:defRPr/>
              </a:pPr>
              <a:t>54</a:t>
            </a:fld>
            <a:endParaRPr lang="en-US" altLang="en-US"/>
          </a:p>
        </p:txBody>
      </p:sp>
    </p:spTree>
    <p:extLst>
      <p:ext uri="{BB962C8B-B14F-4D97-AF65-F5344CB8AC3E}">
        <p14:creationId xmlns:p14="http://schemas.microsoft.com/office/powerpoint/2010/main" val="1560545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Critères de recherche</a:t>
            </a:r>
          </a:p>
        </p:txBody>
      </p:sp>
      <p:sp>
        <p:nvSpPr>
          <p:cNvPr id="3" name="Espace réservé du contenu 2"/>
          <p:cNvSpPr>
            <a:spLocks noGrp="1"/>
          </p:cNvSpPr>
          <p:nvPr>
            <p:ph idx="1"/>
          </p:nvPr>
        </p:nvSpPr>
        <p:spPr>
          <a:xfrm>
            <a:off x="228600" y="1403874"/>
            <a:ext cx="8686800" cy="3069242"/>
          </a:xfrm>
        </p:spPr>
        <p:txBody>
          <a:bodyPr>
            <a:normAutofit/>
          </a:bodyPr>
          <a:lstStyle/>
          <a:p>
            <a:r>
              <a:rPr lang="fr-CA" sz="2400" dirty="0"/>
              <a:t>Souvent, on va avoir besoin de rechercher des entités dans la base de données par un autre critère que celui de sa clé primaire</a:t>
            </a:r>
          </a:p>
          <a:p>
            <a:r>
              <a:rPr lang="fr-CA" sz="2400" dirty="0"/>
              <a:t>Dans cette architecture, la recherche par critères se fait en créant une classe qui hérite de « </a:t>
            </a:r>
            <a:r>
              <a:rPr lang="fr-CA" sz="2400" dirty="0" err="1"/>
              <a:t>BaseSpecification</a:t>
            </a:r>
            <a:r>
              <a:rPr lang="fr-CA" sz="2400" dirty="0"/>
              <a:t> »</a:t>
            </a:r>
          </a:p>
          <a:p>
            <a:r>
              <a:rPr lang="fr-CA" sz="2400" dirty="0"/>
              <a:t>Dans sa forme la plus simple, cette classe ne contient qu’un constructeur définissant le critère de recherche</a:t>
            </a:r>
          </a:p>
        </p:txBody>
      </p:sp>
      <p:sp>
        <p:nvSpPr>
          <p:cNvPr id="4" name="Espace réservé du numéro de diapositive 3">
            <a:extLst>
              <a:ext uri="{FF2B5EF4-FFF2-40B4-BE49-F238E27FC236}">
                <a16:creationId xmlns:a16="http://schemas.microsoft.com/office/drawing/2014/main" id="{44C9E5F1-F61D-4E55-BB35-19126D9DBCA7}"/>
              </a:ext>
            </a:extLst>
          </p:cNvPr>
          <p:cNvSpPr>
            <a:spLocks noGrp="1"/>
          </p:cNvSpPr>
          <p:nvPr>
            <p:ph type="sldNum" sz="quarter" idx="12"/>
          </p:nvPr>
        </p:nvSpPr>
        <p:spPr/>
        <p:txBody>
          <a:bodyPr/>
          <a:lstStyle/>
          <a:p>
            <a:pPr>
              <a:defRPr/>
            </a:pPr>
            <a:fld id="{7FEE665E-3450-413D-913D-057FF7C87532}" type="slidenum">
              <a:rPr lang="en-US" altLang="en-US" smtClean="0"/>
              <a:pPr>
                <a:defRPr/>
              </a:pPr>
              <a:t>55</a:t>
            </a:fld>
            <a:endParaRPr lang="en-US" altLang="en-US"/>
          </a:p>
        </p:txBody>
      </p:sp>
    </p:spTree>
    <p:extLst>
      <p:ext uri="{BB962C8B-B14F-4D97-AF65-F5344CB8AC3E}">
        <p14:creationId xmlns:p14="http://schemas.microsoft.com/office/powerpoint/2010/main" val="2542098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Spécification de recherche</a:t>
            </a:r>
          </a:p>
        </p:txBody>
      </p:sp>
      <p:sp>
        <p:nvSpPr>
          <p:cNvPr id="3" name="Espace réservé du contenu 2"/>
          <p:cNvSpPr>
            <a:spLocks noGrp="1"/>
          </p:cNvSpPr>
          <p:nvPr>
            <p:ph idx="1"/>
          </p:nvPr>
        </p:nvSpPr>
        <p:spPr/>
        <p:txBody>
          <a:bodyPr>
            <a:normAutofit/>
          </a:bodyPr>
          <a:lstStyle/>
          <a:p>
            <a:r>
              <a:rPr lang="fr-CA" sz="2400" dirty="0"/>
              <a:t>Par exemple, pour rechercher les transactions d’un </a:t>
            </a:r>
            <a:r>
              <a:rPr lang="fr-CA" sz="2400" i="1" dirty="0"/>
              <a:t>client</a:t>
            </a:r>
            <a:r>
              <a:rPr lang="fr-CA" sz="2400" dirty="0"/>
              <a:t>:</a:t>
            </a:r>
          </a:p>
          <a:p>
            <a:pPr marL="0" indent="0">
              <a:buNone/>
            </a:pPr>
            <a:r>
              <a:rPr lang="fr-CA" sz="1800" dirty="0">
                <a:solidFill>
                  <a:srgbClr val="0000FF"/>
                </a:solidFill>
                <a:latin typeface="Consolas" panose="020B0609020204030204" pitchFamily="49" charset="0"/>
              </a:rPr>
              <a:t> public</a:t>
            </a:r>
            <a:r>
              <a:rPr lang="fr-CA" sz="1800" dirty="0">
                <a:solidFill>
                  <a:srgbClr val="000000"/>
                </a:solidFill>
                <a:latin typeface="Consolas" panose="020B0609020204030204" pitchFamily="49" charset="0"/>
              </a:rPr>
              <a:t> </a:t>
            </a:r>
            <a:r>
              <a:rPr lang="fr-CA" sz="1800" dirty="0">
                <a:solidFill>
                  <a:srgbClr val="0000FF"/>
                </a:solidFill>
                <a:latin typeface="Consolas" panose="020B0609020204030204" pitchFamily="49" charset="0"/>
              </a:rPr>
              <a:t>class</a:t>
            </a:r>
            <a:r>
              <a:rPr lang="fr-CA" sz="1800" dirty="0">
                <a:solidFill>
                  <a:srgbClr val="000000"/>
                </a:solidFill>
                <a:latin typeface="Consolas" panose="020B0609020204030204" pitchFamily="49" charset="0"/>
              </a:rPr>
              <a:t> </a:t>
            </a:r>
            <a:r>
              <a:rPr lang="fr-CA" sz="1800" dirty="0" err="1">
                <a:solidFill>
                  <a:srgbClr val="2B91AF"/>
                </a:solidFill>
                <a:latin typeface="Consolas" panose="020B0609020204030204" pitchFamily="49" charset="0"/>
              </a:rPr>
              <a:t>TransactionByClient</a:t>
            </a:r>
            <a:r>
              <a:rPr lang="fr-CA" sz="1800" dirty="0">
                <a:solidFill>
                  <a:srgbClr val="000000"/>
                </a:solidFill>
                <a:latin typeface="Consolas" panose="020B0609020204030204" pitchFamily="49" charset="0"/>
              </a:rPr>
              <a:t> : </a:t>
            </a:r>
            <a:r>
              <a:rPr lang="fr-CA" sz="1800" dirty="0" err="1">
                <a:solidFill>
                  <a:srgbClr val="000000"/>
                </a:solidFill>
                <a:latin typeface="Consolas" panose="020B0609020204030204" pitchFamily="49" charset="0"/>
              </a:rPr>
              <a:t>BaseSpecification</a:t>
            </a:r>
            <a:r>
              <a:rPr lang="fr-CA" sz="1800" dirty="0">
                <a:solidFill>
                  <a:srgbClr val="000000"/>
                </a:solidFill>
                <a:latin typeface="Consolas" panose="020B0609020204030204" pitchFamily="49" charset="0"/>
              </a:rPr>
              <a:t>&lt;Transaction&gt;</a:t>
            </a:r>
          </a:p>
          <a:p>
            <a:pPr marL="0" indent="0">
              <a:buNone/>
            </a:pPr>
            <a:r>
              <a:rPr lang="fr-CA" sz="1800" dirty="0">
                <a:solidFill>
                  <a:srgbClr val="000000"/>
                </a:solidFill>
                <a:latin typeface="Consolas" panose="020B0609020204030204" pitchFamily="49" charset="0"/>
              </a:rPr>
              <a:t>   {</a:t>
            </a:r>
          </a:p>
          <a:p>
            <a:pPr marL="0" indent="0">
              <a:buNone/>
            </a:pPr>
            <a:r>
              <a:rPr lang="fr-CA" sz="1800" dirty="0">
                <a:solidFill>
                  <a:srgbClr val="000000"/>
                </a:solidFill>
                <a:latin typeface="Consolas" panose="020B0609020204030204" pitchFamily="49" charset="0"/>
              </a:rPr>
              <a:t>    </a:t>
            </a:r>
            <a:r>
              <a:rPr lang="fr-CA" sz="1800" dirty="0">
                <a:solidFill>
                  <a:srgbClr val="0000FF"/>
                </a:solidFill>
                <a:latin typeface="Consolas" panose="020B0609020204030204" pitchFamily="49" charset="0"/>
              </a:rPr>
              <a:t>public</a:t>
            </a:r>
            <a:r>
              <a:rPr lang="fr-CA" sz="1800" dirty="0">
                <a:solidFill>
                  <a:srgbClr val="000000"/>
                </a:solidFill>
                <a:latin typeface="Consolas" panose="020B0609020204030204" pitchFamily="49" charset="0"/>
              </a:rPr>
              <a:t> </a:t>
            </a:r>
            <a:r>
              <a:rPr lang="fr-CA" sz="1800" dirty="0" err="1">
                <a:solidFill>
                  <a:srgbClr val="2B91AF"/>
                </a:solidFill>
                <a:latin typeface="Consolas" panose="020B0609020204030204" pitchFamily="49" charset="0"/>
              </a:rPr>
              <a:t>TransactionByClient</a:t>
            </a:r>
            <a:r>
              <a:rPr lang="fr-CA" sz="1800" dirty="0">
                <a:solidFill>
                  <a:srgbClr val="000000"/>
                </a:solidFill>
                <a:latin typeface="Consolas" panose="020B0609020204030204" pitchFamily="49" charset="0"/>
              </a:rPr>
              <a:t>(</a:t>
            </a:r>
            <a:r>
              <a:rPr lang="fr-CA" sz="1800" dirty="0" err="1">
                <a:solidFill>
                  <a:srgbClr val="0000FF"/>
                </a:solidFill>
                <a:latin typeface="Consolas" panose="020B0609020204030204" pitchFamily="49" charset="0"/>
              </a:rPr>
              <a:t>int</a:t>
            </a:r>
            <a:r>
              <a:rPr lang="fr-CA" sz="1800" dirty="0">
                <a:solidFill>
                  <a:srgbClr val="000000"/>
                </a:solidFill>
                <a:latin typeface="Consolas" panose="020B0609020204030204" pitchFamily="49" charset="0"/>
              </a:rPr>
              <a:t> </a:t>
            </a:r>
            <a:r>
              <a:rPr lang="fr-CA" sz="1800" dirty="0" err="1">
                <a:solidFill>
                  <a:srgbClr val="000000"/>
                </a:solidFill>
                <a:latin typeface="Consolas" panose="020B0609020204030204" pitchFamily="49" charset="0"/>
              </a:rPr>
              <a:t>clientId</a:t>
            </a:r>
            <a:r>
              <a:rPr lang="fr-CA" sz="1800" dirty="0">
                <a:solidFill>
                  <a:srgbClr val="000000"/>
                </a:solidFill>
                <a:latin typeface="Consolas" panose="020B0609020204030204" pitchFamily="49" charset="0"/>
              </a:rPr>
              <a:t>) : </a:t>
            </a:r>
            <a:r>
              <a:rPr lang="fr-CA" sz="1800" dirty="0">
                <a:solidFill>
                  <a:srgbClr val="0000FF"/>
                </a:solidFill>
                <a:latin typeface="Consolas" panose="020B0609020204030204" pitchFamily="49" charset="0"/>
              </a:rPr>
              <a:t>base</a:t>
            </a:r>
            <a:r>
              <a:rPr lang="fr-CA" sz="1800" dirty="0">
                <a:solidFill>
                  <a:srgbClr val="000000"/>
                </a:solidFill>
                <a:latin typeface="Consolas" panose="020B0609020204030204" pitchFamily="49" charset="0"/>
              </a:rPr>
              <a:t>(x =&gt; </a:t>
            </a:r>
          </a:p>
          <a:p>
            <a:pPr marL="0" indent="0">
              <a:buNone/>
            </a:pPr>
            <a:r>
              <a:rPr lang="fr-CA" sz="1800" dirty="0">
                <a:solidFill>
                  <a:srgbClr val="000000"/>
                </a:solidFill>
                <a:latin typeface="Consolas" panose="020B0609020204030204" pitchFamily="49" charset="0"/>
              </a:rPr>
              <a:t>       </a:t>
            </a:r>
            <a:r>
              <a:rPr lang="fr-CA" sz="1800" dirty="0" err="1">
                <a:solidFill>
                  <a:srgbClr val="000000"/>
                </a:solidFill>
                <a:latin typeface="Consolas" panose="020B0609020204030204" pitchFamily="49" charset="0"/>
              </a:rPr>
              <a:t>x.Client.Id</a:t>
            </a:r>
            <a:r>
              <a:rPr lang="fr-CA" sz="1800" dirty="0">
                <a:solidFill>
                  <a:srgbClr val="000000"/>
                </a:solidFill>
                <a:latin typeface="Consolas" panose="020B0609020204030204" pitchFamily="49" charset="0"/>
              </a:rPr>
              <a:t> == </a:t>
            </a:r>
            <a:r>
              <a:rPr lang="fr-CA" sz="1800" dirty="0" err="1">
                <a:solidFill>
                  <a:srgbClr val="000000"/>
                </a:solidFill>
                <a:latin typeface="Consolas" panose="020B0609020204030204" pitchFamily="49" charset="0"/>
              </a:rPr>
              <a:t>clientId</a:t>
            </a:r>
            <a:r>
              <a:rPr lang="fr-CA" sz="1800" dirty="0">
                <a:solidFill>
                  <a:srgbClr val="000000"/>
                </a:solidFill>
                <a:latin typeface="Consolas" panose="020B0609020204030204" pitchFamily="49" charset="0"/>
              </a:rPr>
              <a:t>)</a:t>
            </a:r>
          </a:p>
          <a:p>
            <a:pPr marL="0" indent="0">
              <a:buNone/>
            </a:pPr>
            <a:r>
              <a:rPr lang="fr-CA" sz="1800" dirty="0">
                <a:solidFill>
                  <a:srgbClr val="000000"/>
                </a:solidFill>
                <a:latin typeface="Consolas" panose="020B0609020204030204" pitchFamily="49" charset="0"/>
              </a:rPr>
              <a:t>     { }  </a:t>
            </a:r>
          </a:p>
          <a:p>
            <a:pPr marL="0" indent="0">
              <a:buNone/>
            </a:pPr>
            <a:r>
              <a:rPr lang="fr-CA" sz="1800" dirty="0">
                <a:solidFill>
                  <a:srgbClr val="000000"/>
                </a:solidFill>
                <a:latin typeface="Consolas" panose="020B0609020204030204" pitchFamily="49" charset="0"/>
              </a:rPr>
              <a:t>   } </a:t>
            </a:r>
          </a:p>
          <a:p>
            <a:r>
              <a:rPr lang="fr-CA" sz="2400" dirty="0"/>
              <a:t>Voir le code de cette classe dans le dossier </a:t>
            </a:r>
            <a:r>
              <a:rPr lang="fr-CA" sz="2400" i="1" dirty="0" err="1"/>
              <a:t>Specifications</a:t>
            </a:r>
            <a:r>
              <a:rPr lang="fr-CA" sz="2400" dirty="0"/>
              <a:t> de </a:t>
            </a:r>
            <a:r>
              <a:rPr lang="fr-CA" sz="2400" i="1" dirty="0" err="1"/>
              <a:t>Core</a:t>
            </a:r>
            <a:endParaRPr lang="fr-CA" sz="2400" i="1" dirty="0"/>
          </a:p>
          <a:p>
            <a:r>
              <a:rPr lang="fr-CA" sz="2400" dirty="0"/>
              <a:t>Voir Test3 pour tester son fonctionnement</a:t>
            </a:r>
          </a:p>
        </p:txBody>
      </p:sp>
      <p:sp>
        <p:nvSpPr>
          <p:cNvPr id="4" name="Espace réservé du numéro de diapositive 3">
            <a:extLst>
              <a:ext uri="{FF2B5EF4-FFF2-40B4-BE49-F238E27FC236}">
                <a16:creationId xmlns:a16="http://schemas.microsoft.com/office/drawing/2014/main" id="{CF9A3BB1-F8CB-46CD-A380-36F052950BB7}"/>
              </a:ext>
            </a:extLst>
          </p:cNvPr>
          <p:cNvSpPr>
            <a:spLocks noGrp="1"/>
          </p:cNvSpPr>
          <p:nvPr>
            <p:ph type="sldNum" sz="quarter" idx="12"/>
          </p:nvPr>
        </p:nvSpPr>
        <p:spPr/>
        <p:txBody>
          <a:bodyPr/>
          <a:lstStyle/>
          <a:p>
            <a:pPr>
              <a:defRPr/>
            </a:pPr>
            <a:fld id="{7FEE665E-3450-413D-913D-057FF7C87532}" type="slidenum">
              <a:rPr lang="en-US" altLang="en-US" smtClean="0"/>
              <a:pPr>
                <a:defRPr/>
              </a:pPr>
              <a:t>56</a:t>
            </a:fld>
            <a:endParaRPr lang="en-US" altLang="en-US"/>
          </a:p>
        </p:txBody>
      </p:sp>
    </p:spTree>
    <p:extLst>
      <p:ext uri="{BB962C8B-B14F-4D97-AF65-F5344CB8AC3E}">
        <p14:creationId xmlns:p14="http://schemas.microsoft.com/office/powerpoint/2010/main" val="185835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Couche service</a:t>
            </a:r>
          </a:p>
        </p:txBody>
      </p:sp>
      <p:sp>
        <p:nvSpPr>
          <p:cNvPr id="3" name="Espace réservé du contenu 2"/>
          <p:cNvSpPr>
            <a:spLocks noGrp="1"/>
          </p:cNvSpPr>
          <p:nvPr>
            <p:ph idx="1"/>
          </p:nvPr>
        </p:nvSpPr>
        <p:spPr>
          <a:xfrm>
            <a:off x="228600" y="1403874"/>
            <a:ext cx="8686800" cy="3069242"/>
          </a:xfrm>
        </p:spPr>
        <p:txBody>
          <a:bodyPr/>
          <a:lstStyle/>
          <a:p>
            <a:r>
              <a:rPr lang="fr-CA" sz="2400" dirty="0"/>
              <a:t>La couche de service est l’endroit où on implémente les fonctionnalités utilisées par les acteurs externes au système</a:t>
            </a:r>
          </a:p>
          <a:p>
            <a:r>
              <a:rPr lang="fr-CA" sz="2400" dirty="0"/>
              <a:t>Ces fonctionnalités correspondent aux cas d’utilisation</a:t>
            </a:r>
          </a:p>
          <a:p>
            <a:r>
              <a:rPr lang="fr-CA" sz="2400" dirty="0"/>
              <a:t>Souvent, les cas d’utilisation se limitent au opérations CRUD. C’est donc dans cette couche qu’on les implémente</a:t>
            </a:r>
          </a:p>
          <a:p>
            <a:endParaRPr lang="fr-CA" dirty="0"/>
          </a:p>
        </p:txBody>
      </p:sp>
      <p:sp>
        <p:nvSpPr>
          <p:cNvPr id="4" name="Espace réservé du numéro de diapositive 3">
            <a:extLst>
              <a:ext uri="{FF2B5EF4-FFF2-40B4-BE49-F238E27FC236}">
                <a16:creationId xmlns:a16="http://schemas.microsoft.com/office/drawing/2014/main" id="{F5D743E9-812E-4E35-BB0A-31E1278EB719}"/>
              </a:ext>
            </a:extLst>
          </p:cNvPr>
          <p:cNvSpPr>
            <a:spLocks noGrp="1"/>
          </p:cNvSpPr>
          <p:nvPr>
            <p:ph type="sldNum" sz="quarter" idx="12"/>
          </p:nvPr>
        </p:nvSpPr>
        <p:spPr/>
        <p:txBody>
          <a:bodyPr/>
          <a:lstStyle/>
          <a:p>
            <a:pPr>
              <a:defRPr/>
            </a:pPr>
            <a:fld id="{7FEE665E-3450-413D-913D-057FF7C87532}" type="slidenum">
              <a:rPr lang="en-US" altLang="en-US" smtClean="0"/>
              <a:pPr>
                <a:defRPr/>
              </a:pPr>
              <a:t>57</a:t>
            </a:fld>
            <a:endParaRPr lang="en-US" altLang="en-US"/>
          </a:p>
        </p:txBody>
      </p:sp>
    </p:spTree>
    <p:extLst>
      <p:ext uri="{BB962C8B-B14F-4D97-AF65-F5344CB8AC3E}">
        <p14:creationId xmlns:p14="http://schemas.microsoft.com/office/powerpoint/2010/main" val="4280370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Couche service</a:t>
            </a:r>
          </a:p>
        </p:txBody>
      </p:sp>
      <p:sp>
        <p:nvSpPr>
          <p:cNvPr id="3" name="Espace réservé du contenu 2"/>
          <p:cNvSpPr>
            <a:spLocks noGrp="1"/>
          </p:cNvSpPr>
          <p:nvPr>
            <p:ph idx="1"/>
          </p:nvPr>
        </p:nvSpPr>
        <p:spPr/>
        <p:txBody>
          <a:bodyPr>
            <a:normAutofit/>
          </a:bodyPr>
          <a:lstStyle/>
          <a:p>
            <a:r>
              <a:rPr lang="fr-CA" sz="2400" dirty="0"/>
              <a:t>Les méthodes qui manipulent uniquement le domaine et qui sont réutilisables sont plutôt implantées dans les classes du domaine (par exemple, calculer le total d’une facture)</a:t>
            </a:r>
          </a:p>
          <a:p>
            <a:r>
              <a:rPr lang="fr-CA" sz="2400" dirty="0"/>
              <a:t>Les méthodes des services ont donc tendance à avoir une structure similaire d’un service à l’autre</a:t>
            </a:r>
          </a:p>
          <a:p>
            <a:r>
              <a:rPr lang="fr-CA" sz="2400" dirty="0"/>
              <a:t>Celles du domaine sont généralement unique, étant relié au domaine spécifique de l’application</a:t>
            </a:r>
          </a:p>
          <a:p>
            <a:r>
              <a:rPr lang="fr-CA" sz="2400" dirty="0"/>
              <a:t>Eh oui, dans certains cas limites, il peut être difficile de déterminer ce qui va dans le domaine vs un service</a:t>
            </a:r>
          </a:p>
        </p:txBody>
      </p:sp>
      <p:sp>
        <p:nvSpPr>
          <p:cNvPr id="4" name="Espace réservé du numéro de diapositive 3">
            <a:extLst>
              <a:ext uri="{FF2B5EF4-FFF2-40B4-BE49-F238E27FC236}">
                <a16:creationId xmlns:a16="http://schemas.microsoft.com/office/drawing/2014/main" id="{363CB4A0-F7D5-4320-970D-B271AB319B8E}"/>
              </a:ext>
            </a:extLst>
          </p:cNvPr>
          <p:cNvSpPr>
            <a:spLocks noGrp="1"/>
          </p:cNvSpPr>
          <p:nvPr>
            <p:ph type="sldNum" sz="quarter" idx="12"/>
          </p:nvPr>
        </p:nvSpPr>
        <p:spPr/>
        <p:txBody>
          <a:bodyPr/>
          <a:lstStyle/>
          <a:p>
            <a:pPr>
              <a:defRPr/>
            </a:pPr>
            <a:fld id="{7FEE665E-3450-413D-913D-057FF7C87532}" type="slidenum">
              <a:rPr lang="en-US" altLang="en-US" smtClean="0"/>
              <a:pPr>
                <a:defRPr/>
              </a:pPr>
              <a:t>58</a:t>
            </a:fld>
            <a:endParaRPr lang="en-US" altLang="en-US"/>
          </a:p>
        </p:txBody>
      </p:sp>
    </p:spTree>
    <p:extLst>
      <p:ext uri="{BB962C8B-B14F-4D97-AF65-F5344CB8AC3E}">
        <p14:creationId xmlns:p14="http://schemas.microsoft.com/office/powerpoint/2010/main" val="2167321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a:extLst>
              <a:ext uri="{FF2B5EF4-FFF2-40B4-BE49-F238E27FC236}">
                <a16:creationId xmlns:a16="http://schemas.microsoft.com/office/drawing/2014/main" id="{45A6BF43-7D28-49FF-8BD0-0434A87F9F7C}"/>
              </a:ext>
            </a:extLst>
          </p:cNvPr>
          <p:cNvSpPr>
            <a:spLocks noGrp="1"/>
          </p:cNvSpPr>
          <p:nvPr>
            <p:ph type="title"/>
          </p:nvPr>
        </p:nvSpPr>
        <p:spPr>
          <a:xfrm>
            <a:off x="457200" y="494930"/>
            <a:ext cx="8229600" cy="1066800"/>
          </a:xfrm>
        </p:spPr>
        <p:txBody>
          <a:bodyPr/>
          <a:lstStyle/>
          <a:p>
            <a:r>
              <a:rPr lang="fr-CA" dirty="0"/>
              <a:t>Diagramme de cas d’utilisation</a:t>
            </a:r>
          </a:p>
        </p:txBody>
      </p:sp>
      <p:sp>
        <p:nvSpPr>
          <p:cNvPr id="2" name="Espace réservé du numéro de diapositive 1">
            <a:extLst>
              <a:ext uri="{FF2B5EF4-FFF2-40B4-BE49-F238E27FC236}">
                <a16:creationId xmlns:a16="http://schemas.microsoft.com/office/drawing/2014/main" id="{492EDD5E-E2C8-428E-A189-D4280161FEF6}"/>
              </a:ext>
            </a:extLst>
          </p:cNvPr>
          <p:cNvSpPr>
            <a:spLocks noGrp="1"/>
          </p:cNvSpPr>
          <p:nvPr>
            <p:ph type="sldNum" sz="quarter" idx="12"/>
          </p:nvPr>
        </p:nvSpPr>
        <p:spPr/>
        <p:txBody>
          <a:bodyPr/>
          <a:lstStyle/>
          <a:p>
            <a:pPr>
              <a:defRPr/>
            </a:pPr>
            <a:fld id="{7FEE665E-3450-413D-913D-057FF7C87532}" type="slidenum">
              <a:rPr lang="en-US" altLang="en-US" smtClean="0"/>
              <a:pPr>
                <a:defRPr/>
              </a:pPr>
              <a:t>59</a:t>
            </a:fld>
            <a:endParaRPr lang="en-US" altLang="en-US"/>
          </a:p>
        </p:txBody>
      </p:sp>
      <p:pic>
        <p:nvPicPr>
          <p:cNvPr id="6" name="Image 5">
            <a:extLst>
              <a:ext uri="{FF2B5EF4-FFF2-40B4-BE49-F238E27FC236}">
                <a16:creationId xmlns:a16="http://schemas.microsoft.com/office/drawing/2014/main" id="{E2403BB4-4573-46F5-BB61-1D4148A28B76}"/>
              </a:ext>
            </a:extLst>
          </p:cNvPr>
          <p:cNvPicPr>
            <a:picLocks noChangeAspect="1"/>
          </p:cNvPicPr>
          <p:nvPr/>
        </p:nvPicPr>
        <p:blipFill>
          <a:blip r:embed="rId2"/>
          <a:stretch>
            <a:fillRect/>
          </a:stretch>
        </p:blipFill>
        <p:spPr>
          <a:xfrm>
            <a:off x="0" y="1664804"/>
            <a:ext cx="9000492" cy="4284476"/>
          </a:xfrm>
          <a:prstGeom prst="rect">
            <a:avLst/>
          </a:prstGeom>
        </p:spPr>
      </p:pic>
    </p:spTree>
    <p:extLst>
      <p:ext uri="{BB962C8B-B14F-4D97-AF65-F5344CB8AC3E}">
        <p14:creationId xmlns:p14="http://schemas.microsoft.com/office/powerpoint/2010/main" val="857884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4400" dirty="0"/>
              <a:t>Couche service : 4 services</a:t>
            </a:r>
            <a:endParaRPr lang="fr-CA" dirty="0"/>
          </a:p>
        </p:txBody>
      </p:sp>
      <p:sp>
        <p:nvSpPr>
          <p:cNvPr id="3" name="Espace réservé du contenu 2"/>
          <p:cNvSpPr>
            <a:spLocks noGrp="1"/>
          </p:cNvSpPr>
          <p:nvPr>
            <p:ph idx="1"/>
          </p:nvPr>
        </p:nvSpPr>
        <p:spPr/>
        <p:txBody>
          <a:bodyPr>
            <a:normAutofit lnSpcReduction="10000"/>
          </a:bodyPr>
          <a:lstStyle/>
          <a:p>
            <a:pPr marL="633222" indent="-514350">
              <a:buFont typeface="+mj-lt"/>
              <a:buAutoNum type="arabicParenR"/>
            </a:pPr>
            <a:r>
              <a:rPr lang="fr-CA" sz="2000" dirty="0" err="1"/>
              <a:t>PompeService</a:t>
            </a:r>
            <a:r>
              <a:rPr lang="fr-CA" sz="2000" dirty="0"/>
              <a:t> avec les opérations d’initialisation du système de simulation avec les données de base</a:t>
            </a:r>
          </a:p>
          <a:p>
            <a:pPr marL="925830" lvl="1" indent="-514350">
              <a:buFont typeface="+mj-lt"/>
              <a:buAutoNum type="alphaLcParenR"/>
            </a:pPr>
            <a:r>
              <a:rPr lang="fr-CA" sz="2000" dirty="0"/>
              <a:t>Ajout d’un client</a:t>
            </a:r>
          </a:p>
          <a:p>
            <a:pPr marL="925830" lvl="1" indent="-514350">
              <a:buFont typeface="+mj-lt"/>
              <a:buAutoNum type="alphaLcParenR"/>
            </a:pPr>
            <a:r>
              <a:rPr lang="fr-CA" sz="2000" dirty="0"/>
              <a:t>Modifier info client</a:t>
            </a:r>
          </a:p>
          <a:p>
            <a:pPr marL="925830" lvl="1" indent="-514350">
              <a:buFont typeface="+mj-lt"/>
              <a:buAutoNum type="alphaLcParenR"/>
            </a:pPr>
            <a:r>
              <a:rPr lang="fr-CA" sz="2000" dirty="0"/>
              <a:t>Effacer fiche client</a:t>
            </a:r>
          </a:p>
          <a:p>
            <a:pPr marL="925830" lvl="1" indent="-514350">
              <a:buFont typeface="+mj-lt"/>
              <a:buAutoNum type="alphaLcParenR"/>
            </a:pPr>
            <a:r>
              <a:rPr lang="fr-CA" sz="2000" dirty="0"/>
              <a:t>Chercher la liste des clients suivant un critère</a:t>
            </a:r>
          </a:p>
          <a:p>
            <a:pPr marL="925830" lvl="1" indent="-514350">
              <a:buFont typeface="+mj-lt"/>
              <a:buAutoNum type="alphaLcParenR"/>
            </a:pPr>
            <a:r>
              <a:rPr lang="fr-CA" sz="2000" dirty="0"/>
              <a:t>Ajouter un compte d’un client</a:t>
            </a:r>
          </a:p>
          <a:p>
            <a:pPr marL="925830" lvl="1" indent="-514350">
              <a:buFont typeface="+mj-lt"/>
              <a:buAutoNum type="alphaLcParenR"/>
            </a:pPr>
            <a:r>
              <a:rPr lang="fr-CA" sz="2000" dirty="0"/>
              <a:t>Modifier le compte d’un client</a:t>
            </a:r>
          </a:p>
          <a:p>
            <a:pPr marL="925830" lvl="1" indent="-514350">
              <a:buFont typeface="+mj-lt"/>
              <a:buAutoNum type="alphaLcParenR"/>
            </a:pPr>
            <a:r>
              <a:rPr lang="fr-CA" sz="2000" dirty="0"/>
              <a:t>Effacer le compte d’un client</a:t>
            </a:r>
          </a:p>
          <a:p>
            <a:pPr marL="925830" lvl="1" indent="-514350">
              <a:buFont typeface="+mj-lt"/>
              <a:buAutoNum type="alphaLcParenR"/>
            </a:pPr>
            <a:r>
              <a:rPr lang="fr-CA" sz="2000" dirty="0"/>
              <a:t>Chercher le compte d’un client</a:t>
            </a:r>
          </a:p>
          <a:p>
            <a:pPr marL="925830" lvl="1" indent="-514350">
              <a:buFont typeface="+mj-lt"/>
              <a:buAutoNum type="alphaLcParenR"/>
            </a:pPr>
            <a:r>
              <a:rPr lang="fr-CA" sz="2000" dirty="0"/>
              <a:t>Ajouter une pompe</a:t>
            </a:r>
          </a:p>
          <a:p>
            <a:pPr marL="925830" lvl="1" indent="-514350">
              <a:buFont typeface="+mj-lt"/>
              <a:buAutoNum type="alphaLcParenR"/>
            </a:pPr>
            <a:r>
              <a:rPr lang="fr-CA" sz="2000" dirty="0"/>
              <a:t>Modifier info pompe</a:t>
            </a:r>
          </a:p>
          <a:p>
            <a:pPr marL="925830" lvl="1" indent="-514350">
              <a:buFont typeface="+mj-lt"/>
              <a:buAutoNum type="alphaLcParenR"/>
            </a:pPr>
            <a:r>
              <a:rPr lang="fr-CA" sz="2000" dirty="0"/>
              <a:t>Effacer une pompe</a:t>
            </a:r>
          </a:p>
          <a:p>
            <a:pPr marL="925830" lvl="1" indent="-514350">
              <a:buFont typeface="+mj-lt"/>
              <a:buAutoNum type="alphaLcParenR"/>
            </a:pPr>
            <a:r>
              <a:rPr lang="fr-CA" sz="2000" dirty="0"/>
              <a:t>Rechercher une pompe d’une catégorie d’essence</a:t>
            </a:r>
            <a:endParaRPr lang="fr-CA" sz="2400" dirty="0"/>
          </a:p>
        </p:txBody>
      </p:sp>
      <p:sp>
        <p:nvSpPr>
          <p:cNvPr id="4" name="Espace réservé du numéro de diapositive 3">
            <a:extLst>
              <a:ext uri="{FF2B5EF4-FFF2-40B4-BE49-F238E27FC236}">
                <a16:creationId xmlns:a16="http://schemas.microsoft.com/office/drawing/2014/main" id="{363CB4A0-F7D5-4320-970D-B271AB319B8E}"/>
              </a:ext>
            </a:extLst>
          </p:cNvPr>
          <p:cNvSpPr>
            <a:spLocks noGrp="1"/>
          </p:cNvSpPr>
          <p:nvPr>
            <p:ph type="sldNum" sz="quarter" idx="12"/>
          </p:nvPr>
        </p:nvSpPr>
        <p:spPr/>
        <p:txBody>
          <a:bodyPr/>
          <a:lstStyle/>
          <a:p>
            <a:pPr>
              <a:defRPr/>
            </a:pPr>
            <a:fld id="{7FEE665E-3450-413D-913D-057FF7C87532}" type="slidenum">
              <a:rPr lang="en-US" altLang="en-US" smtClean="0"/>
              <a:pPr>
                <a:defRPr/>
              </a:pPr>
              <a:t>60</a:t>
            </a:fld>
            <a:endParaRPr lang="en-US" altLang="en-US"/>
          </a:p>
        </p:txBody>
      </p:sp>
    </p:spTree>
    <p:extLst>
      <p:ext uri="{BB962C8B-B14F-4D97-AF65-F5344CB8AC3E}">
        <p14:creationId xmlns:p14="http://schemas.microsoft.com/office/powerpoint/2010/main" val="4056840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4136" y="474955"/>
            <a:ext cx="8229600" cy="1066800"/>
          </a:xfrm>
        </p:spPr>
        <p:txBody>
          <a:bodyPr>
            <a:normAutofit/>
          </a:bodyPr>
          <a:lstStyle/>
          <a:p>
            <a:r>
              <a:rPr lang="fr-CA" sz="3600" dirty="0"/>
              <a:t>Couche service : 4 services</a:t>
            </a:r>
          </a:p>
        </p:txBody>
      </p:sp>
      <p:sp>
        <p:nvSpPr>
          <p:cNvPr id="3" name="Espace réservé du contenu 2"/>
          <p:cNvSpPr>
            <a:spLocks noGrp="1"/>
          </p:cNvSpPr>
          <p:nvPr>
            <p:ph idx="1"/>
          </p:nvPr>
        </p:nvSpPr>
        <p:spPr>
          <a:xfrm>
            <a:off x="503548" y="1556792"/>
            <a:ext cx="8229600" cy="4761392"/>
          </a:xfrm>
        </p:spPr>
        <p:txBody>
          <a:bodyPr>
            <a:noAutofit/>
          </a:bodyPr>
          <a:lstStyle/>
          <a:p>
            <a:pPr marL="633222" indent="-514350">
              <a:buFont typeface="+mj-lt"/>
              <a:buAutoNum type="arabicParenR" startAt="2"/>
            </a:pPr>
            <a:r>
              <a:rPr lang="fr-CA" sz="1600" dirty="0" err="1"/>
              <a:t>RéservoirService</a:t>
            </a:r>
            <a:r>
              <a:rPr lang="fr-CA" sz="1600" dirty="0"/>
              <a:t> avec les opérations</a:t>
            </a:r>
          </a:p>
          <a:p>
            <a:pPr marL="925830" lvl="1" indent="-514350">
              <a:buFont typeface="+mj-lt"/>
              <a:buAutoNum type="alphaLcParenR"/>
            </a:pPr>
            <a:r>
              <a:rPr lang="fr-CA" sz="1600" dirty="0"/>
              <a:t>Ajouter un réservoir</a:t>
            </a:r>
          </a:p>
          <a:p>
            <a:pPr marL="925830" lvl="1" indent="-514350">
              <a:buFont typeface="+mj-lt"/>
              <a:buAutoNum type="alphaLcParenR"/>
            </a:pPr>
            <a:r>
              <a:rPr lang="fr-CA" sz="1600" dirty="0"/>
              <a:t>Modifier info réservoir</a:t>
            </a:r>
          </a:p>
          <a:p>
            <a:pPr marL="925830" lvl="1" indent="-514350">
              <a:buFont typeface="+mj-lt"/>
              <a:buAutoNum type="alphaLcParenR"/>
            </a:pPr>
            <a:r>
              <a:rPr lang="fr-CA" sz="1600" dirty="0"/>
              <a:t>Effacer un réservoir</a:t>
            </a:r>
          </a:p>
          <a:p>
            <a:pPr marL="925830" lvl="1" indent="-514350">
              <a:buFont typeface="+mj-lt"/>
              <a:buAutoNum type="alphaLcParenR"/>
            </a:pPr>
            <a:r>
              <a:rPr lang="fr-CA" sz="1600" dirty="0"/>
              <a:t>Approvisionner un réservoir</a:t>
            </a:r>
          </a:p>
          <a:p>
            <a:pPr marL="633222" indent="-514350">
              <a:buFont typeface="+mj-lt"/>
              <a:buAutoNum type="arabicParenR" startAt="2"/>
            </a:pPr>
            <a:r>
              <a:rPr lang="fr-CA" sz="1600" dirty="0" err="1"/>
              <a:t>TransactionService</a:t>
            </a:r>
            <a:r>
              <a:rPr lang="fr-CA" sz="1600" dirty="0"/>
              <a:t> avec les opérations</a:t>
            </a:r>
          </a:p>
          <a:p>
            <a:pPr marL="925830" lvl="1" indent="-514350">
              <a:buFont typeface="+mj-lt"/>
              <a:buAutoNum type="alphaLcParenR"/>
            </a:pPr>
            <a:r>
              <a:rPr lang="fr-CA" sz="1600" dirty="0"/>
              <a:t>Ajouter une transaction</a:t>
            </a:r>
          </a:p>
          <a:p>
            <a:pPr marL="925830" lvl="1" indent="-514350">
              <a:buFont typeface="+mj-lt"/>
              <a:buAutoNum type="alphaLcParenR"/>
            </a:pPr>
            <a:r>
              <a:rPr lang="fr-CA" sz="1600" dirty="0"/>
              <a:t>Modifier une transaction</a:t>
            </a:r>
          </a:p>
          <a:p>
            <a:pPr marL="925830" lvl="1" indent="-514350">
              <a:buFont typeface="+mj-lt"/>
              <a:buAutoNum type="alphaLcParenR"/>
            </a:pPr>
            <a:r>
              <a:rPr lang="fr-CA" sz="1600" dirty="0"/>
              <a:t>Effacer une transaction</a:t>
            </a:r>
          </a:p>
          <a:p>
            <a:pPr marL="925830" lvl="1" indent="-514350">
              <a:buFont typeface="+mj-lt"/>
              <a:buAutoNum type="alphaLcParenR"/>
            </a:pPr>
            <a:r>
              <a:rPr lang="fr-CA" sz="1600" dirty="0"/>
              <a:t>Ajouter un paiement à une transaction</a:t>
            </a:r>
          </a:p>
          <a:p>
            <a:pPr marL="925830" lvl="1" indent="-514350">
              <a:buFont typeface="+mj-lt"/>
              <a:buAutoNum type="alphaLcParenR"/>
            </a:pPr>
            <a:r>
              <a:rPr lang="fr-CA" sz="1600" dirty="0"/>
              <a:t>Modifier un paiement à une transaction</a:t>
            </a:r>
          </a:p>
          <a:p>
            <a:pPr marL="925830" lvl="1" indent="-514350">
              <a:buFont typeface="+mj-lt"/>
              <a:buAutoNum type="alphaLcParenR"/>
            </a:pPr>
            <a:r>
              <a:rPr lang="fr-CA" sz="1600" dirty="0"/>
              <a:t>Effacer un paiement d’une transaction</a:t>
            </a:r>
          </a:p>
          <a:p>
            <a:pPr marL="925830" lvl="1" indent="-514350">
              <a:buFont typeface="+mj-lt"/>
              <a:buAutoNum type="alphaLcParenR"/>
            </a:pPr>
            <a:r>
              <a:rPr lang="fr-CA" sz="1600" dirty="0"/>
              <a:t>Chercher la liste des transactions d’une période</a:t>
            </a:r>
          </a:p>
          <a:p>
            <a:pPr marL="633222" indent="-514350">
              <a:buFont typeface="+mj-lt"/>
              <a:buAutoNum type="arabicParenR" startAt="2"/>
            </a:pPr>
            <a:r>
              <a:rPr lang="fr-CA" sz="1600" dirty="0" err="1"/>
              <a:t>ImpressionService</a:t>
            </a:r>
            <a:endParaRPr lang="fr-CA" sz="1600" dirty="0"/>
          </a:p>
          <a:p>
            <a:pPr marL="925830" lvl="1" indent="-514350">
              <a:buFont typeface="+mj-lt"/>
              <a:buAutoNum type="alphaLcParenR"/>
            </a:pPr>
            <a:r>
              <a:rPr lang="fr-CA" sz="1600" dirty="0"/>
              <a:t>Imprimer un reçu d’une transaction</a:t>
            </a:r>
          </a:p>
          <a:p>
            <a:pPr marL="925830" lvl="1" indent="-514350">
              <a:buFont typeface="+mj-lt"/>
              <a:buAutoNum type="alphaLcParenR"/>
            </a:pPr>
            <a:r>
              <a:rPr lang="fr-CA" sz="1600" dirty="0"/>
              <a:t>Imprimer relevé des transactions d’une période</a:t>
            </a:r>
          </a:p>
        </p:txBody>
      </p:sp>
      <p:sp>
        <p:nvSpPr>
          <p:cNvPr id="4" name="Espace réservé du numéro de diapositive 3">
            <a:extLst>
              <a:ext uri="{FF2B5EF4-FFF2-40B4-BE49-F238E27FC236}">
                <a16:creationId xmlns:a16="http://schemas.microsoft.com/office/drawing/2014/main" id="{AB8369DC-B85D-46A1-B346-9AF46F92355C}"/>
              </a:ext>
            </a:extLst>
          </p:cNvPr>
          <p:cNvSpPr>
            <a:spLocks noGrp="1"/>
          </p:cNvSpPr>
          <p:nvPr>
            <p:ph type="sldNum" sz="quarter" idx="12"/>
          </p:nvPr>
        </p:nvSpPr>
        <p:spPr/>
        <p:txBody>
          <a:bodyPr/>
          <a:lstStyle/>
          <a:p>
            <a:pPr>
              <a:defRPr/>
            </a:pPr>
            <a:fld id="{7FEE665E-3450-413D-913D-057FF7C87532}" type="slidenum">
              <a:rPr lang="en-US" altLang="en-US" smtClean="0"/>
              <a:pPr>
                <a:defRPr/>
              </a:pPr>
              <a:t>61</a:t>
            </a:fld>
            <a:endParaRPr lang="en-US" altLang="en-US"/>
          </a:p>
        </p:txBody>
      </p:sp>
    </p:spTree>
    <p:extLst>
      <p:ext uri="{BB962C8B-B14F-4D97-AF65-F5344CB8AC3E}">
        <p14:creationId xmlns:p14="http://schemas.microsoft.com/office/powerpoint/2010/main" val="1128483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Implantation des services</a:t>
            </a:r>
          </a:p>
        </p:txBody>
      </p:sp>
      <p:sp>
        <p:nvSpPr>
          <p:cNvPr id="3" name="Espace réservé du contenu 2"/>
          <p:cNvSpPr>
            <a:spLocks noGrp="1"/>
          </p:cNvSpPr>
          <p:nvPr>
            <p:ph idx="1"/>
          </p:nvPr>
        </p:nvSpPr>
        <p:spPr>
          <a:xfrm>
            <a:off x="431540" y="1556792"/>
            <a:ext cx="8229600" cy="2979524"/>
          </a:xfrm>
        </p:spPr>
        <p:txBody>
          <a:bodyPr>
            <a:normAutofit/>
          </a:bodyPr>
          <a:lstStyle/>
          <a:p>
            <a:r>
              <a:rPr lang="fr-CA" sz="2400" dirty="0"/>
              <a:t>Chaque service contient l’ensemble des méthodes nécessaires à sa réalisation</a:t>
            </a:r>
          </a:p>
          <a:p>
            <a:r>
              <a:rPr lang="fr-CA" sz="2400" dirty="0"/>
              <a:t>L’implémentation nécessite la création d’une interface déclarant ces méthodes et une classe pour l’implémentation</a:t>
            </a:r>
          </a:p>
          <a:p>
            <a:pPr lvl="1"/>
            <a:endParaRPr lang="fr-CA" dirty="0"/>
          </a:p>
        </p:txBody>
      </p:sp>
      <p:sp>
        <p:nvSpPr>
          <p:cNvPr id="4" name="Espace réservé du numéro de diapositive 3">
            <a:extLst>
              <a:ext uri="{FF2B5EF4-FFF2-40B4-BE49-F238E27FC236}">
                <a16:creationId xmlns:a16="http://schemas.microsoft.com/office/drawing/2014/main" id="{CBC80BE3-AE46-4781-A62E-E9D266B651A0}"/>
              </a:ext>
            </a:extLst>
          </p:cNvPr>
          <p:cNvSpPr>
            <a:spLocks noGrp="1"/>
          </p:cNvSpPr>
          <p:nvPr>
            <p:ph type="sldNum" sz="quarter" idx="12"/>
          </p:nvPr>
        </p:nvSpPr>
        <p:spPr/>
        <p:txBody>
          <a:bodyPr/>
          <a:lstStyle/>
          <a:p>
            <a:pPr>
              <a:defRPr/>
            </a:pPr>
            <a:fld id="{7FEE665E-3450-413D-913D-057FF7C87532}" type="slidenum">
              <a:rPr lang="en-US" altLang="en-US" smtClean="0"/>
              <a:pPr>
                <a:defRPr/>
              </a:pPr>
              <a:t>62</a:t>
            </a:fld>
            <a:endParaRPr lang="en-US" altLang="en-US"/>
          </a:p>
        </p:txBody>
      </p:sp>
    </p:spTree>
    <p:extLst>
      <p:ext uri="{BB962C8B-B14F-4D97-AF65-F5344CB8AC3E}">
        <p14:creationId xmlns:p14="http://schemas.microsoft.com/office/powerpoint/2010/main" val="84161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a:t>Implantation du service </a:t>
            </a:r>
            <a:r>
              <a:rPr lang="fr-CA" dirty="0" err="1"/>
              <a:t>PompeService</a:t>
            </a:r>
            <a:endParaRPr lang="fr-CA" dirty="0"/>
          </a:p>
        </p:txBody>
      </p:sp>
      <p:sp>
        <p:nvSpPr>
          <p:cNvPr id="3" name="Espace réservé du contenu 2"/>
          <p:cNvSpPr>
            <a:spLocks noGrp="1"/>
          </p:cNvSpPr>
          <p:nvPr>
            <p:ph idx="1"/>
          </p:nvPr>
        </p:nvSpPr>
        <p:spPr/>
        <p:txBody>
          <a:bodyPr>
            <a:normAutofit lnSpcReduction="10000"/>
          </a:bodyPr>
          <a:lstStyle/>
          <a:p>
            <a:r>
              <a:rPr lang="fr-CA" sz="2400" dirty="0"/>
              <a:t>D’abord, créer une interface pour ce service (</a:t>
            </a:r>
            <a:r>
              <a:rPr lang="fr-CA" sz="2400" dirty="0" err="1"/>
              <a:t>IPompeService</a:t>
            </a:r>
            <a:r>
              <a:rPr lang="fr-CA" sz="2400" dirty="0"/>
              <a:t>) dans </a:t>
            </a:r>
            <a:r>
              <a:rPr lang="fr-CA" sz="2400" dirty="0" err="1"/>
              <a:t>SystèmeGestionStationService.Core.Interfaces</a:t>
            </a:r>
            <a:endParaRPr lang="fr-CA" sz="2400" dirty="0"/>
          </a:p>
          <a:p>
            <a:r>
              <a:rPr lang="fr-CA" sz="2400" dirty="0"/>
              <a:t>Déclarer les 12 méthodes suivantes:</a:t>
            </a:r>
          </a:p>
          <a:p>
            <a:pPr lvl="1"/>
            <a:r>
              <a:rPr lang="fr-CA" sz="1800" dirty="0" err="1"/>
              <a:t>Task</a:t>
            </a:r>
            <a:r>
              <a:rPr lang="fr-CA" sz="1800" dirty="0"/>
              <a:t> </a:t>
            </a:r>
            <a:r>
              <a:rPr lang="fr-CA" sz="1800" dirty="0" err="1"/>
              <a:t>AddPompe</a:t>
            </a:r>
            <a:r>
              <a:rPr lang="fr-CA" sz="1800" dirty="0"/>
              <a:t>(Pompe </a:t>
            </a:r>
            <a:r>
              <a:rPr lang="fr-CA" sz="1800" dirty="0" err="1"/>
              <a:t>pompe</a:t>
            </a:r>
            <a:r>
              <a:rPr lang="fr-CA" sz="1800" dirty="0"/>
              <a:t>);</a:t>
            </a:r>
          </a:p>
          <a:p>
            <a:pPr lvl="1"/>
            <a:r>
              <a:rPr lang="fr-CA" sz="1800" dirty="0" err="1"/>
              <a:t>Task</a:t>
            </a:r>
            <a:r>
              <a:rPr lang="fr-CA" sz="1800" dirty="0"/>
              <a:t> </a:t>
            </a:r>
            <a:r>
              <a:rPr lang="fr-CA" sz="1800" dirty="0" err="1"/>
              <a:t>UpdatePompe</a:t>
            </a:r>
            <a:r>
              <a:rPr lang="fr-CA" sz="1800" dirty="0"/>
              <a:t>(Pompe </a:t>
            </a:r>
            <a:r>
              <a:rPr lang="fr-CA" sz="1800" dirty="0" err="1"/>
              <a:t>pompe</a:t>
            </a:r>
            <a:r>
              <a:rPr lang="fr-CA" sz="1800" dirty="0"/>
              <a:t>);</a:t>
            </a:r>
          </a:p>
          <a:p>
            <a:pPr lvl="1"/>
            <a:r>
              <a:rPr lang="fr-CA" sz="1800" dirty="0" err="1"/>
              <a:t>Task</a:t>
            </a:r>
            <a:r>
              <a:rPr lang="fr-CA" sz="1800" dirty="0"/>
              <a:t> </a:t>
            </a:r>
            <a:r>
              <a:rPr lang="fr-CA" sz="1800" dirty="0" err="1"/>
              <a:t>DeletePompe</a:t>
            </a:r>
            <a:r>
              <a:rPr lang="fr-CA" sz="1800" dirty="0"/>
              <a:t>(Pompe </a:t>
            </a:r>
            <a:r>
              <a:rPr lang="fr-CA" sz="1800" dirty="0" err="1"/>
              <a:t>pompe</a:t>
            </a:r>
            <a:r>
              <a:rPr lang="fr-CA" sz="1800" dirty="0"/>
              <a:t>);</a:t>
            </a:r>
          </a:p>
          <a:p>
            <a:pPr lvl="1"/>
            <a:r>
              <a:rPr lang="fr-CA" sz="1800" dirty="0"/>
              <a:t>Pompe </a:t>
            </a:r>
            <a:r>
              <a:rPr lang="fr-CA" sz="1800" dirty="0" err="1"/>
              <a:t>GetPompe</a:t>
            </a:r>
            <a:r>
              <a:rPr lang="fr-CA" sz="1800" dirty="0"/>
              <a:t>(</a:t>
            </a:r>
            <a:r>
              <a:rPr lang="fr-CA" sz="1800" dirty="0" err="1"/>
              <a:t>CatégorieEssence</a:t>
            </a:r>
            <a:r>
              <a:rPr lang="fr-CA" sz="1800" dirty="0"/>
              <a:t> catégorie);</a:t>
            </a:r>
          </a:p>
          <a:p>
            <a:pPr lvl="1"/>
            <a:r>
              <a:rPr lang="fr-CA" sz="1800" dirty="0" err="1"/>
              <a:t>Task</a:t>
            </a:r>
            <a:r>
              <a:rPr lang="fr-CA" sz="1800" dirty="0"/>
              <a:t> </a:t>
            </a:r>
            <a:r>
              <a:rPr lang="fr-CA" sz="1800" dirty="0" err="1"/>
              <a:t>AddClient</a:t>
            </a:r>
            <a:r>
              <a:rPr lang="fr-CA" sz="1800" dirty="0"/>
              <a:t>(Client </a:t>
            </a:r>
            <a:r>
              <a:rPr lang="fr-CA" sz="1800" dirty="0" err="1"/>
              <a:t>client</a:t>
            </a:r>
            <a:r>
              <a:rPr lang="fr-CA" sz="1800" dirty="0"/>
              <a:t>);</a:t>
            </a:r>
          </a:p>
          <a:p>
            <a:pPr lvl="1"/>
            <a:r>
              <a:rPr lang="fr-CA" sz="1800" dirty="0" err="1"/>
              <a:t>Task</a:t>
            </a:r>
            <a:r>
              <a:rPr lang="fr-CA" sz="1800" dirty="0"/>
              <a:t> </a:t>
            </a:r>
            <a:r>
              <a:rPr lang="fr-CA" sz="1800" dirty="0" err="1"/>
              <a:t>UpdateClient</a:t>
            </a:r>
            <a:r>
              <a:rPr lang="fr-CA" sz="1800" dirty="0"/>
              <a:t>(Client </a:t>
            </a:r>
            <a:r>
              <a:rPr lang="fr-CA" sz="1800" dirty="0" err="1"/>
              <a:t>client</a:t>
            </a:r>
            <a:r>
              <a:rPr lang="fr-CA" sz="1800" dirty="0"/>
              <a:t>);</a:t>
            </a:r>
          </a:p>
          <a:p>
            <a:pPr lvl="1"/>
            <a:r>
              <a:rPr lang="fr-CA" sz="1800" dirty="0" err="1"/>
              <a:t>Task</a:t>
            </a:r>
            <a:r>
              <a:rPr lang="fr-CA" sz="1800" dirty="0"/>
              <a:t> </a:t>
            </a:r>
            <a:r>
              <a:rPr lang="fr-CA" sz="1800" dirty="0" err="1"/>
              <a:t>DeleteClient</a:t>
            </a:r>
            <a:r>
              <a:rPr lang="fr-CA" sz="1800" dirty="0"/>
              <a:t>(Client </a:t>
            </a:r>
            <a:r>
              <a:rPr lang="fr-CA" sz="1800" dirty="0" err="1"/>
              <a:t>client</a:t>
            </a:r>
            <a:r>
              <a:rPr lang="fr-CA" sz="1800" dirty="0"/>
              <a:t>);</a:t>
            </a:r>
          </a:p>
          <a:p>
            <a:pPr lvl="1"/>
            <a:r>
              <a:rPr lang="fr-CA" sz="1800" dirty="0" err="1"/>
              <a:t>Task</a:t>
            </a:r>
            <a:r>
              <a:rPr lang="fr-CA" sz="1800" dirty="0"/>
              <a:t>&lt;</a:t>
            </a:r>
            <a:r>
              <a:rPr lang="fr-CA" sz="1800" dirty="0" err="1"/>
              <a:t>IReadOnlyList</a:t>
            </a:r>
            <a:r>
              <a:rPr lang="fr-CA" sz="1800" dirty="0"/>
              <a:t>&lt;Client&gt;&gt; </a:t>
            </a:r>
            <a:r>
              <a:rPr lang="fr-CA" sz="1800" dirty="0" err="1"/>
              <a:t>SearchClients</a:t>
            </a:r>
            <a:r>
              <a:rPr lang="fr-CA" sz="1800" dirty="0"/>
              <a:t>(string </a:t>
            </a:r>
            <a:r>
              <a:rPr lang="fr-CA" sz="1800" dirty="0" err="1"/>
              <a:t>search</a:t>
            </a:r>
            <a:r>
              <a:rPr lang="fr-CA" sz="1800" dirty="0"/>
              <a:t>, </a:t>
            </a:r>
            <a:r>
              <a:rPr lang="fr-CA" sz="1800" dirty="0" err="1"/>
              <a:t>int</a:t>
            </a:r>
            <a:r>
              <a:rPr lang="fr-CA" sz="1800" dirty="0"/>
              <a:t> item, </a:t>
            </a:r>
            <a:r>
              <a:rPr lang="fr-CA" sz="1800" dirty="0" err="1"/>
              <a:t>int</a:t>
            </a:r>
            <a:r>
              <a:rPr lang="fr-CA" sz="1800" dirty="0"/>
              <a:t> </a:t>
            </a:r>
            <a:r>
              <a:rPr lang="fr-CA" sz="1800" dirty="0" err="1"/>
              <a:t>nbItem</a:t>
            </a:r>
            <a:r>
              <a:rPr lang="fr-CA" sz="1800" dirty="0"/>
              <a:t>);</a:t>
            </a:r>
          </a:p>
          <a:p>
            <a:pPr lvl="1"/>
            <a:r>
              <a:rPr lang="fr-CA" sz="1800" dirty="0" err="1"/>
              <a:t>Task</a:t>
            </a:r>
            <a:r>
              <a:rPr lang="fr-CA" sz="1800" dirty="0"/>
              <a:t> </a:t>
            </a:r>
            <a:r>
              <a:rPr lang="fr-CA" sz="1800" dirty="0" err="1"/>
              <a:t>AddCompte</a:t>
            </a:r>
            <a:r>
              <a:rPr lang="fr-CA" sz="1800" dirty="0"/>
              <a:t>(</a:t>
            </a:r>
            <a:r>
              <a:rPr lang="fr-CA" sz="1800" dirty="0" err="1"/>
              <a:t>int</a:t>
            </a:r>
            <a:r>
              <a:rPr lang="fr-CA" sz="1800" dirty="0"/>
              <a:t> </a:t>
            </a:r>
            <a:r>
              <a:rPr lang="fr-CA" sz="1800" dirty="0" err="1"/>
              <a:t>clientId</a:t>
            </a:r>
            <a:r>
              <a:rPr lang="fr-CA" sz="1800" dirty="0"/>
              <a:t>, Compte </a:t>
            </a:r>
            <a:r>
              <a:rPr lang="fr-CA" sz="1800" dirty="0" err="1"/>
              <a:t>request</a:t>
            </a:r>
            <a:r>
              <a:rPr lang="fr-CA" sz="1800" dirty="0"/>
              <a:t>);</a:t>
            </a:r>
          </a:p>
          <a:p>
            <a:pPr lvl="1"/>
            <a:r>
              <a:rPr lang="fr-CA" sz="1800" dirty="0" err="1"/>
              <a:t>Task</a:t>
            </a:r>
            <a:r>
              <a:rPr lang="fr-CA" sz="1800" dirty="0"/>
              <a:t> </a:t>
            </a:r>
            <a:r>
              <a:rPr lang="fr-CA" sz="1800" dirty="0" err="1"/>
              <a:t>UpdateCompte</a:t>
            </a:r>
            <a:r>
              <a:rPr lang="fr-CA" sz="1800" dirty="0"/>
              <a:t>(</a:t>
            </a:r>
            <a:r>
              <a:rPr lang="fr-CA" sz="1800" dirty="0" err="1"/>
              <a:t>int</a:t>
            </a:r>
            <a:r>
              <a:rPr lang="fr-CA" sz="1800" dirty="0"/>
              <a:t> </a:t>
            </a:r>
            <a:r>
              <a:rPr lang="fr-CA" sz="1800" dirty="0" err="1"/>
              <a:t>clientId</a:t>
            </a:r>
            <a:r>
              <a:rPr lang="fr-CA" sz="1800" dirty="0"/>
              <a:t>, Compte </a:t>
            </a:r>
            <a:r>
              <a:rPr lang="fr-CA" sz="1800" dirty="0" err="1"/>
              <a:t>request</a:t>
            </a:r>
            <a:r>
              <a:rPr lang="fr-CA" sz="1800" dirty="0"/>
              <a:t>);</a:t>
            </a:r>
          </a:p>
          <a:p>
            <a:pPr lvl="1"/>
            <a:r>
              <a:rPr lang="fr-CA" sz="1800" dirty="0" err="1"/>
              <a:t>Task</a:t>
            </a:r>
            <a:r>
              <a:rPr lang="fr-CA" sz="1800" dirty="0"/>
              <a:t> </a:t>
            </a:r>
            <a:r>
              <a:rPr lang="fr-CA" sz="1800" dirty="0" err="1"/>
              <a:t>DeleteCompte</a:t>
            </a:r>
            <a:r>
              <a:rPr lang="fr-CA" sz="1800" dirty="0"/>
              <a:t>(</a:t>
            </a:r>
            <a:r>
              <a:rPr lang="fr-CA" sz="1800" dirty="0" err="1"/>
              <a:t>int</a:t>
            </a:r>
            <a:r>
              <a:rPr lang="fr-CA" sz="1800" dirty="0"/>
              <a:t> </a:t>
            </a:r>
            <a:r>
              <a:rPr lang="fr-CA" sz="1800" dirty="0" err="1"/>
              <a:t>clientId</a:t>
            </a:r>
            <a:r>
              <a:rPr lang="fr-CA" sz="1800" dirty="0"/>
              <a:t>, Compte </a:t>
            </a:r>
            <a:r>
              <a:rPr lang="fr-CA" sz="1800" dirty="0" err="1"/>
              <a:t>request</a:t>
            </a:r>
            <a:r>
              <a:rPr lang="fr-CA" sz="1800" dirty="0"/>
              <a:t>);</a:t>
            </a:r>
          </a:p>
          <a:p>
            <a:pPr lvl="1"/>
            <a:r>
              <a:rPr lang="fr-CA" sz="1800" dirty="0" err="1"/>
              <a:t>Task</a:t>
            </a:r>
            <a:r>
              <a:rPr lang="fr-CA" sz="1800" dirty="0"/>
              <a:t>&lt;Compte&gt; </a:t>
            </a:r>
            <a:r>
              <a:rPr lang="fr-CA" sz="1800" dirty="0" err="1"/>
              <a:t>GetClientCompte</a:t>
            </a:r>
            <a:r>
              <a:rPr lang="fr-CA" sz="1800" dirty="0"/>
              <a:t>(</a:t>
            </a:r>
            <a:r>
              <a:rPr lang="fr-CA" sz="1800" dirty="0" err="1"/>
              <a:t>int</a:t>
            </a:r>
            <a:r>
              <a:rPr lang="fr-CA" sz="1800" dirty="0"/>
              <a:t> </a:t>
            </a:r>
            <a:r>
              <a:rPr lang="fr-CA" sz="1800" dirty="0" err="1"/>
              <a:t>idClient</a:t>
            </a:r>
            <a:r>
              <a:rPr lang="fr-CA" sz="1800" dirty="0"/>
              <a:t>);</a:t>
            </a:r>
          </a:p>
        </p:txBody>
      </p:sp>
      <p:sp>
        <p:nvSpPr>
          <p:cNvPr id="4" name="Espace réservé du numéro de diapositive 3">
            <a:extLst>
              <a:ext uri="{FF2B5EF4-FFF2-40B4-BE49-F238E27FC236}">
                <a16:creationId xmlns:a16="http://schemas.microsoft.com/office/drawing/2014/main" id="{14E1669F-6545-4A7C-BA7F-7CC0FE9D2380}"/>
              </a:ext>
            </a:extLst>
          </p:cNvPr>
          <p:cNvSpPr>
            <a:spLocks noGrp="1"/>
          </p:cNvSpPr>
          <p:nvPr>
            <p:ph type="sldNum" sz="quarter" idx="12"/>
          </p:nvPr>
        </p:nvSpPr>
        <p:spPr/>
        <p:txBody>
          <a:bodyPr/>
          <a:lstStyle/>
          <a:p>
            <a:pPr>
              <a:defRPr/>
            </a:pPr>
            <a:fld id="{7FEE665E-3450-413D-913D-057FF7C87532}" type="slidenum">
              <a:rPr lang="en-US" altLang="en-US" smtClean="0"/>
              <a:pPr>
                <a:defRPr/>
              </a:pPr>
              <a:t>63</a:t>
            </a:fld>
            <a:endParaRPr lang="en-US" altLang="en-US"/>
          </a:p>
        </p:txBody>
      </p:sp>
    </p:spTree>
    <p:extLst>
      <p:ext uri="{BB962C8B-B14F-4D97-AF65-F5344CB8AC3E}">
        <p14:creationId xmlns:p14="http://schemas.microsoft.com/office/powerpoint/2010/main" val="2885223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a:t>Implantation du service </a:t>
            </a:r>
            <a:r>
              <a:rPr lang="fr-CA" dirty="0" err="1"/>
              <a:t>PompeService</a:t>
            </a:r>
            <a:endParaRPr lang="fr-CA" dirty="0"/>
          </a:p>
        </p:txBody>
      </p:sp>
      <p:sp>
        <p:nvSpPr>
          <p:cNvPr id="3" name="Espace réservé du contenu 2"/>
          <p:cNvSpPr>
            <a:spLocks noGrp="1"/>
          </p:cNvSpPr>
          <p:nvPr>
            <p:ph idx="1"/>
          </p:nvPr>
        </p:nvSpPr>
        <p:spPr/>
        <p:txBody>
          <a:bodyPr>
            <a:normAutofit/>
          </a:bodyPr>
          <a:lstStyle/>
          <a:p>
            <a:r>
              <a:rPr lang="fr-CA" sz="2400" dirty="0"/>
              <a:t>Créer une classe (</a:t>
            </a:r>
            <a:r>
              <a:rPr lang="fr-CA" sz="2400" dirty="0" err="1"/>
              <a:t>PompeService</a:t>
            </a:r>
            <a:r>
              <a:rPr lang="fr-CA" sz="2400" dirty="0"/>
              <a:t>) implémentant cette interface dans </a:t>
            </a:r>
            <a:r>
              <a:rPr lang="fr-CA" sz="2400" dirty="0" err="1"/>
              <a:t>EAISolution.Core.Services</a:t>
            </a:r>
            <a:r>
              <a:rPr lang="fr-CA" sz="2400" dirty="0"/>
              <a:t> (dans le dossier Services)</a:t>
            </a:r>
          </a:p>
          <a:p>
            <a:r>
              <a:rPr lang="fr-CA" sz="2400" dirty="0"/>
              <a:t>Voir le code de la classe</a:t>
            </a:r>
          </a:p>
        </p:txBody>
      </p:sp>
      <p:sp>
        <p:nvSpPr>
          <p:cNvPr id="4" name="Espace réservé du numéro de diapositive 3">
            <a:extLst>
              <a:ext uri="{FF2B5EF4-FFF2-40B4-BE49-F238E27FC236}">
                <a16:creationId xmlns:a16="http://schemas.microsoft.com/office/drawing/2014/main" id="{E5F8CA6C-015D-4B1B-94CA-F55498ACAF9B}"/>
              </a:ext>
            </a:extLst>
          </p:cNvPr>
          <p:cNvSpPr>
            <a:spLocks noGrp="1"/>
          </p:cNvSpPr>
          <p:nvPr>
            <p:ph type="sldNum" sz="quarter" idx="12"/>
          </p:nvPr>
        </p:nvSpPr>
        <p:spPr/>
        <p:txBody>
          <a:bodyPr/>
          <a:lstStyle/>
          <a:p>
            <a:pPr>
              <a:defRPr/>
            </a:pPr>
            <a:fld id="{7FEE665E-3450-413D-913D-057FF7C87532}" type="slidenum">
              <a:rPr lang="en-US" altLang="en-US" smtClean="0"/>
              <a:pPr>
                <a:defRPr/>
              </a:pPr>
              <a:t>64</a:t>
            </a:fld>
            <a:endParaRPr lang="en-US" altLang="en-US"/>
          </a:p>
        </p:txBody>
      </p:sp>
    </p:spTree>
    <p:extLst>
      <p:ext uri="{BB962C8B-B14F-4D97-AF65-F5344CB8AC3E}">
        <p14:creationId xmlns:p14="http://schemas.microsoft.com/office/powerpoint/2010/main" val="3278316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a:t>Implantation du service </a:t>
            </a:r>
            <a:r>
              <a:rPr lang="fr-CA" dirty="0" err="1"/>
              <a:t>PompeService</a:t>
            </a:r>
            <a:endParaRPr lang="fr-CA" dirty="0"/>
          </a:p>
        </p:txBody>
      </p:sp>
      <p:sp>
        <p:nvSpPr>
          <p:cNvPr id="3" name="Espace réservé du contenu 2"/>
          <p:cNvSpPr>
            <a:spLocks noGrp="1"/>
          </p:cNvSpPr>
          <p:nvPr>
            <p:ph idx="1"/>
          </p:nvPr>
        </p:nvSpPr>
        <p:spPr>
          <a:xfrm>
            <a:off x="467544" y="1628800"/>
            <a:ext cx="8229600" cy="4325112"/>
          </a:xfrm>
        </p:spPr>
        <p:txBody>
          <a:bodyPr>
            <a:normAutofit/>
          </a:bodyPr>
          <a:lstStyle/>
          <a:p>
            <a:r>
              <a:rPr lang="fr-CA" sz="2400" dirty="0"/>
              <a:t>Une méthode particulière </a:t>
            </a:r>
            <a:r>
              <a:rPr lang="fr-CA" sz="2400" dirty="0" err="1"/>
              <a:t>SearchClients</a:t>
            </a:r>
            <a:r>
              <a:rPr lang="fr-CA" sz="2400" dirty="0"/>
              <a:t> implante la recherche des clients en respectant les critères suivants:</a:t>
            </a:r>
          </a:p>
          <a:p>
            <a:pPr lvl="1"/>
            <a:r>
              <a:rPr lang="fr-CA" sz="2000" dirty="0"/>
              <a:t>L’utilisateur doit pouvoir entrer plusieurs mots. </a:t>
            </a:r>
            <a:r>
              <a:rPr lang="fr-FR" sz="2000" dirty="0"/>
              <a:t>Si l'utilisateur spécifie plusieurs mots, une requête booléenne utilisant l'opérateur "and" ("ET") est créée</a:t>
            </a:r>
          </a:p>
        </p:txBody>
      </p:sp>
      <p:sp>
        <p:nvSpPr>
          <p:cNvPr id="4" name="Espace réservé du numéro de diapositive 3">
            <a:extLst>
              <a:ext uri="{FF2B5EF4-FFF2-40B4-BE49-F238E27FC236}">
                <a16:creationId xmlns:a16="http://schemas.microsoft.com/office/drawing/2014/main" id="{77A0F48A-B3B4-4CC5-9F19-8D18384EA8C1}"/>
              </a:ext>
            </a:extLst>
          </p:cNvPr>
          <p:cNvSpPr>
            <a:spLocks noGrp="1"/>
          </p:cNvSpPr>
          <p:nvPr>
            <p:ph type="sldNum" sz="quarter" idx="12"/>
          </p:nvPr>
        </p:nvSpPr>
        <p:spPr/>
        <p:txBody>
          <a:bodyPr/>
          <a:lstStyle/>
          <a:p>
            <a:pPr>
              <a:defRPr/>
            </a:pPr>
            <a:fld id="{7FEE665E-3450-413D-913D-057FF7C87532}" type="slidenum">
              <a:rPr lang="en-US" altLang="en-US" smtClean="0"/>
              <a:pPr>
                <a:defRPr/>
              </a:pPr>
              <a:t>65</a:t>
            </a:fld>
            <a:endParaRPr lang="en-US" altLang="en-US"/>
          </a:p>
        </p:txBody>
      </p:sp>
    </p:spTree>
    <p:extLst>
      <p:ext uri="{BB962C8B-B14F-4D97-AF65-F5344CB8AC3E}">
        <p14:creationId xmlns:p14="http://schemas.microsoft.com/office/powerpoint/2010/main" val="224747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a:t>Implantation du service </a:t>
            </a:r>
            <a:r>
              <a:rPr lang="fr-CA" dirty="0" err="1"/>
              <a:t>PompeService</a:t>
            </a:r>
            <a:endParaRPr lang="fr-CA" dirty="0"/>
          </a:p>
        </p:txBody>
      </p:sp>
      <p:sp>
        <p:nvSpPr>
          <p:cNvPr id="3" name="Espace réservé du contenu 2"/>
          <p:cNvSpPr>
            <a:spLocks noGrp="1"/>
          </p:cNvSpPr>
          <p:nvPr>
            <p:ph idx="1"/>
          </p:nvPr>
        </p:nvSpPr>
        <p:spPr/>
        <p:txBody>
          <a:bodyPr>
            <a:normAutofit/>
          </a:bodyPr>
          <a:lstStyle/>
          <a:p>
            <a:r>
              <a:rPr lang="fr-CA" sz="2400" dirty="0"/>
              <a:t>Pour vous assister dans le développement de la condition, importer la classe </a:t>
            </a:r>
            <a:r>
              <a:rPr lang="fr-CA" sz="2400" dirty="0" err="1"/>
              <a:t>PredicateBuilder</a:t>
            </a:r>
            <a:r>
              <a:rPr lang="fr-CA" sz="2400" dirty="0"/>
              <a:t> fourni</a:t>
            </a:r>
          </a:p>
          <a:p>
            <a:r>
              <a:rPr lang="fr-CA" sz="2400" dirty="0"/>
              <a:t>Créer une classe </a:t>
            </a:r>
            <a:r>
              <a:rPr lang="fr-CA" sz="2400" dirty="0" err="1"/>
              <a:t>ClientSearchSpecification</a:t>
            </a:r>
            <a:r>
              <a:rPr lang="fr-CA" sz="2400" dirty="0"/>
              <a:t> dans </a:t>
            </a:r>
            <a:r>
              <a:rPr lang="fr-CA" sz="2400" dirty="0" err="1"/>
              <a:t>SystèmeGestionStationService.Core.Specifications</a:t>
            </a:r>
            <a:endParaRPr lang="fr-CA" sz="2400" dirty="0"/>
          </a:p>
          <a:p>
            <a:r>
              <a:rPr lang="fr-CA" sz="2400" dirty="0"/>
              <a:t>Le constructeur de cette classe prend 3 paramètres</a:t>
            </a:r>
          </a:p>
          <a:p>
            <a:pPr lvl="1"/>
            <a:r>
              <a:rPr lang="fr-CA" sz="2000" dirty="0"/>
              <a:t>string recherche: liste des mots clés séparés par des espaces (prénom ou nom des clients)</a:t>
            </a:r>
          </a:p>
          <a:p>
            <a:pPr lvl="1"/>
            <a:r>
              <a:rPr lang="fr-CA" sz="2000" dirty="0" err="1"/>
              <a:t>int</a:t>
            </a:r>
            <a:r>
              <a:rPr lang="fr-CA" sz="2000" dirty="0"/>
              <a:t> item: l’index du premier item</a:t>
            </a:r>
          </a:p>
          <a:p>
            <a:pPr lvl="1"/>
            <a:r>
              <a:rPr lang="fr-CA" sz="2000" dirty="0" err="1"/>
              <a:t>int</a:t>
            </a:r>
            <a:r>
              <a:rPr lang="fr-CA" sz="2000" dirty="0"/>
              <a:t> </a:t>
            </a:r>
            <a:r>
              <a:rPr lang="fr-CA" sz="2000" dirty="0" err="1"/>
              <a:t>nbItem</a:t>
            </a:r>
            <a:r>
              <a:rPr lang="fr-CA" sz="2000" dirty="0"/>
              <a:t>: le nombre d’items</a:t>
            </a:r>
          </a:p>
          <a:p>
            <a:r>
              <a:rPr lang="fr-CA" sz="2400" dirty="0"/>
              <a:t>Voir le code…</a:t>
            </a:r>
          </a:p>
          <a:p>
            <a:endParaRPr lang="fr-CA" dirty="0"/>
          </a:p>
        </p:txBody>
      </p:sp>
      <p:sp>
        <p:nvSpPr>
          <p:cNvPr id="4" name="Espace réservé du numéro de diapositive 3">
            <a:extLst>
              <a:ext uri="{FF2B5EF4-FFF2-40B4-BE49-F238E27FC236}">
                <a16:creationId xmlns:a16="http://schemas.microsoft.com/office/drawing/2014/main" id="{902529A6-FD09-46AC-A9F5-0213427F12F7}"/>
              </a:ext>
            </a:extLst>
          </p:cNvPr>
          <p:cNvSpPr>
            <a:spLocks noGrp="1"/>
          </p:cNvSpPr>
          <p:nvPr>
            <p:ph type="sldNum" sz="quarter" idx="12"/>
          </p:nvPr>
        </p:nvSpPr>
        <p:spPr/>
        <p:txBody>
          <a:bodyPr/>
          <a:lstStyle/>
          <a:p>
            <a:pPr>
              <a:defRPr/>
            </a:pPr>
            <a:fld id="{7FEE665E-3450-413D-913D-057FF7C87532}" type="slidenum">
              <a:rPr lang="en-US" altLang="en-US" smtClean="0"/>
              <a:pPr>
                <a:defRPr/>
              </a:pPr>
              <a:t>66</a:t>
            </a:fld>
            <a:endParaRPr lang="en-US" altLang="en-US"/>
          </a:p>
        </p:txBody>
      </p:sp>
    </p:spTree>
    <p:extLst>
      <p:ext uri="{BB962C8B-B14F-4D97-AF65-F5344CB8AC3E}">
        <p14:creationId xmlns:p14="http://schemas.microsoft.com/office/powerpoint/2010/main" val="2987716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83464"/>
            <a:ext cx="8229600" cy="1066800"/>
          </a:xfrm>
        </p:spPr>
        <p:txBody>
          <a:bodyPr>
            <a:normAutofit/>
          </a:bodyPr>
          <a:lstStyle/>
          <a:p>
            <a:r>
              <a:rPr lang="fr-CA" dirty="0"/>
              <a:t>Les trois autres services</a:t>
            </a:r>
          </a:p>
        </p:txBody>
      </p:sp>
      <p:sp>
        <p:nvSpPr>
          <p:cNvPr id="3" name="Espace réservé du contenu 2"/>
          <p:cNvSpPr>
            <a:spLocks noGrp="1"/>
          </p:cNvSpPr>
          <p:nvPr>
            <p:ph idx="1"/>
          </p:nvPr>
        </p:nvSpPr>
        <p:spPr>
          <a:xfrm>
            <a:off x="470517" y="1350264"/>
            <a:ext cx="8229600" cy="5092409"/>
          </a:xfrm>
        </p:spPr>
        <p:txBody>
          <a:bodyPr>
            <a:normAutofit fontScale="92500" lnSpcReduction="20000"/>
          </a:bodyPr>
          <a:lstStyle/>
          <a:p>
            <a:r>
              <a:rPr lang="fr-CA" sz="2200" dirty="0"/>
              <a:t>Le service </a:t>
            </a:r>
            <a:r>
              <a:rPr lang="fr-CA" sz="2200" dirty="0" err="1"/>
              <a:t>TransactionService</a:t>
            </a:r>
            <a:r>
              <a:rPr lang="fr-CA" sz="2200" dirty="0"/>
              <a:t> implante les méthodes suivantes:</a:t>
            </a:r>
          </a:p>
          <a:p>
            <a:pPr lvl="1"/>
            <a:r>
              <a:rPr lang="fr-CA" sz="1800" dirty="0" err="1"/>
              <a:t>Task</a:t>
            </a:r>
            <a:r>
              <a:rPr lang="fr-CA" sz="1800" dirty="0"/>
              <a:t> </a:t>
            </a:r>
            <a:r>
              <a:rPr lang="fr-CA" sz="1800" dirty="0" err="1"/>
              <a:t>AddTransaction</a:t>
            </a:r>
            <a:r>
              <a:rPr lang="fr-CA" sz="1800" dirty="0"/>
              <a:t>(Transaction </a:t>
            </a:r>
            <a:r>
              <a:rPr lang="fr-CA" sz="1800" dirty="0" err="1"/>
              <a:t>transaction</a:t>
            </a:r>
            <a:r>
              <a:rPr lang="fr-CA" sz="1800" dirty="0"/>
              <a:t>);</a:t>
            </a:r>
          </a:p>
          <a:p>
            <a:pPr lvl="1"/>
            <a:r>
              <a:rPr lang="fr-CA" sz="1800" dirty="0" err="1"/>
              <a:t>Task</a:t>
            </a:r>
            <a:r>
              <a:rPr lang="fr-CA" sz="1800" dirty="0"/>
              <a:t> </a:t>
            </a:r>
            <a:r>
              <a:rPr lang="fr-CA" sz="1800" dirty="0" err="1"/>
              <a:t>UpdateTransaction</a:t>
            </a:r>
            <a:r>
              <a:rPr lang="fr-CA" sz="1800" dirty="0"/>
              <a:t>(Transaction </a:t>
            </a:r>
            <a:r>
              <a:rPr lang="fr-CA" sz="1800" dirty="0" err="1"/>
              <a:t>transaction</a:t>
            </a:r>
            <a:r>
              <a:rPr lang="fr-CA" sz="1800" dirty="0"/>
              <a:t>);</a:t>
            </a:r>
          </a:p>
          <a:p>
            <a:pPr lvl="1"/>
            <a:r>
              <a:rPr lang="fr-CA" sz="1800" dirty="0" err="1"/>
              <a:t>Task</a:t>
            </a:r>
            <a:r>
              <a:rPr lang="fr-CA" sz="1800" dirty="0"/>
              <a:t> </a:t>
            </a:r>
            <a:r>
              <a:rPr lang="fr-CA" sz="1800" dirty="0" err="1"/>
              <a:t>DeleteTransaction</a:t>
            </a:r>
            <a:r>
              <a:rPr lang="fr-CA" sz="1800" dirty="0"/>
              <a:t>(Transaction </a:t>
            </a:r>
            <a:r>
              <a:rPr lang="fr-CA" sz="1800" dirty="0" err="1"/>
              <a:t>transaction</a:t>
            </a:r>
            <a:r>
              <a:rPr lang="fr-CA" sz="1800" dirty="0"/>
              <a:t>);</a:t>
            </a:r>
          </a:p>
          <a:p>
            <a:pPr lvl="1"/>
            <a:r>
              <a:rPr lang="fr-CA" sz="1800" dirty="0" err="1"/>
              <a:t>Task</a:t>
            </a:r>
            <a:r>
              <a:rPr lang="fr-CA" sz="1800" dirty="0"/>
              <a:t> </a:t>
            </a:r>
            <a:r>
              <a:rPr lang="fr-CA" sz="1800" dirty="0" err="1"/>
              <a:t>AddPaiement</a:t>
            </a:r>
            <a:r>
              <a:rPr lang="fr-CA" sz="1800" dirty="0"/>
              <a:t>(</a:t>
            </a:r>
            <a:r>
              <a:rPr lang="fr-CA" sz="1800" dirty="0" err="1"/>
              <a:t>int</a:t>
            </a:r>
            <a:r>
              <a:rPr lang="fr-CA" sz="1800" dirty="0"/>
              <a:t> </a:t>
            </a:r>
            <a:r>
              <a:rPr lang="fr-CA" sz="1800" dirty="0" err="1"/>
              <a:t>idTransaction</a:t>
            </a:r>
            <a:r>
              <a:rPr lang="fr-CA" sz="1800" dirty="0"/>
              <a:t>, Paiement </a:t>
            </a:r>
            <a:r>
              <a:rPr lang="fr-CA" sz="1800" dirty="0" err="1"/>
              <a:t>paiement</a:t>
            </a:r>
            <a:r>
              <a:rPr lang="fr-CA" sz="1800" dirty="0"/>
              <a:t>);</a:t>
            </a:r>
          </a:p>
          <a:p>
            <a:pPr lvl="1"/>
            <a:r>
              <a:rPr lang="fr-CA" sz="1800" dirty="0" err="1"/>
              <a:t>Task</a:t>
            </a:r>
            <a:r>
              <a:rPr lang="fr-CA" sz="1800" dirty="0"/>
              <a:t> </a:t>
            </a:r>
            <a:r>
              <a:rPr lang="fr-CA" sz="1800" dirty="0" err="1"/>
              <a:t>UpdatePaiement</a:t>
            </a:r>
            <a:r>
              <a:rPr lang="fr-CA" sz="1800" dirty="0"/>
              <a:t>(</a:t>
            </a:r>
            <a:r>
              <a:rPr lang="fr-CA" sz="1800" dirty="0" err="1"/>
              <a:t>int</a:t>
            </a:r>
            <a:r>
              <a:rPr lang="fr-CA" sz="1800" dirty="0"/>
              <a:t> </a:t>
            </a:r>
            <a:r>
              <a:rPr lang="fr-CA" sz="1800" dirty="0" err="1"/>
              <a:t>idTransaction</a:t>
            </a:r>
            <a:r>
              <a:rPr lang="fr-CA" sz="1800" dirty="0"/>
              <a:t>, Paiement </a:t>
            </a:r>
            <a:r>
              <a:rPr lang="fr-CA" sz="1800" dirty="0" err="1"/>
              <a:t>paiement</a:t>
            </a:r>
            <a:r>
              <a:rPr lang="fr-CA" sz="1800" dirty="0"/>
              <a:t>);</a:t>
            </a:r>
          </a:p>
          <a:p>
            <a:pPr lvl="1"/>
            <a:r>
              <a:rPr lang="fr-CA" sz="1800" dirty="0" err="1"/>
              <a:t>Task</a:t>
            </a:r>
            <a:r>
              <a:rPr lang="fr-CA" sz="1800" dirty="0"/>
              <a:t> </a:t>
            </a:r>
            <a:r>
              <a:rPr lang="fr-CA" sz="1800" dirty="0" err="1"/>
              <a:t>DeletePaiement</a:t>
            </a:r>
            <a:r>
              <a:rPr lang="fr-CA" sz="1800" dirty="0"/>
              <a:t>(</a:t>
            </a:r>
            <a:r>
              <a:rPr lang="fr-CA" sz="1800" dirty="0" err="1"/>
              <a:t>int</a:t>
            </a:r>
            <a:r>
              <a:rPr lang="fr-CA" sz="1800" dirty="0"/>
              <a:t> </a:t>
            </a:r>
            <a:r>
              <a:rPr lang="fr-CA" sz="1800" dirty="0" err="1"/>
              <a:t>idTransaction</a:t>
            </a:r>
            <a:r>
              <a:rPr lang="fr-CA" sz="1800" dirty="0"/>
              <a:t>, Paiement </a:t>
            </a:r>
            <a:r>
              <a:rPr lang="fr-CA" sz="1800" dirty="0" err="1"/>
              <a:t>paiement</a:t>
            </a:r>
            <a:r>
              <a:rPr lang="fr-CA" sz="1800" dirty="0"/>
              <a:t>);</a:t>
            </a:r>
          </a:p>
          <a:p>
            <a:pPr lvl="1"/>
            <a:r>
              <a:rPr lang="fr-CA" sz="1800" dirty="0" err="1"/>
              <a:t>Task</a:t>
            </a:r>
            <a:r>
              <a:rPr lang="fr-CA" sz="1800" dirty="0"/>
              <a:t>&lt;</a:t>
            </a:r>
            <a:r>
              <a:rPr lang="fr-CA" sz="1800" dirty="0" err="1"/>
              <a:t>IReadOnlyList</a:t>
            </a:r>
            <a:r>
              <a:rPr lang="fr-CA" sz="1800" dirty="0"/>
              <a:t>&lt;Transaction&gt;&gt; </a:t>
            </a:r>
            <a:r>
              <a:rPr lang="fr-CA" sz="1800" dirty="0" err="1"/>
              <a:t>GetTransactionsByPériode</a:t>
            </a:r>
            <a:r>
              <a:rPr lang="fr-CA" sz="1800" dirty="0"/>
              <a:t>(</a:t>
            </a:r>
            <a:r>
              <a:rPr lang="fr-CA" sz="1800" dirty="0" err="1"/>
              <a:t>DateTimeOffset</a:t>
            </a:r>
            <a:r>
              <a:rPr lang="fr-CA" sz="1800" dirty="0"/>
              <a:t> début, </a:t>
            </a:r>
            <a:r>
              <a:rPr lang="fr-CA" sz="1800" dirty="0" err="1"/>
              <a:t>DateTimeOffset</a:t>
            </a:r>
            <a:r>
              <a:rPr lang="fr-CA" sz="1800" dirty="0"/>
              <a:t> fin);</a:t>
            </a:r>
          </a:p>
          <a:p>
            <a:r>
              <a:rPr lang="fr-CA" sz="2000" dirty="0"/>
              <a:t>Le service </a:t>
            </a:r>
            <a:r>
              <a:rPr lang="fr-CA" sz="2000" dirty="0" err="1"/>
              <a:t>RéservoirService</a:t>
            </a:r>
            <a:r>
              <a:rPr lang="fr-CA" sz="2000" dirty="0"/>
              <a:t> implante les méthodes </a:t>
            </a:r>
          </a:p>
          <a:p>
            <a:pPr lvl="1"/>
            <a:r>
              <a:rPr lang="fr-CA" sz="1800" dirty="0" err="1"/>
              <a:t>Task</a:t>
            </a:r>
            <a:r>
              <a:rPr lang="fr-CA" sz="1800" dirty="0"/>
              <a:t> </a:t>
            </a:r>
            <a:r>
              <a:rPr lang="fr-CA" sz="1800" dirty="0" err="1"/>
              <a:t>AddRéservoir</a:t>
            </a:r>
            <a:r>
              <a:rPr lang="fr-CA" sz="1800" dirty="0"/>
              <a:t>(</a:t>
            </a:r>
            <a:r>
              <a:rPr lang="fr-CA" sz="1800" dirty="0" err="1"/>
              <a:t>int</a:t>
            </a:r>
            <a:r>
              <a:rPr lang="fr-CA" sz="1800" dirty="0"/>
              <a:t> </a:t>
            </a:r>
            <a:r>
              <a:rPr lang="fr-CA" sz="1800" dirty="0" err="1"/>
              <a:t>idPompe</a:t>
            </a:r>
            <a:r>
              <a:rPr lang="fr-CA" sz="1800" dirty="0"/>
              <a:t>, Réservoir </a:t>
            </a:r>
            <a:r>
              <a:rPr lang="fr-CA" sz="1800" dirty="0" err="1"/>
              <a:t>réservoir</a:t>
            </a:r>
            <a:r>
              <a:rPr lang="fr-CA" sz="1800" dirty="0"/>
              <a:t>);</a:t>
            </a:r>
          </a:p>
          <a:p>
            <a:pPr lvl="1"/>
            <a:r>
              <a:rPr lang="fr-CA" sz="1800" dirty="0" err="1"/>
              <a:t>Task</a:t>
            </a:r>
            <a:r>
              <a:rPr lang="fr-CA" sz="1800" dirty="0"/>
              <a:t> </a:t>
            </a:r>
            <a:r>
              <a:rPr lang="fr-CA" sz="1800" dirty="0" err="1"/>
              <a:t>UpdateRéservoir</a:t>
            </a:r>
            <a:r>
              <a:rPr lang="fr-CA" sz="1800" dirty="0"/>
              <a:t>(Réservoir </a:t>
            </a:r>
            <a:r>
              <a:rPr lang="fr-CA" sz="1800" dirty="0" err="1"/>
              <a:t>réservoir</a:t>
            </a:r>
            <a:r>
              <a:rPr lang="fr-CA" sz="1800" dirty="0"/>
              <a:t>);</a:t>
            </a:r>
          </a:p>
          <a:p>
            <a:pPr lvl="1"/>
            <a:r>
              <a:rPr lang="fr-CA" sz="1800" dirty="0" err="1"/>
              <a:t>Task</a:t>
            </a:r>
            <a:r>
              <a:rPr lang="fr-CA" sz="1800" dirty="0"/>
              <a:t> </a:t>
            </a:r>
            <a:r>
              <a:rPr lang="fr-CA" sz="1800" dirty="0" err="1"/>
              <a:t>DeleteRéservoir</a:t>
            </a:r>
            <a:r>
              <a:rPr lang="fr-CA" sz="1800" dirty="0"/>
              <a:t>(Réservoir </a:t>
            </a:r>
            <a:r>
              <a:rPr lang="fr-CA" sz="1800" dirty="0" err="1"/>
              <a:t>réservoir</a:t>
            </a:r>
            <a:r>
              <a:rPr lang="fr-CA" sz="1800" dirty="0"/>
              <a:t>);</a:t>
            </a:r>
          </a:p>
          <a:p>
            <a:pPr lvl="1"/>
            <a:r>
              <a:rPr lang="fr-CA" sz="1800" dirty="0"/>
              <a:t>Réservoir </a:t>
            </a:r>
            <a:r>
              <a:rPr lang="fr-CA" sz="1800" dirty="0" err="1"/>
              <a:t>GetRéservoir</a:t>
            </a:r>
            <a:r>
              <a:rPr lang="fr-CA" sz="1800" dirty="0"/>
              <a:t>(</a:t>
            </a:r>
            <a:r>
              <a:rPr lang="fr-CA" sz="1800" dirty="0" err="1"/>
              <a:t>CatégorieEssence</a:t>
            </a:r>
            <a:r>
              <a:rPr lang="fr-CA" sz="1800" dirty="0"/>
              <a:t> catégorie);</a:t>
            </a:r>
          </a:p>
          <a:p>
            <a:pPr lvl="1"/>
            <a:r>
              <a:rPr lang="fr-CA" sz="1800" dirty="0" err="1"/>
              <a:t>Task</a:t>
            </a:r>
            <a:r>
              <a:rPr lang="fr-CA" sz="1800" dirty="0"/>
              <a:t> Approvisionner(Réservoir </a:t>
            </a:r>
            <a:r>
              <a:rPr lang="fr-CA" sz="1800" dirty="0" err="1"/>
              <a:t>réservoir</a:t>
            </a:r>
            <a:r>
              <a:rPr lang="fr-CA" sz="1800" dirty="0"/>
              <a:t>, </a:t>
            </a:r>
            <a:r>
              <a:rPr lang="fr-CA" sz="1800" dirty="0" err="1"/>
              <a:t>decimal</a:t>
            </a:r>
            <a:r>
              <a:rPr lang="fr-CA" sz="1800" dirty="0"/>
              <a:t> </a:t>
            </a:r>
            <a:r>
              <a:rPr lang="fr-CA" sz="1800" dirty="0" err="1"/>
              <a:t>quantitéEssence</a:t>
            </a:r>
            <a:r>
              <a:rPr lang="fr-CA" sz="1800" dirty="0"/>
              <a:t>);</a:t>
            </a:r>
          </a:p>
          <a:p>
            <a:r>
              <a:rPr lang="fr-CA" sz="2000" dirty="0"/>
              <a:t>Le service </a:t>
            </a:r>
            <a:r>
              <a:rPr lang="fr-CA" sz="2000" dirty="0" err="1"/>
              <a:t>ImpressionService</a:t>
            </a:r>
            <a:r>
              <a:rPr lang="fr-CA" sz="2000" dirty="0"/>
              <a:t> implante les méthodes</a:t>
            </a:r>
          </a:p>
          <a:p>
            <a:pPr lvl="1"/>
            <a:r>
              <a:rPr lang="fr-CA" sz="1800" dirty="0" err="1"/>
              <a:t>Task</a:t>
            </a:r>
            <a:r>
              <a:rPr lang="fr-CA" sz="1800" dirty="0"/>
              <a:t> </a:t>
            </a:r>
            <a:r>
              <a:rPr lang="fr-CA" sz="1800" dirty="0" err="1"/>
              <a:t>ImprimerReçu</a:t>
            </a:r>
            <a:r>
              <a:rPr lang="fr-CA" sz="1800" dirty="0"/>
              <a:t>(Transaction </a:t>
            </a:r>
            <a:r>
              <a:rPr lang="fr-CA" sz="1800" dirty="0" err="1"/>
              <a:t>transaction</a:t>
            </a:r>
            <a:r>
              <a:rPr lang="fr-CA" sz="1800" dirty="0"/>
              <a:t>);</a:t>
            </a:r>
          </a:p>
          <a:p>
            <a:pPr lvl="1"/>
            <a:r>
              <a:rPr lang="fr-CA" sz="1800" dirty="0"/>
              <a:t> </a:t>
            </a:r>
            <a:r>
              <a:rPr lang="fr-CA" sz="1800" dirty="0" err="1"/>
              <a:t>Task</a:t>
            </a:r>
            <a:r>
              <a:rPr lang="fr-CA" sz="1800" dirty="0"/>
              <a:t> </a:t>
            </a:r>
            <a:r>
              <a:rPr lang="fr-CA" sz="1800" dirty="0" err="1"/>
              <a:t>ImprimerRelevé</a:t>
            </a:r>
            <a:r>
              <a:rPr lang="fr-CA" sz="1800" dirty="0"/>
              <a:t>(Transaction </a:t>
            </a:r>
            <a:r>
              <a:rPr lang="fr-CA" sz="1800" dirty="0" err="1"/>
              <a:t>transaction</a:t>
            </a:r>
            <a:r>
              <a:rPr lang="fr-CA" sz="1800" dirty="0"/>
              <a:t>);</a:t>
            </a:r>
          </a:p>
        </p:txBody>
      </p:sp>
      <p:sp>
        <p:nvSpPr>
          <p:cNvPr id="4" name="Espace réservé du numéro de diapositive 3">
            <a:extLst>
              <a:ext uri="{FF2B5EF4-FFF2-40B4-BE49-F238E27FC236}">
                <a16:creationId xmlns:a16="http://schemas.microsoft.com/office/drawing/2014/main" id="{85A87577-0152-4373-B986-BF70FDC76AA6}"/>
              </a:ext>
            </a:extLst>
          </p:cNvPr>
          <p:cNvSpPr>
            <a:spLocks noGrp="1"/>
          </p:cNvSpPr>
          <p:nvPr>
            <p:ph type="sldNum" sz="quarter" idx="12"/>
          </p:nvPr>
        </p:nvSpPr>
        <p:spPr/>
        <p:txBody>
          <a:bodyPr/>
          <a:lstStyle/>
          <a:p>
            <a:pPr>
              <a:defRPr/>
            </a:pPr>
            <a:fld id="{7FEE665E-3450-413D-913D-057FF7C87532}" type="slidenum">
              <a:rPr lang="en-US" altLang="en-US" smtClean="0"/>
              <a:pPr>
                <a:defRPr/>
              </a:pPr>
              <a:t>67</a:t>
            </a:fld>
            <a:endParaRPr lang="en-US" altLang="en-US"/>
          </a:p>
        </p:txBody>
      </p:sp>
    </p:spTree>
    <p:extLst>
      <p:ext uri="{BB962C8B-B14F-4D97-AF65-F5344CB8AC3E}">
        <p14:creationId xmlns:p14="http://schemas.microsoft.com/office/powerpoint/2010/main" val="1820531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Les autres tests</a:t>
            </a:r>
          </a:p>
        </p:txBody>
      </p:sp>
      <p:sp>
        <p:nvSpPr>
          <p:cNvPr id="3" name="Espace réservé du contenu 2"/>
          <p:cNvSpPr>
            <a:spLocks noGrp="1"/>
          </p:cNvSpPr>
          <p:nvPr>
            <p:ph idx="1"/>
          </p:nvPr>
        </p:nvSpPr>
        <p:spPr/>
        <p:txBody>
          <a:bodyPr>
            <a:normAutofit/>
          </a:bodyPr>
          <a:lstStyle/>
          <a:p>
            <a:r>
              <a:rPr lang="fr-CA" sz="2400" dirty="0"/>
              <a:t>Test4 : tester l’approvisionnement d’un réservoir (</a:t>
            </a:r>
            <a:r>
              <a:rPr lang="fr-CA" sz="2400" dirty="0" err="1"/>
              <a:t>RéservoirService</a:t>
            </a:r>
            <a:r>
              <a:rPr lang="fr-CA" sz="2400" dirty="0"/>
              <a:t>)</a:t>
            </a:r>
          </a:p>
          <a:p>
            <a:r>
              <a:rPr lang="fr-CA" sz="2400" dirty="0"/>
              <a:t>Test5: tester une recherche des transactions (</a:t>
            </a:r>
            <a:r>
              <a:rPr lang="fr-CA" sz="2400" dirty="0" err="1"/>
              <a:t>TransactionService</a:t>
            </a:r>
            <a:r>
              <a:rPr lang="fr-CA" sz="2400" dirty="0"/>
              <a:t>)</a:t>
            </a:r>
          </a:p>
          <a:p>
            <a:endParaRPr lang="fr-CA" dirty="0"/>
          </a:p>
        </p:txBody>
      </p:sp>
      <p:sp>
        <p:nvSpPr>
          <p:cNvPr id="4" name="Espace réservé du numéro de diapositive 3">
            <a:extLst>
              <a:ext uri="{FF2B5EF4-FFF2-40B4-BE49-F238E27FC236}">
                <a16:creationId xmlns:a16="http://schemas.microsoft.com/office/drawing/2014/main" id="{9FC3866F-6A4A-4B7C-AFEB-6B682FC97060}"/>
              </a:ext>
            </a:extLst>
          </p:cNvPr>
          <p:cNvSpPr>
            <a:spLocks noGrp="1"/>
          </p:cNvSpPr>
          <p:nvPr>
            <p:ph type="sldNum" sz="quarter" idx="12"/>
          </p:nvPr>
        </p:nvSpPr>
        <p:spPr/>
        <p:txBody>
          <a:bodyPr/>
          <a:lstStyle/>
          <a:p>
            <a:pPr>
              <a:defRPr/>
            </a:pPr>
            <a:fld id="{7FEE665E-3450-413D-913D-057FF7C87532}" type="slidenum">
              <a:rPr lang="en-US" altLang="en-US" smtClean="0"/>
              <a:pPr>
                <a:defRPr/>
              </a:pPr>
              <a:t>68</a:t>
            </a:fld>
            <a:endParaRPr lang="en-US" altLang="en-US"/>
          </a:p>
        </p:txBody>
      </p:sp>
    </p:spTree>
    <p:extLst>
      <p:ext uri="{BB962C8B-B14F-4D97-AF65-F5344CB8AC3E}">
        <p14:creationId xmlns:p14="http://schemas.microsoft.com/office/powerpoint/2010/main" val="2832792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Tests unitaires</a:t>
            </a:r>
          </a:p>
        </p:txBody>
      </p:sp>
      <p:sp>
        <p:nvSpPr>
          <p:cNvPr id="3" name="Espace réservé du contenu 2"/>
          <p:cNvSpPr>
            <a:spLocks noGrp="1"/>
          </p:cNvSpPr>
          <p:nvPr>
            <p:ph idx="1"/>
          </p:nvPr>
        </p:nvSpPr>
        <p:spPr/>
        <p:txBody>
          <a:bodyPr>
            <a:normAutofit/>
          </a:bodyPr>
          <a:lstStyle/>
          <a:p>
            <a:r>
              <a:rPr lang="fr-CA" sz="2400" dirty="0"/>
              <a:t>Les tests unitaires sont les tests qui visent une partie spécifique du code, indépendamment du reste de l’application</a:t>
            </a:r>
          </a:p>
          <a:p>
            <a:r>
              <a:rPr lang="fr-CA" sz="2400" dirty="0"/>
              <a:t>Dans notre exercice, nous allons nous concentrer sur le code du projet </a:t>
            </a:r>
            <a:r>
              <a:rPr lang="fr-CA" sz="2400" dirty="0" err="1"/>
              <a:t>core</a:t>
            </a:r>
            <a:r>
              <a:rPr lang="fr-CA" sz="2400" dirty="0"/>
              <a:t> et écrire un exemple de test pour:</a:t>
            </a:r>
          </a:p>
          <a:p>
            <a:pPr lvl="1"/>
            <a:r>
              <a:rPr lang="fr-CA" sz="2000" dirty="0"/>
              <a:t>Une méthode d’une entité</a:t>
            </a:r>
          </a:p>
          <a:p>
            <a:pPr lvl="1"/>
            <a:r>
              <a:rPr lang="fr-CA" sz="2000" dirty="0"/>
              <a:t>Une méthode d’un service</a:t>
            </a:r>
          </a:p>
          <a:p>
            <a:pPr lvl="1"/>
            <a:r>
              <a:rPr lang="fr-CA" sz="2000" dirty="0"/>
              <a:t>Une spécification</a:t>
            </a:r>
          </a:p>
          <a:p>
            <a:r>
              <a:rPr lang="fr-CA" sz="2400" dirty="0"/>
              <a:t>Normalement, toutes les méthodes devraient faire l’objet de tests. Veuillez vous référer aux cours INF3307 (Assurance qualité et gestion de projets informatique) et 8INF841 (Gestion de projets informatiques)</a:t>
            </a:r>
          </a:p>
        </p:txBody>
      </p:sp>
      <p:sp>
        <p:nvSpPr>
          <p:cNvPr id="4" name="Espace réservé du numéro de diapositive 3">
            <a:extLst>
              <a:ext uri="{FF2B5EF4-FFF2-40B4-BE49-F238E27FC236}">
                <a16:creationId xmlns:a16="http://schemas.microsoft.com/office/drawing/2014/main" id="{F5CCED2B-2E67-401A-9B29-A0B56A80BE8C}"/>
              </a:ext>
            </a:extLst>
          </p:cNvPr>
          <p:cNvSpPr>
            <a:spLocks noGrp="1"/>
          </p:cNvSpPr>
          <p:nvPr>
            <p:ph type="sldNum" sz="quarter" idx="12"/>
          </p:nvPr>
        </p:nvSpPr>
        <p:spPr/>
        <p:txBody>
          <a:bodyPr/>
          <a:lstStyle/>
          <a:p>
            <a:pPr>
              <a:defRPr/>
            </a:pPr>
            <a:fld id="{7FEE665E-3450-413D-913D-057FF7C87532}" type="slidenum">
              <a:rPr lang="en-US" altLang="en-US" smtClean="0"/>
              <a:pPr>
                <a:defRPr/>
              </a:pPr>
              <a:t>69</a:t>
            </a:fld>
            <a:endParaRPr lang="en-US" altLang="en-US"/>
          </a:p>
        </p:txBody>
      </p:sp>
    </p:spTree>
    <p:extLst>
      <p:ext uri="{BB962C8B-B14F-4D97-AF65-F5344CB8AC3E}">
        <p14:creationId xmlns:p14="http://schemas.microsoft.com/office/powerpoint/2010/main" val="1243515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Tests unitaires</a:t>
            </a:r>
          </a:p>
        </p:txBody>
      </p:sp>
      <p:sp>
        <p:nvSpPr>
          <p:cNvPr id="3" name="Espace réservé du contenu 2"/>
          <p:cNvSpPr>
            <a:spLocks noGrp="1"/>
          </p:cNvSpPr>
          <p:nvPr>
            <p:ph idx="1"/>
          </p:nvPr>
        </p:nvSpPr>
        <p:spPr>
          <a:xfrm>
            <a:off x="467544" y="1664804"/>
            <a:ext cx="4745115" cy="4325112"/>
          </a:xfrm>
        </p:spPr>
        <p:txBody>
          <a:bodyPr>
            <a:normAutofit/>
          </a:bodyPr>
          <a:lstStyle/>
          <a:p>
            <a:r>
              <a:rPr lang="fr-CA" sz="2600" dirty="0"/>
              <a:t>D’abord, ajouter un projet </a:t>
            </a:r>
            <a:r>
              <a:rPr lang="fr-CA" sz="2600" dirty="0" err="1"/>
              <a:t>xUnit</a:t>
            </a:r>
            <a:r>
              <a:rPr lang="fr-CA" sz="2600" dirty="0"/>
              <a:t> à votre solution</a:t>
            </a:r>
          </a:p>
          <a:p>
            <a:endParaRPr lang="fr-CA" dirty="0"/>
          </a:p>
          <a:p>
            <a:endParaRPr lang="fr-CA" dirty="0"/>
          </a:p>
          <a:p>
            <a:endParaRPr lang="fr-CA" dirty="0"/>
          </a:p>
          <a:p>
            <a:r>
              <a:rPr lang="fr-CA" sz="2600" dirty="0"/>
              <a:t>Créer les répertoires affichés</a:t>
            </a:r>
          </a:p>
          <a:p>
            <a:r>
              <a:rPr lang="fr-CA" sz="2600" dirty="0"/>
              <a:t>Ajouter les références de projets </a:t>
            </a:r>
          </a:p>
          <a:p>
            <a:endParaRPr lang="fr-CA" dirty="0"/>
          </a:p>
        </p:txBody>
      </p:sp>
      <p:pic>
        <p:nvPicPr>
          <p:cNvPr id="6" name="Image 5">
            <a:extLst>
              <a:ext uri="{FF2B5EF4-FFF2-40B4-BE49-F238E27FC236}">
                <a16:creationId xmlns:a16="http://schemas.microsoft.com/office/drawing/2014/main" id="{0F0526E9-FDBB-4295-A71B-31B37C3874AD}"/>
              </a:ext>
            </a:extLst>
          </p:cNvPr>
          <p:cNvPicPr>
            <a:picLocks noChangeAspect="1"/>
          </p:cNvPicPr>
          <p:nvPr/>
        </p:nvPicPr>
        <p:blipFill>
          <a:blip r:embed="rId2"/>
          <a:stretch>
            <a:fillRect/>
          </a:stretch>
        </p:blipFill>
        <p:spPr>
          <a:xfrm>
            <a:off x="719572" y="2672916"/>
            <a:ext cx="6296025" cy="984127"/>
          </a:xfrm>
          <a:prstGeom prst="rect">
            <a:avLst/>
          </a:prstGeom>
        </p:spPr>
      </p:pic>
      <p:pic>
        <p:nvPicPr>
          <p:cNvPr id="7" name="Image 6">
            <a:extLst>
              <a:ext uri="{FF2B5EF4-FFF2-40B4-BE49-F238E27FC236}">
                <a16:creationId xmlns:a16="http://schemas.microsoft.com/office/drawing/2014/main" id="{BD13913C-FA80-46C4-8ECC-B7E445F442CD}"/>
              </a:ext>
            </a:extLst>
          </p:cNvPr>
          <p:cNvPicPr>
            <a:picLocks noChangeAspect="1"/>
          </p:cNvPicPr>
          <p:nvPr/>
        </p:nvPicPr>
        <p:blipFill>
          <a:blip r:embed="rId3"/>
          <a:stretch>
            <a:fillRect/>
          </a:stretch>
        </p:blipFill>
        <p:spPr>
          <a:xfrm>
            <a:off x="5112060" y="4077072"/>
            <a:ext cx="3941687" cy="2456016"/>
          </a:xfrm>
          <a:prstGeom prst="rect">
            <a:avLst/>
          </a:prstGeom>
        </p:spPr>
      </p:pic>
      <p:sp>
        <p:nvSpPr>
          <p:cNvPr id="4" name="Espace réservé du numéro de diapositive 3">
            <a:extLst>
              <a:ext uri="{FF2B5EF4-FFF2-40B4-BE49-F238E27FC236}">
                <a16:creationId xmlns:a16="http://schemas.microsoft.com/office/drawing/2014/main" id="{62538723-7486-40E6-89AA-CCAD7183F075}"/>
              </a:ext>
            </a:extLst>
          </p:cNvPr>
          <p:cNvSpPr>
            <a:spLocks noGrp="1"/>
          </p:cNvSpPr>
          <p:nvPr>
            <p:ph type="sldNum" sz="quarter" idx="12"/>
          </p:nvPr>
        </p:nvSpPr>
        <p:spPr/>
        <p:txBody>
          <a:bodyPr/>
          <a:lstStyle/>
          <a:p>
            <a:pPr>
              <a:defRPr/>
            </a:pPr>
            <a:fld id="{7FEE665E-3450-413D-913D-057FF7C87532}" type="slidenum">
              <a:rPr lang="en-US" altLang="en-US" smtClean="0"/>
              <a:pPr>
                <a:defRPr/>
              </a:pPr>
              <a:t>70</a:t>
            </a:fld>
            <a:endParaRPr lang="en-US" altLang="en-US"/>
          </a:p>
        </p:txBody>
      </p:sp>
    </p:spTree>
    <p:extLst>
      <p:ext uri="{BB962C8B-B14F-4D97-AF65-F5344CB8AC3E}">
        <p14:creationId xmlns:p14="http://schemas.microsoft.com/office/powerpoint/2010/main" val="3183249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Tests unitaires - entités</a:t>
            </a:r>
          </a:p>
        </p:txBody>
      </p:sp>
      <p:sp>
        <p:nvSpPr>
          <p:cNvPr id="3" name="Espace réservé du contenu 2"/>
          <p:cNvSpPr>
            <a:spLocks noGrp="1"/>
          </p:cNvSpPr>
          <p:nvPr>
            <p:ph idx="1"/>
          </p:nvPr>
        </p:nvSpPr>
        <p:spPr>
          <a:xfrm>
            <a:off x="287524" y="1628800"/>
            <a:ext cx="8686800" cy="4325112"/>
          </a:xfrm>
        </p:spPr>
        <p:txBody>
          <a:bodyPr>
            <a:normAutofit/>
          </a:bodyPr>
          <a:lstStyle/>
          <a:p>
            <a:r>
              <a:rPr lang="fr-CA" sz="2600" dirty="0"/>
              <a:t>Nous allons préparer un test pour la méthode </a:t>
            </a:r>
            <a:r>
              <a:rPr lang="fr-CA" sz="2600" dirty="0" err="1"/>
              <a:t>AddPaiement</a:t>
            </a:r>
            <a:r>
              <a:rPr lang="fr-CA" sz="2600" dirty="0"/>
              <a:t> de l’entité Transaction. Les étapes préliminaires sont:</a:t>
            </a:r>
          </a:p>
          <a:p>
            <a:pPr lvl="1"/>
            <a:r>
              <a:rPr lang="fr-CA" sz="2000" dirty="0"/>
              <a:t>Créer un répertoire </a:t>
            </a:r>
            <a:r>
              <a:rPr lang="fr-CA" sz="2000" dirty="0" err="1"/>
              <a:t>TransactionTest</a:t>
            </a:r>
            <a:r>
              <a:rPr lang="fr-CA" sz="2000" dirty="0"/>
              <a:t> dans </a:t>
            </a:r>
            <a:r>
              <a:rPr lang="fr-CA" sz="2000" dirty="0" err="1"/>
              <a:t>SystèmeGestionStationService.TestsUnitaires.Core.Entities</a:t>
            </a:r>
            <a:endParaRPr lang="fr-CA" sz="2000" dirty="0"/>
          </a:p>
          <a:p>
            <a:pPr lvl="1"/>
            <a:r>
              <a:rPr lang="fr-CA" sz="2000" dirty="0"/>
              <a:t>Y créer la classe </a:t>
            </a:r>
            <a:r>
              <a:rPr lang="fr-CA" sz="2000" dirty="0" err="1"/>
              <a:t>AddPaiement</a:t>
            </a:r>
            <a:endParaRPr lang="fr-CA" sz="2000" dirty="0"/>
          </a:p>
          <a:p>
            <a:pPr lvl="1"/>
            <a:r>
              <a:rPr lang="fr-CA" sz="2000" dirty="0"/>
              <a:t>Ajouter 3 </a:t>
            </a:r>
            <a:r>
              <a:rPr lang="fr-CA" sz="2000" dirty="0" err="1"/>
              <a:t>using</a:t>
            </a:r>
            <a:endParaRPr lang="fr-CA" sz="2000" dirty="0"/>
          </a:p>
          <a:p>
            <a:pPr lvl="2"/>
            <a:r>
              <a:rPr lang="fr-CA" sz="1800" dirty="0" err="1"/>
              <a:t>using</a:t>
            </a:r>
            <a:r>
              <a:rPr lang="fr-CA" sz="1800" dirty="0"/>
              <a:t> </a:t>
            </a:r>
            <a:r>
              <a:rPr lang="fr-CA" sz="1800" dirty="0" err="1"/>
              <a:t>System.Linq</a:t>
            </a:r>
            <a:r>
              <a:rPr lang="fr-CA" sz="1800" dirty="0"/>
              <a:t>;</a:t>
            </a:r>
          </a:p>
          <a:p>
            <a:pPr lvl="2"/>
            <a:r>
              <a:rPr lang="fr-CA" sz="1800" dirty="0" err="1"/>
              <a:t>using</a:t>
            </a:r>
            <a:r>
              <a:rPr lang="fr-CA" sz="1800" dirty="0"/>
              <a:t> </a:t>
            </a:r>
            <a:r>
              <a:rPr lang="fr-CA" sz="1800" dirty="0" err="1"/>
              <a:t>Xunit</a:t>
            </a:r>
            <a:r>
              <a:rPr lang="fr-CA" sz="1800" dirty="0"/>
              <a:t>;</a:t>
            </a:r>
          </a:p>
          <a:p>
            <a:pPr lvl="2"/>
            <a:r>
              <a:rPr lang="fr-CA" sz="1800" dirty="0" err="1"/>
              <a:t>using</a:t>
            </a:r>
            <a:r>
              <a:rPr lang="fr-CA" sz="1800" dirty="0"/>
              <a:t> </a:t>
            </a:r>
            <a:r>
              <a:rPr lang="fr-CA" sz="1800" dirty="0" err="1"/>
              <a:t>SystèmeGestionStationService.Core</a:t>
            </a:r>
            <a:r>
              <a:rPr lang="fr-CA" sz="1800" dirty="0"/>
              <a:t>;</a:t>
            </a:r>
          </a:p>
          <a:p>
            <a:pPr lvl="1"/>
            <a:endParaRPr lang="fr-CA" dirty="0"/>
          </a:p>
        </p:txBody>
      </p:sp>
      <p:sp>
        <p:nvSpPr>
          <p:cNvPr id="4" name="Espace réservé du numéro de diapositive 3">
            <a:extLst>
              <a:ext uri="{FF2B5EF4-FFF2-40B4-BE49-F238E27FC236}">
                <a16:creationId xmlns:a16="http://schemas.microsoft.com/office/drawing/2014/main" id="{2A82263C-6796-4145-A759-DEC5E4C663CD}"/>
              </a:ext>
            </a:extLst>
          </p:cNvPr>
          <p:cNvSpPr>
            <a:spLocks noGrp="1"/>
          </p:cNvSpPr>
          <p:nvPr>
            <p:ph type="sldNum" sz="quarter" idx="12"/>
          </p:nvPr>
        </p:nvSpPr>
        <p:spPr/>
        <p:txBody>
          <a:bodyPr/>
          <a:lstStyle/>
          <a:p>
            <a:pPr>
              <a:defRPr/>
            </a:pPr>
            <a:fld id="{7FEE665E-3450-413D-913D-057FF7C87532}" type="slidenum">
              <a:rPr lang="en-US" altLang="en-US" smtClean="0"/>
              <a:pPr>
                <a:defRPr/>
              </a:pPr>
              <a:t>71</a:t>
            </a:fld>
            <a:endParaRPr lang="en-US" altLang="en-US"/>
          </a:p>
        </p:txBody>
      </p:sp>
    </p:spTree>
    <p:extLst>
      <p:ext uri="{BB962C8B-B14F-4D97-AF65-F5344CB8AC3E}">
        <p14:creationId xmlns:p14="http://schemas.microsoft.com/office/powerpoint/2010/main" val="3799660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83960" y="488700"/>
            <a:ext cx="8229600" cy="1066800"/>
          </a:xfrm>
        </p:spPr>
        <p:txBody>
          <a:bodyPr/>
          <a:lstStyle/>
          <a:p>
            <a:r>
              <a:rPr lang="fr-CA" dirty="0"/>
              <a:t>Tests unitaires - entités</a:t>
            </a:r>
          </a:p>
        </p:txBody>
      </p:sp>
      <p:sp>
        <p:nvSpPr>
          <p:cNvPr id="3" name="Espace réservé du contenu 2"/>
          <p:cNvSpPr>
            <a:spLocks noGrp="1"/>
          </p:cNvSpPr>
          <p:nvPr>
            <p:ph idx="1"/>
          </p:nvPr>
        </p:nvSpPr>
        <p:spPr>
          <a:xfrm>
            <a:off x="530440" y="1555500"/>
            <a:ext cx="8229600" cy="1782504"/>
          </a:xfrm>
        </p:spPr>
        <p:txBody>
          <a:bodyPr>
            <a:normAutofit/>
          </a:bodyPr>
          <a:lstStyle/>
          <a:p>
            <a:r>
              <a:rPr lang="fr-CA" sz="2400" dirty="0"/>
              <a:t>Le test le plus simple consiste à ajouter un paiement complet et s’assurer que le paiement est bien ajouté</a:t>
            </a:r>
          </a:p>
          <a:p>
            <a:r>
              <a:rPr lang="fr-CA" sz="2400" dirty="0" err="1"/>
              <a:t>xUnit</a:t>
            </a:r>
            <a:r>
              <a:rPr lang="fr-CA" sz="2400" dirty="0"/>
              <a:t> utilise l’attribut [Fact] pour marquer les méthodes sans paramètres à exécuter pour les tests</a:t>
            </a:r>
          </a:p>
        </p:txBody>
      </p:sp>
      <p:sp>
        <p:nvSpPr>
          <p:cNvPr id="5" name="Rectangle 4">
            <a:extLst>
              <a:ext uri="{FF2B5EF4-FFF2-40B4-BE49-F238E27FC236}">
                <a16:creationId xmlns:a16="http://schemas.microsoft.com/office/drawing/2014/main" id="{9A91FB38-191B-405C-8DF3-006E618DD220}"/>
              </a:ext>
            </a:extLst>
          </p:cNvPr>
          <p:cNvSpPr/>
          <p:nvPr/>
        </p:nvSpPr>
        <p:spPr>
          <a:xfrm>
            <a:off x="807868" y="3338004"/>
            <a:ext cx="7805692" cy="3139321"/>
          </a:xfrm>
          <a:prstGeom prst="rect">
            <a:avLst/>
          </a:prstGeom>
        </p:spPr>
        <p:txBody>
          <a:bodyPr wrap="square">
            <a:spAutoFit/>
          </a:bodyPr>
          <a:lstStyle/>
          <a:p>
            <a:r>
              <a:rPr lang="fr-CA" dirty="0"/>
              <a:t>public class </a:t>
            </a:r>
            <a:r>
              <a:rPr lang="fr-CA" dirty="0" err="1"/>
              <a:t>AddPaiement</a:t>
            </a:r>
            <a:endParaRPr lang="fr-CA" dirty="0"/>
          </a:p>
          <a:p>
            <a:r>
              <a:rPr lang="fr-CA" dirty="0"/>
              <a:t>    {</a:t>
            </a:r>
          </a:p>
          <a:p>
            <a:r>
              <a:rPr lang="fr-CA" dirty="0"/>
              <a:t>        [Fact]</a:t>
            </a:r>
          </a:p>
          <a:p>
            <a:endParaRPr lang="fr-CA" dirty="0"/>
          </a:p>
          <a:p>
            <a:r>
              <a:rPr lang="fr-CA" dirty="0"/>
              <a:t>        public </a:t>
            </a:r>
            <a:r>
              <a:rPr lang="fr-CA" dirty="0" err="1"/>
              <a:t>void</a:t>
            </a:r>
            <a:r>
              <a:rPr lang="fr-CA" dirty="0"/>
              <a:t> </a:t>
            </a:r>
            <a:r>
              <a:rPr lang="fr-CA" dirty="0" err="1"/>
              <a:t>AjouterPaiement</a:t>
            </a:r>
            <a:r>
              <a:rPr lang="fr-CA" dirty="0"/>
              <a:t>()</a:t>
            </a:r>
          </a:p>
          <a:p>
            <a:r>
              <a:rPr lang="fr-CA" dirty="0"/>
              <a:t>        {</a:t>
            </a:r>
          </a:p>
          <a:p>
            <a:r>
              <a:rPr lang="fr-CA" dirty="0"/>
              <a:t>            Transaction </a:t>
            </a:r>
            <a:r>
              <a:rPr lang="fr-CA" dirty="0" err="1"/>
              <a:t>transaction</a:t>
            </a:r>
            <a:r>
              <a:rPr lang="fr-CA" dirty="0"/>
              <a:t> = new Transaction();</a:t>
            </a:r>
          </a:p>
          <a:p>
            <a:r>
              <a:rPr lang="fr-CA" dirty="0"/>
              <a:t>            </a:t>
            </a:r>
            <a:r>
              <a:rPr lang="fr-CA" dirty="0" err="1"/>
              <a:t>transaction.AddPaiement</a:t>
            </a:r>
            <a:r>
              <a:rPr lang="fr-CA" dirty="0"/>
              <a:t>(new </a:t>
            </a:r>
            <a:r>
              <a:rPr lang="fr-CA" dirty="0" err="1"/>
              <a:t>PaiementEspèce</a:t>
            </a:r>
            <a:r>
              <a:rPr lang="fr-CA" dirty="0"/>
              <a:t>(100, transaction));</a:t>
            </a:r>
          </a:p>
          <a:p>
            <a:r>
              <a:rPr lang="fr-CA" dirty="0"/>
              <a:t>            </a:t>
            </a:r>
            <a:r>
              <a:rPr lang="fr-CA" dirty="0" err="1"/>
              <a:t>Assert.Single</a:t>
            </a:r>
            <a:r>
              <a:rPr lang="fr-CA" dirty="0"/>
              <a:t>(</a:t>
            </a:r>
            <a:r>
              <a:rPr lang="fr-CA" dirty="0" err="1"/>
              <a:t>transaction.Paiements</a:t>
            </a:r>
            <a:r>
              <a:rPr lang="fr-CA" dirty="0"/>
              <a:t>);</a:t>
            </a:r>
          </a:p>
          <a:p>
            <a:r>
              <a:rPr lang="fr-CA" dirty="0"/>
              <a:t>        }</a:t>
            </a:r>
          </a:p>
          <a:p>
            <a:r>
              <a:rPr lang="fr-CA" dirty="0"/>
              <a:t>    }</a:t>
            </a:r>
          </a:p>
        </p:txBody>
      </p:sp>
      <p:sp>
        <p:nvSpPr>
          <p:cNvPr id="4" name="Espace réservé du numéro de diapositive 3">
            <a:extLst>
              <a:ext uri="{FF2B5EF4-FFF2-40B4-BE49-F238E27FC236}">
                <a16:creationId xmlns:a16="http://schemas.microsoft.com/office/drawing/2014/main" id="{170DB6D2-802E-4CB4-9DF3-09C6E61A51D6}"/>
              </a:ext>
            </a:extLst>
          </p:cNvPr>
          <p:cNvSpPr>
            <a:spLocks noGrp="1"/>
          </p:cNvSpPr>
          <p:nvPr>
            <p:ph type="sldNum" sz="quarter" idx="12"/>
          </p:nvPr>
        </p:nvSpPr>
        <p:spPr/>
        <p:txBody>
          <a:bodyPr/>
          <a:lstStyle/>
          <a:p>
            <a:pPr>
              <a:defRPr/>
            </a:pPr>
            <a:fld id="{7FEE665E-3450-413D-913D-057FF7C87532}" type="slidenum">
              <a:rPr lang="en-US" altLang="en-US" smtClean="0"/>
              <a:pPr>
                <a:defRPr/>
              </a:pPr>
              <a:t>72</a:t>
            </a:fld>
            <a:endParaRPr lang="en-US" altLang="en-US"/>
          </a:p>
        </p:txBody>
      </p:sp>
    </p:spTree>
    <p:extLst>
      <p:ext uri="{BB962C8B-B14F-4D97-AF65-F5344CB8AC3E}">
        <p14:creationId xmlns:p14="http://schemas.microsoft.com/office/powerpoint/2010/main" val="2984194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Tests unitaires - entités</a:t>
            </a:r>
          </a:p>
        </p:txBody>
      </p:sp>
      <p:sp>
        <p:nvSpPr>
          <p:cNvPr id="3" name="Espace réservé du contenu 2"/>
          <p:cNvSpPr>
            <a:spLocks noGrp="1"/>
          </p:cNvSpPr>
          <p:nvPr>
            <p:ph idx="1"/>
          </p:nvPr>
        </p:nvSpPr>
        <p:spPr>
          <a:xfrm>
            <a:off x="228600" y="1403874"/>
            <a:ext cx="8686800" cy="1953118"/>
          </a:xfrm>
        </p:spPr>
        <p:txBody>
          <a:bodyPr>
            <a:normAutofit/>
          </a:bodyPr>
          <a:lstStyle/>
          <a:p>
            <a:r>
              <a:rPr lang="fr-CA" sz="2400" dirty="0"/>
              <a:t>Pour forcer l’exécution des tests, on peut aller dans le menu « Test » et choisir « Exécuter tous les tests »</a:t>
            </a:r>
          </a:p>
          <a:p>
            <a:r>
              <a:rPr lang="fr-CA" sz="2400" dirty="0"/>
              <a:t>Le résultat se retrouve dans l’explorateur de tests:</a:t>
            </a:r>
          </a:p>
        </p:txBody>
      </p:sp>
      <p:pic>
        <p:nvPicPr>
          <p:cNvPr id="4" name="Image 3">
            <a:extLst>
              <a:ext uri="{FF2B5EF4-FFF2-40B4-BE49-F238E27FC236}">
                <a16:creationId xmlns:a16="http://schemas.microsoft.com/office/drawing/2014/main" id="{6EFAFE2A-E62B-407F-A641-4E0AE41A9E75}"/>
              </a:ext>
            </a:extLst>
          </p:cNvPr>
          <p:cNvPicPr>
            <a:picLocks noChangeAspect="1"/>
          </p:cNvPicPr>
          <p:nvPr/>
        </p:nvPicPr>
        <p:blipFill>
          <a:blip r:embed="rId2"/>
          <a:stretch>
            <a:fillRect/>
          </a:stretch>
        </p:blipFill>
        <p:spPr>
          <a:xfrm>
            <a:off x="683568" y="3068960"/>
            <a:ext cx="7705725" cy="2019300"/>
          </a:xfrm>
          <a:prstGeom prst="rect">
            <a:avLst/>
          </a:prstGeom>
        </p:spPr>
      </p:pic>
      <p:sp>
        <p:nvSpPr>
          <p:cNvPr id="5" name="Espace réservé du numéro de diapositive 4">
            <a:extLst>
              <a:ext uri="{FF2B5EF4-FFF2-40B4-BE49-F238E27FC236}">
                <a16:creationId xmlns:a16="http://schemas.microsoft.com/office/drawing/2014/main" id="{24C0E4F7-3429-4F74-9E60-AA10BD2B81B5}"/>
              </a:ext>
            </a:extLst>
          </p:cNvPr>
          <p:cNvSpPr>
            <a:spLocks noGrp="1"/>
          </p:cNvSpPr>
          <p:nvPr>
            <p:ph type="sldNum" sz="quarter" idx="12"/>
          </p:nvPr>
        </p:nvSpPr>
        <p:spPr/>
        <p:txBody>
          <a:bodyPr/>
          <a:lstStyle/>
          <a:p>
            <a:pPr>
              <a:defRPr/>
            </a:pPr>
            <a:fld id="{7FEE665E-3450-413D-913D-057FF7C87532}" type="slidenum">
              <a:rPr lang="en-US" altLang="en-US" smtClean="0"/>
              <a:pPr>
                <a:defRPr/>
              </a:pPr>
              <a:t>73</a:t>
            </a:fld>
            <a:endParaRPr lang="en-US" altLang="en-US"/>
          </a:p>
        </p:txBody>
      </p:sp>
    </p:spTree>
    <p:extLst>
      <p:ext uri="{BB962C8B-B14F-4D97-AF65-F5344CB8AC3E}">
        <p14:creationId xmlns:p14="http://schemas.microsoft.com/office/powerpoint/2010/main" val="1353430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Tests unitaires - entités</a:t>
            </a:r>
          </a:p>
        </p:txBody>
      </p:sp>
      <p:sp>
        <p:nvSpPr>
          <p:cNvPr id="3" name="Espace réservé du contenu 2"/>
          <p:cNvSpPr>
            <a:spLocks noGrp="1"/>
          </p:cNvSpPr>
          <p:nvPr>
            <p:ph idx="1"/>
          </p:nvPr>
        </p:nvSpPr>
        <p:spPr>
          <a:xfrm>
            <a:off x="228600" y="1403874"/>
            <a:ext cx="8686800" cy="3105246"/>
          </a:xfrm>
        </p:spPr>
        <p:txBody>
          <a:bodyPr>
            <a:normAutofit/>
          </a:bodyPr>
          <a:lstStyle/>
          <a:p>
            <a:r>
              <a:rPr lang="fr-CA" sz="2400" dirty="0"/>
              <a:t>Avec </a:t>
            </a:r>
            <a:r>
              <a:rPr lang="fr-CA" sz="2400" dirty="0" err="1"/>
              <a:t>xUnit</a:t>
            </a:r>
            <a:r>
              <a:rPr lang="fr-CA" sz="2400" dirty="0"/>
              <a:t>, il est aussi possible d’utiliser des fonctions de tests avec paramètres pour exécuter plusieurs tests avec la même méthode</a:t>
            </a:r>
          </a:p>
          <a:p>
            <a:r>
              <a:rPr lang="fr-CA" sz="2400" dirty="0"/>
              <a:t>Dans ce cas, on utilise d’abord l’attribut [Theory] ou lieu de [Fact]</a:t>
            </a:r>
          </a:p>
          <a:p>
            <a:r>
              <a:rPr lang="fr-CA" sz="2400" dirty="0"/>
              <a:t>Puis, on utilise les attributs [</a:t>
            </a:r>
            <a:r>
              <a:rPr lang="fr-CA" sz="2400" dirty="0" err="1"/>
              <a:t>InlineData</a:t>
            </a:r>
            <a:r>
              <a:rPr lang="fr-CA" sz="2400" dirty="0"/>
              <a:t>], [</a:t>
            </a:r>
            <a:r>
              <a:rPr lang="fr-CA" sz="2400" dirty="0" err="1"/>
              <a:t>MemberData</a:t>
            </a:r>
            <a:r>
              <a:rPr lang="fr-CA" sz="2400" dirty="0"/>
              <a:t>] ou [</a:t>
            </a:r>
            <a:r>
              <a:rPr lang="fr-CA" sz="2400" dirty="0" err="1"/>
              <a:t>ClassData</a:t>
            </a:r>
            <a:r>
              <a:rPr lang="fr-CA" sz="2400" dirty="0"/>
              <a:t>] pour spécifier les valeurs à utiliser</a:t>
            </a:r>
          </a:p>
        </p:txBody>
      </p:sp>
      <p:sp>
        <p:nvSpPr>
          <p:cNvPr id="4" name="Espace réservé du numéro de diapositive 3">
            <a:extLst>
              <a:ext uri="{FF2B5EF4-FFF2-40B4-BE49-F238E27FC236}">
                <a16:creationId xmlns:a16="http://schemas.microsoft.com/office/drawing/2014/main" id="{4D4CD166-8C40-4702-83BE-D4EA3D31B67B}"/>
              </a:ext>
            </a:extLst>
          </p:cNvPr>
          <p:cNvSpPr>
            <a:spLocks noGrp="1"/>
          </p:cNvSpPr>
          <p:nvPr>
            <p:ph type="sldNum" sz="quarter" idx="12"/>
          </p:nvPr>
        </p:nvSpPr>
        <p:spPr/>
        <p:txBody>
          <a:bodyPr/>
          <a:lstStyle/>
          <a:p>
            <a:pPr>
              <a:defRPr/>
            </a:pPr>
            <a:fld id="{7FEE665E-3450-413D-913D-057FF7C87532}" type="slidenum">
              <a:rPr lang="en-US" altLang="en-US" smtClean="0"/>
              <a:pPr>
                <a:defRPr/>
              </a:pPr>
              <a:t>74</a:t>
            </a:fld>
            <a:endParaRPr lang="en-US" altLang="en-US"/>
          </a:p>
        </p:txBody>
      </p:sp>
    </p:spTree>
    <p:extLst>
      <p:ext uri="{BB962C8B-B14F-4D97-AF65-F5344CB8AC3E}">
        <p14:creationId xmlns:p14="http://schemas.microsoft.com/office/powerpoint/2010/main" val="4170746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441665"/>
            <a:ext cx="8229600" cy="1066800"/>
          </a:xfrm>
        </p:spPr>
        <p:txBody>
          <a:bodyPr/>
          <a:lstStyle/>
          <a:p>
            <a:r>
              <a:rPr lang="fr-CA" dirty="0"/>
              <a:t>Tests unitaires - entités</a:t>
            </a:r>
          </a:p>
        </p:txBody>
      </p:sp>
      <p:sp>
        <p:nvSpPr>
          <p:cNvPr id="3" name="Espace réservé du contenu 2"/>
          <p:cNvSpPr>
            <a:spLocks noGrp="1"/>
          </p:cNvSpPr>
          <p:nvPr>
            <p:ph idx="1"/>
          </p:nvPr>
        </p:nvSpPr>
        <p:spPr>
          <a:xfrm>
            <a:off x="452761" y="1601355"/>
            <a:ext cx="8229600" cy="1310521"/>
          </a:xfrm>
        </p:spPr>
        <p:txBody>
          <a:bodyPr>
            <a:normAutofit fontScale="92500" lnSpcReduction="10000"/>
          </a:bodyPr>
          <a:lstStyle/>
          <a:p>
            <a:r>
              <a:rPr lang="fr-CA" sz="2200" dirty="0"/>
              <a:t>Utilisons ceci pour tester le comportement de la méthode </a:t>
            </a:r>
            <a:r>
              <a:rPr lang="fr-CA" sz="2200" dirty="0" err="1"/>
              <a:t>EstPayé</a:t>
            </a:r>
            <a:r>
              <a:rPr lang="fr-CA" sz="2200" dirty="0"/>
              <a:t> de la classe Transaction</a:t>
            </a:r>
          </a:p>
          <a:p>
            <a:r>
              <a:rPr lang="fr-CA" sz="2200" dirty="0"/>
              <a:t>Les </a:t>
            </a:r>
            <a:r>
              <a:rPr lang="fr-CA" sz="2200" dirty="0" err="1"/>
              <a:t>InlineData</a:t>
            </a:r>
            <a:r>
              <a:rPr lang="fr-CA" sz="2200" dirty="0"/>
              <a:t> sont exécutés un après l’autre en passant les valeurs aux paramètres de la méthode</a:t>
            </a:r>
          </a:p>
          <a:p>
            <a:endParaRPr lang="fr-CA" dirty="0"/>
          </a:p>
        </p:txBody>
      </p:sp>
      <p:sp>
        <p:nvSpPr>
          <p:cNvPr id="5" name="Rectangle 4">
            <a:extLst>
              <a:ext uri="{FF2B5EF4-FFF2-40B4-BE49-F238E27FC236}">
                <a16:creationId xmlns:a16="http://schemas.microsoft.com/office/drawing/2014/main" id="{A074E220-E19F-49A1-ACE3-6ECFFDB87388}"/>
              </a:ext>
            </a:extLst>
          </p:cNvPr>
          <p:cNvSpPr/>
          <p:nvPr/>
        </p:nvSpPr>
        <p:spPr>
          <a:xfrm>
            <a:off x="-72516" y="2960948"/>
            <a:ext cx="9330431" cy="3323987"/>
          </a:xfrm>
          <a:prstGeom prst="rect">
            <a:avLst/>
          </a:prstGeom>
        </p:spPr>
        <p:txBody>
          <a:bodyPr wrap="square">
            <a:spAutoFit/>
          </a:bodyPr>
          <a:lstStyle/>
          <a:p>
            <a:r>
              <a:rPr lang="fr-CA" dirty="0"/>
              <a:t>   </a:t>
            </a:r>
            <a:r>
              <a:rPr lang="fr-CA" sz="1600" dirty="0">
                <a:solidFill>
                  <a:srgbClr val="000000"/>
                </a:solidFill>
                <a:latin typeface="Consolas" panose="020B0609020204030204" pitchFamily="49" charset="0"/>
              </a:rPr>
              <a:t>[Theory]</a:t>
            </a:r>
          </a:p>
          <a:p>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InlineData</a:t>
            </a:r>
            <a:r>
              <a:rPr lang="fr-CA" sz="1600" dirty="0">
                <a:solidFill>
                  <a:srgbClr val="000000"/>
                </a:solidFill>
                <a:latin typeface="Consolas" panose="020B0609020204030204" pitchFamily="49" charset="0"/>
              </a:rPr>
              <a:t>(50, 40, </a:t>
            </a:r>
            <a:r>
              <a:rPr lang="fr-CA" sz="1600" dirty="0">
                <a:solidFill>
                  <a:srgbClr val="0000FF"/>
                </a:solidFill>
                <a:latin typeface="Consolas" panose="020B0609020204030204" pitchFamily="49" charset="0"/>
              </a:rPr>
              <a:t>false</a:t>
            </a:r>
            <a:r>
              <a:rPr lang="fr-CA" sz="1600" dirty="0">
                <a:solidFill>
                  <a:srgbClr val="000000"/>
                </a:solidFill>
                <a:latin typeface="Consolas" panose="020B0609020204030204" pitchFamily="49" charset="0"/>
              </a:rPr>
              <a:t>)]</a:t>
            </a:r>
          </a:p>
          <a:p>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InlineData</a:t>
            </a:r>
            <a:r>
              <a:rPr lang="fr-CA" sz="1600" dirty="0">
                <a:solidFill>
                  <a:srgbClr val="000000"/>
                </a:solidFill>
                <a:latin typeface="Consolas" panose="020B0609020204030204" pitchFamily="49" charset="0"/>
              </a:rPr>
              <a:t>(50, 50, </a:t>
            </a:r>
            <a:r>
              <a:rPr lang="fr-CA" sz="1600" dirty="0" err="1">
                <a:solidFill>
                  <a:srgbClr val="0000FF"/>
                </a:solidFill>
                <a:latin typeface="Consolas" panose="020B0609020204030204" pitchFamily="49" charset="0"/>
              </a:rPr>
              <a:t>true</a:t>
            </a:r>
            <a:r>
              <a:rPr lang="fr-CA" sz="1600" dirty="0">
                <a:solidFill>
                  <a:srgbClr val="000000"/>
                </a:solidFill>
                <a:latin typeface="Consolas" panose="020B0609020204030204" pitchFamily="49" charset="0"/>
              </a:rPr>
              <a:t>)]</a:t>
            </a:r>
          </a:p>
          <a:p>
            <a:endParaRPr lang="fr-CA" sz="1600" dirty="0">
              <a:solidFill>
                <a:srgbClr val="000000"/>
              </a:solidFill>
              <a:latin typeface="Consolas" panose="020B0609020204030204" pitchFamily="49" charset="0"/>
            </a:endParaRPr>
          </a:p>
          <a:p>
            <a:r>
              <a:rPr lang="fr-CA" sz="1600" dirty="0">
                <a:solidFill>
                  <a:srgbClr val="000000"/>
                </a:solidFill>
                <a:latin typeface="Consolas" panose="020B0609020204030204" pitchFamily="49" charset="0"/>
              </a:rPr>
              <a:t>  </a:t>
            </a:r>
            <a:r>
              <a:rPr lang="fr-CA" sz="1600" dirty="0">
                <a:solidFill>
                  <a:srgbClr val="0000FF"/>
                </a:solidFill>
                <a:latin typeface="Consolas" panose="020B0609020204030204" pitchFamily="49" charset="0"/>
              </a:rPr>
              <a:t>public</a:t>
            </a:r>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void</a:t>
            </a: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EstPayée</a:t>
            </a:r>
            <a:r>
              <a:rPr lang="fr-CA" sz="1600" dirty="0">
                <a:solidFill>
                  <a:srgbClr val="000000"/>
                </a:solidFill>
                <a:latin typeface="Consolas" panose="020B0609020204030204" pitchFamily="49" charset="0"/>
              </a:rPr>
              <a:t>(</a:t>
            </a:r>
            <a:r>
              <a:rPr lang="fr-CA" sz="1600" dirty="0" err="1">
                <a:solidFill>
                  <a:srgbClr val="0000FF"/>
                </a:solidFill>
                <a:latin typeface="Consolas" panose="020B0609020204030204" pitchFamily="49" charset="0"/>
              </a:rPr>
              <a:t>decimal</a:t>
            </a: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volumeTransaction</a:t>
            </a:r>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decimal</a:t>
            </a: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montantPaiement</a:t>
            </a:r>
            <a:r>
              <a:rPr lang="fr-CA" sz="1600" dirty="0">
                <a:solidFill>
                  <a:srgbClr val="000000"/>
                </a:solidFill>
                <a:latin typeface="Consolas" panose="020B0609020204030204" pitchFamily="49" charset="0"/>
              </a:rPr>
              <a:t>, </a:t>
            </a:r>
            <a:r>
              <a:rPr lang="fr-CA" sz="1600" dirty="0" err="1">
                <a:solidFill>
                  <a:srgbClr val="0000FF"/>
                </a:solidFill>
                <a:latin typeface="Consolas" panose="020B0609020204030204" pitchFamily="49" charset="0"/>
              </a:rPr>
              <a:t>bool</a:t>
            </a:r>
            <a:r>
              <a:rPr lang="fr-CA" sz="1600" dirty="0">
                <a:solidFill>
                  <a:srgbClr val="000000"/>
                </a:solidFill>
                <a:latin typeface="Consolas" panose="020B0609020204030204" pitchFamily="49" charset="0"/>
              </a:rPr>
              <a:t> </a:t>
            </a:r>
          </a:p>
          <a:p>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estPayéeAttendu</a:t>
            </a:r>
            <a:r>
              <a:rPr lang="fr-CA" sz="1600" dirty="0">
                <a:solidFill>
                  <a:srgbClr val="000000"/>
                </a:solidFill>
                <a:latin typeface="Consolas" panose="020B0609020204030204" pitchFamily="49" charset="0"/>
              </a:rPr>
              <a:t>)</a:t>
            </a:r>
          </a:p>
          <a:p>
            <a:r>
              <a:rPr lang="fr-CA" sz="1600" dirty="0">
                <a:solidFill>
                  <a:srgbClr val="000000"/>
                </a:solidFill>
                <a:latin typeface="Consolas" panose="020B0609020204030204" pitchFamily="49" charset="0"/>
              </a:rPr>
              <a:t>   {</a:t>
            </a:r>
          </a:p>
          <a:p>
            <a:r>
              <a:rPr lang="fr-CA" sz="1600" dirty="0">
                <a:solidFill>
                  <a:srgbClr val="000000"/>
                </a:solidFill>
                <a:latin typeface="Consolas" panose="020B0609020204030204" pitchFamily="49" charset="0"/>
              </a:rPr>
              <a:t>     Transaction </a:t>
            </a:r>
            <a:r>
              <a:rPr lang="fr-CA" sz="1600" dirty="0" err="1">
                <a:solidFill>
                  <a:srgbClr val="000000"/>
                </a:solidFill>
                <a:latin typeface="Consolas" panose="020B0609020204030204" pitchFamily="49" charset="0"/>
              </a:rPr>
              <a:t>transaction</a:t>
            </a:r>
            <a:r>
              <a:rPr lang="fr-CA" sz="1600" dirty="0">
                <a:solidFill>
                  <a:srgbClr val="000000"/>
                </a:solidFill>
                <a:latin typeface="Consolas" panose="020B0609020204030204" pitchFamily="49" charset="0"/>
              </a:rPr>
              <a:t> = </a:t>
            </a:r>
            <a:r>
              <a:rPr lang="fr-CA" sz="1600" dirty="0">
                <a:solidFill>
                  <a:srgbClr val="0000FF"/>
                </a:solidFill>
                <a:latin typeface="Consolas" panose="020B0609020204030204" pitchFamily="49" charset="0"/>
              </a:rPr>
              <a:t>new</a:t>
            </a:r>
            <a:r>
              <a:rPr lang="fr-CA" sz="1600" dirty="0">
                <a:solidFill>
                  <a:srgbClr val="000000"/>
                </a:solidFill>
                <a:latin typeface="Consolas" panose="020B0609020204030204" pitchFamily="49" charset="0"/>
              </a:rPr>
              <a:t> Transaction();</a:t>
            </a:r>
          </a:p>
          <a:p>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transaction.PrixUnitaire</a:t>
            </a:r>
            <a:r>
              <a:rPr lang="fr-CA" sz="1600" dirty="0">
                <a:solidFill>
                  <a:srgbClr val="000000"/>
                </a:solidFill>
                <a:latin typeface="Consolas" panose="020B0609020204030204" pitchFamily="49" charset="0"/>
              </a:rPr>
              <a:t> = 1.0M;</a:t>
            </a:r>
          </a:p>
          <a:p>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transaction.Volume</a:t>
            </a:r>
            <a:r>
              <a:rPr lang="fr-CA" sz="1600" dirty="0">
                <a:solidFill>
                  <a:srgbClr val="000000"/>
                </a:solidFill>
                <a:latin typeface="Consolas" panose="020B0609020204030204" pitchFamily="49" charset="0"/>
              </a:rPr>
              <a:t> = </a:t>
            </a:r>
            <a:r>
              <a:rPr lang="fr-CA" sz="1600" dirty="0" err="1">
                <a:solidFill>
                  <a:srgbClr val="000000"/>
                </a:solidFill>
                <a:latin typeface="Consolas" panose="020B0609020204030204" pitchFamily="49" charset="0"/>
              </a:rPr>
              <a:t>volumeTransaction</a:t>
            </a:r>
            <a:r>
              <a:rPr lang="fr-CA" sz="1600" dirty="0">
                <a:solidFill>
                  <a:srgbClr val="000000"/>
                </a:solidFill>
                <a:latin typeface="Consolas" panose="020B0609020204030204" pitchFamily="49" charset="0"/>
              </a:rPr>
              <a:t>;</a:t>
            </a:r>
          </a:p>
          <a:p>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transaction.AddPaiement</a:t>
            </a:r>
            <a:r>
              <a:rPr lang="fr-CA" sz="1600" dirty="0">
                <a:solidFill>
                  <a:srgbClr val="000000"/>
                </a:solidFill>
                <a:latin typeface="Consolas" panose="020B0609020204030204" pitchFamily="49" charset="0"/>
              </a:rPr>
              <a:t>(</a:t>
            </a:r>
            <a:r>
              <a:rPr lang="fr-CA" sz="1600" dirty="0">
                <a:solidFill>
                  <a:srgbClr val="0000FF"/>
                </a:solidFill>
                <a:latin typeface="Consolas" panose="020B0609020204030204" pitchFamily="49" charset="0"/>
              </a:rPr>
              <a:t>new</a:t>
            </a: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PaiementEspèce</a:t>
            </a:r>
            <a:r>
              <a:rPr lang="fr-CA" sz="1600" dirty="0">
                <a:solidFill>
                  <a:srgbClr val="000000"/>
                </a:solidFill>
                <a:latin typeface="Consolas" panose="020B0609020204030204" pitchFamily="49" charset="0"/>
              </a:rPr>
              <a:t>(</a:t>
            </a:r>
            <a:r>
              <a:rPr lang="fr-CA" sz="1600" dirty="0" err="1">
                <a:solidFill>
                  <a:srgbClr val="000000"/>
                </a:solidFill>
                <a:latin typeface="Consolas" panose="020B0609020204030204" pitchFamily="49" charset="0"/>
              </a:rPr>
              <a:t>montantPaiement</a:t>
            </a:r>
            <a:r>
              <a:rPr lang="fr-CA" sz="1600" dirty="0">
                <a:solidFill>
                  <a:srgbClr val="000000"/>
                </a:solidFill>
                <a:latin typeface="Consolas" panose="020B0609020204030204" pitchFamily="49" charset="0"/>
              </a:rPr>
              <a:t>, transaction));</a:t>
            </a:r>
          </a:p>
          <a:p>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Assert.Equal</a:t>
            </a:r>
            <a:r>
              <a:rPr lang="fr-CA" sz="1600" dirty="0">
                <a:solidFill>
                  <a:srgbClr val="000000"/>
                </a:solidFill>
                <a:latin typeface="Consolas" panose="020B0609020204030204" pitchFamily="49" charset="0"/>
              </a:rPr>
              <a:t>(</a:t>
            </a:r>
            <a:r>
              <a:rPr lang="fr-CA" sz="1600" dirty="0" err="1">
                <a:solidFill>
                  <a:srgbClr val="000000"/>
                </a:solidFill>
                <a:latin typeface="Consolas" panose="020B0609020204030204" pitchFamily="49" charset="0"/>
              </a:rPr>
              <a:t>estPayéeAttendu</a:t>
            </a:r>
            <a:r>
              <a:rPr lang="fr-CA" sz="1600" dirty="0">
                <a:solidFill>
                  <a:srgbClr val="000000"/>
                </a:solidFill>
                <a:latin typeface="Consolas" panose="020B0609020204030204" pitchFamily="49" charset="0"/>
              </a:rPr>
              <a:t>, </a:t>
            </a:r>
            <a:r>
              <a:rPr lang="fr-CA" sz="1600" dirty="0" err="1">
                <a:solidFill>
                  <a:srgbClr val="000000"/>
                </a:solidFill>
                <a:latin typeface="Consolas" panose="020B0609020204030204" pitchFamily="49" charset="0"/>
              </a:rPr>
              <a:t>transaction.EstPayée</a:t>
            </a:r>
            <a:r>
              <a:rPr lang="fr-CA" sz="1600" dirty="0">
                <a:solidFill>
                  <a:srgbClr val="000000"/>
                </a:solidFill>
                <a:latin typeface="Consolas" panose="020B0609020204030204" pitchFamily="49" charset="0"/>
              </a:rPr>
              <a:t>());</a:t>
            </a:r>
          </a:p>
          <a:p>
            <a:r>
              <a:rPr lang="fr-CA" sz="1600" dirty="0">
                <a:solidFill>
                  <a:srgbClr val="000000"/>
                </a:solidFill>
                <a:latin typeface="Consolas" panose="020B0609020204030204" pitchFamily="49" charset="0"/>
              </a:rPr>
              <a:t>   }</a:t>
            </a:r>
            <a:endParaRPr lang="fr-CA" sz="1600" dirty="0"/>
          </a:p>
        </p:txBody>
      </p:sp>
      <p:sp>
        <p:nvSpPr>
          <p:cNvPr id="4" name="Espace réservé du numéro de diapositive 3">
            <a:extLst>
              <a:ext uri="{FF2B5EF4-FFF2-40B4-BE49-F238E27FC236}">
                <a16:creationId xmlns:a16="http://schemas.microsoft.com/office/drawing/2014/main" id="{0837A88F-7229-4334-83D5-6316E08C2ADF}"/>
              </a:ext>
            </a:extLst>
          </p:cNvPr>
          <p:cNvSpPr>
            <a:spLocks noGrp="1"/>
          </p:cNvSpPr>
          <p:nvPr>
            <p:ph type="sldNum" sz="quarter" idx="12"/>
          </p:nvPr>
        </p:nvSpPr>
        <p:spPr/>
        <p:txBody>
          <a:bodyPr/>
          <a:lstStyle/>
          <a:p>
            <a:pPr>
              <a:defRPr/>
            </a:pPr>
            <a:fld id="{7FEE665E-3450-413D-913D-057FF7C87532}" type="slidenum">
              <a:rPr lang="en-US" altLang="en-US" smtClean="0"/>
              <a:pPr>
                <a:defRPr/>
              </a:pPr>
              <a:t>75</a:t>
            </a:fld>
            <a:endParaRPr lang="en-US" altLang="en-US"/>
          </a:p>
        </p:txBody>
      </p:sp>
    </p:spTree>
    <p:extLst>
      <p:ext uri="{BB962C8B-B14F-4D97-AF65-F5344CB8AC3E}">
        <p14:creationId xmlns:p14="http://schemas.microsoft.com/office/powerpoint/2010/main" val="2210784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Tests unitaires - spécifications</a:t>
            </a:r>
          </a:p>
        </p:txBody>
      </p:sp>
      <p:sp>
        <p:nvSpPr>
          <p:cNvPr id="3" name="Espace réservé du contenu 2"/>
          <p:cNvSpPr>
            <a:spLocks noGrp="1"/>
          </p:cNvSpPr>
          <p:nvPr>
            <p:ph idx="1"/>
          </p:nvPr>
        </p:nvSpPr>
        <p:spPr/>
        <p:txBody>
          <a:bodyPr>
            <a:normAutofit/>
          </a:bodyPr>
          <a:lstStyle/>
          <a:p>
            <a:r>
              <a:rPr lang="fr-CA" sz="2800" b="1" dirty="0"/>
              <a:t>Exercice à faire pour tester une spécification...</a:t>
            </a:r>
          </a:p>
        </p:txBody>
      </p:sp>
      <p:sp>
        <p:nvSpPr>
          <p:cNvPr id="4" name="Espace réservé du numéro de diapositive 3">
            <a:extLst>
              <a:ext uri="{FF2B5EF4-FFF2-40B4-BE49-F238E27FC236}">
                <a16:creationId xmlns:a16="http://schemas.microsoft.com/office/drawing/2014/main" id="{FBD7E632-97FE-432F-8B37-A1E12E8888F4}"/>
              </a:ext>
            </a:extLst>
          </p:cNvPr>
          <p:cNvSpPr>
            <a:spLocks noGrp="1"/>
          </p:cNvSpPr>
          <p:nvPr>
            <p:ph type="sldNum" sz="quarter" idx="12"/>
          </p:nvPr>
        </p:nvSpPr>
        <p:spPr/>
        <p:txBody>
          <a:bodyPr/>
          <a:lstStyle/>
          <a:p>
            <a:pPr>
              <a:defRPr/>
            </a:pPr>
            <a:fld id="{7FEE665E-3450-413D-913D-057FF7C87532}" type="slidenum">
              <a:rPr lang="en-US" altLang="en-US" smtClean="0"/>
              <a:pPr>
                <a:defRPr/>
              </a:pPr>
              <a:t>76</a:t>
            </a:fld>
            <a:endParaRPr lang="en-US" altLang="en-US"/>
          </a:p>
        </p:txBody>
      </p:sp>
    </p:spTree>
    <p:extLst>
      <p:ext uri="{BB962C8B-B14F-4D97-AF65-F5344CB8AC3E}">
        <p14:creationId xmlns:p14="http://schemas.microsoft.com/office/powerpoint/2010/main" val="4196938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Tests unitaires - services</a:t>
            </a:r>
          </a:p>
        </p:txBody>
      </p:sp>
      <p:sp>
        <p:nvSpPr>
          <p:cNvPr id="3" name="Espace réservé du contenu 2"/>
          <p:cNvSpPr>
            <a:spLocks noGrp="1"/>
          </p:cNvSpPr>
          <p:nvPr>
            <p:ph idx="1"/>
          </p:nvPr>
        </p:nvSpPr>
        <p:spPr>
          <a:xfrm>
            <a:off x="228600" y="1403874"/>
            <a:ext cx="8686800" cy="2529182"/>
          </a:xfrm>
        </p:spPr>
        <p:txBody>
          <a:bodyPr>
            <a:normAutofit/>
          </a:bodyPr>
          <a:lstStyle/>
          <a:p>
            <a:r>
              <a:rPr lang="fr-CA" sz="2400" dirty="0"/>
              <a:t>Pour tester les services, nous avons besoin d’instances de </a:t>
            </a:r>
            <a:r>
              <a:rPr lang="fr-CA" sz="2400" dirty="0" err="1"/>
              <a:t>IAsyncRepository</a:t>
            </a:r>
            <a:r>
              <a:rPr lang="fr-CA" sz="2400" dirty="0"/>
              <a:t>&lt;T&gt; pour appeler le constructeur</a:t>
            </a:r>
          </a:p>
          <a:p>
            <a:r>
              <a:rPr lang="fr-CA" sz="2400" dirty="0"/>
              <a:t>Comme il s’agit de tests unitaires, nous n’utiliserons pas l’implémentation d’infrastructure (ça deviendrait alors un test d’intégration)</a:t>
            </a:r>
          </a:p>
          <a:p>
            <a:r>
              <a:rPr lang="fr-CA" sz="2400" dirty="0"/>
              <a:t>Nous utiliserons plutôt la librairie </a:t>
            </a:r>
            <a:r>
              <a:rPr lang="fr-CA" sz="2400" dirty="0" err="1"/>
              <a:t>Moq</a:t>
            </a:r>
            <a:r>
              <a:rPr lang="fr-CA" sz="2400" dirty="0"/>
              <a:t>, disponible sur </a:t>
            </a:r>
            <a:r>
              <a:rPr lang="fr-CA" sz="2400" dirty="0" err="1"/>
              <a:t>NuGet</a:t>
            </a:r>
            <a:endParaRPr lang="fr-CA" sz="2400" dirty="0"/>
          </a:p>
        </p:txBody>
      </p:sp>
      <p:pic>
        <p:nvPicPr>
          <p:cNvPr id="4" name="Image 3">
            <a:extLst>
              <a:ext uri="{FF2B5EF4-FFF2-40B4-BE49-F238E27FC236}">
                <a16:creationId xmlns:a16="http://schemas.microsoft.com/office/drawing/2014/main" id="{D7C85FEF-0A0E-4D18-AC02-7DF4DC79C460}"/>
              </a:ext>
            </a:extLst>
          </p:cNvPr>
          <p:cNvPicPr>
            <a:picLocks noChangeAspect="1"/>
          </p:cNvPicPr>
          <p:nvPr/>
        </p:nvPicPr>
        <p:blipFill>
          <a:blip r:embed="rId2"/>
          <a:stretch>
            <a:fillRect/>
          </a:stretch>
        </p:blipFill>
        <p:spPr>
          <a:xfrm>
            <a:off x="1727684" y="4041068"/>
            <a:ext cx="5823751" cy="1143000"/>
          </a:xfrm>
          <a:prstGeom prst="rect">
            <a:avLst/>
          </a:prstGeom>
        </p:spPr>
      </p:pic>
      <p:sp>
        <p:nvSpPr>
          <p:cNvPr id="5" name="Espace réservé du numéro de diapositive 4">
            <a:extLst>
              <a:ext uri="{FF2B5EF4-FFF2-40B4-BE49-F238E27FC236}">
                <a16:creationId xmlns:a16="http://schemas.microsoft.com/office/drawing/2014/main" id="{67C0BDC4-FBF4-4EB0-AA36-04CBBBDD42FE}"/>
              </a:ext>
            </a:extLst>
          </p:cNvPr>
          <p:cNvSpPr>
            <a:spLocks noGrp="1"/>
          </p:cNvSpPr>
          <p:nvPr>
            <p:ph type="sldNum" sz="quarter" idx="12"/>
          </p:nvPr>
        </p:nvSpPr>
        <p:spPr/>
        <p:txBody>
          <a:bodyPr/>
          <a:lstStyle/>
          <a:p>
            <a:pPr>
              <a:defRPr/>
            </a:pPr>
            <a:fld id="{7FEE665E-3450-413D-913D-057FF7C87532}" type="slidenum">
              <a:rPr lang="en-US" altLang="en-US" smtClean="0"/>
              <a:pPr>
                <a:defRPr/>
              </a:pPr>
              <a:t>77</a:t>
            </a:fld>
            <a:endParaRPr lang="en-US" altLang="en-US"/>
          </a:p>
        </p:txBody>
      </p:sp>
    </p:spTree>
    <p:extLst>
      <p:ext uri="{BB962C8B-B14F-4D97-AF65-F5344CB8AC3E}">
        <p14:creationId xmlns:p14="http://schemas.microsoft.com/office/powerpoint/2010/main" val="3530939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Tests unitaires - services</a:t>
            </a:r>
          </a:p>
        </p:txBody>
      </p:sp>
      <p:sp>
        <p:nvSpPr>
          <p:cNvPr id="3" name="Espace réservé du contenu 2"/>
          <p:cNvSpPr>
            <a:spLocks noGrp="1"/>
          </p:cNvSpPr>
          <p:nvPr>
            <p:ph idx="1"/>
          </p:nvPr>
        </p:nvSpPr>
        <p:spPr/>
        <p:txBody>
          <a:bodyPr/>
          <a:lstStyle/>
          <a:p>
            <a:r>
              <a:rPr lang="fr-CA" sz="2400" dirty="0" err="1"/>
              <a:t>Moq</a:t>
            </a:r>
            <a:r>
              <a:rPr lang="fr-CA" sz="2400" dirty="0"/>
              <a:t> est une librairie servant à créer des « </a:t>
            </a:r>
            <a:r>
              <a:rPr lang="fr-CA" sz="2400" dirty="0" err="1"/>
              <a:t>mocks</a:t>
            </a:r>
            <a:r>
              <a:rPr lang="fr-CA" sz="2400" dirty="0"/>
              <a:t> », i.e. des objets qui simulent le comportement d’objets réels de manière paramétrable</a:t>
            </a:r>
          </a:p>
          <a:p>
            <a:r>
              <a:rPr lang="fr-CA" sz="2400" dirty="0"/>
              <a:t>Par exemple, supposons que nous voulions avoir un objet qui implémente l’interface suivante et pour lequel chaque appel à la méthode </a:t>
            </a:r>
            <a:r>
              <a:rPr lang="fr-CA" sz="2400" dirty="0" err="1"/>
              <a:t>DoSomething</a:t>
            </a:r>
            <a:r>
              <a:rPr lang="fr-CA" sz="2400" dirty="0"/>
              <a:t>("</a:t>
            </a:r>
            <a:r>
              <a:rPr lang="fr-CA" sz="2400" dirty="0" err="1"/>
              <a:t>ping</a:t>
            </a:r>
            <a:r>
              <a:rPr lang="fr-CA" sz="2400" dirty="0"/>
              <a:t>") retourne </a:t>
            </a:r>
            <a:r>
              <a:rPr lang="fr-CA" sz="2400" dirty="0" err="1"/>
              <a:t>true</a:t>
            </a:r>
            <a:endParaRPr lang="fr-CA" sz="2400" dirty="0"/>
          </a:p>
          <a:p>
            <a:endParaRPr lang="fr-CA" dirty="0"/>
          </a:p>
        </p:txBody>
      </p:sp>
      <p:sp>
        <p:nvSpPr>
          <p:cNvPr id="5" name="ZoneTexte 4"/>
          <p:cNvSpPr txBox="1"/>
          <p:nvPr/>
        </p:nvSpPr>
        <p:spPr>
          <a:xfrm>
            <a:off x="215516" y="3897052"/>
            <a:ext cx="8832867" cy="2585323"/>
          </a:xfrm>
          <a:prstGeom prst="rect">
            <a:avLst/>
          </a:prstGeom>
          <a:noFill/>
        </p:spPr>
        <p:txBody>
          <a:bodyPr wrap="none" rtlCol="0">
            <a:spAutoFit/>
          </a:bodyPr>
          <a:lstStyle/>
          <a:p>
            <a:r>
              <a:rPr lang="en-US" sz="1600" dirty="0"/>
              <a:t>public interface </a:t>
            </a:r>
            <a:r>
              <a:rPr lang="en-US" sz="1600" dirty="0" err="1"/>
              <a:t>IFoo</a:t>
            </a:r>
            <a:endParaRPr lang="en-US" sz="1600" dirty="0"/>
          </a:p>
          <a:p>
            <a:r>
              <a:rPr lang="en-US" sz="1600" dirty="0"/>
              <a:t>{</a:t>
            </a:r>
          </a:p>
          <a:p>
            <a:r>
              <a:rPr lang="en-US" sz="1600" dirty="0"/>
              <a:t>    bool DoSomething(string value);</a:t>
            </a:r>
          </a:p>
          <a:p>
            <a:r>
              <a:rPr lang="en-US" sz="1600" dirty="0"/>
              <a:t>}</a:t>
            </a:r>
          </a:p>
          <a:p>
            <a:endParaRPr lang="en-US" sz="1600" dirty="0"/>
          </a:p>
          <a:p>
            <a:r>
              <a:rPr lang="fr-CA" sz="1600" dirty="0" err="1"/>
              <a:t>Mock</a:t>
            </a:r>
            <a:r>
              <a:rPr lang="fr-CA" sz="1600" dirty="0"/>
              <a:t>&lt;</a:t>
            </a:r>
            <a:r>
              <a:rPr lang="fr-CA" sz="1600" dirty="0" err="1"/>
              <a:t>IFoo</a:t>
            </a:r>
            <a:r>
              <a:rPr lang="fr-CA" sz="1600" dirty="0"/>
              <a:t>&gt; </a:t>
            </a:r>
            <a:r>
              <a:rPr lang="fr-CA" sz="1600" dirty="0" err="1"/>
              <a:t>mock</a:t>
            </a:r>
            <a:r>
              <a:rPr lang="fr-CA" sz="1600" dirty="0"/>
              <a:t> = new </a:t>
            </a:r>
            <a:r>
              <a:rPr lang="fr-CA" sz="1600" dirty="0" err="1"/>
              <a:t>Mock</a:t>
            </a:r>
            <a:r>
              <a:rPr lang="fr-CA" sz="1600" dirty="0"/>
              <a:t>&lt;</a:t>
            </a:r>
            <a:r>
              <a:rPr lang="fr-CA" sz="1600" dirty="0" err="1"/>
              <a:t>IFoo</a:t>
            </a:r>
            <a:r>
              <a:rPr lang="fr-CA" sz="1600" dirty="0"/>
              <a:t>&gt;(); //Création du </a:t>
            </a:r>
            <a:r>
              <a:rPr lang="fr-CA" sz="1600" dirty="0" err="1"/>
              <a:t>mock</a:t>
            </a:r>
            <a:endParaRPr lang="fr-CA" sz="1600" dirty="0"/>
          </a:p>
          <a:p>
            <a:r>
              <a:rPr lang="en-US" sz="1600" dirty="0" err="1"/>
              <a:t>mock.Setup</a:t>
            </a:r>
            <a:r>
              <a:rPr lang="en-US" sz="1600" dirty="0"/>
              <a:t>(foo =&gt; </a:t>
            </a:r>
            <a:r>
              <a:rPr lang="en-US" sz="1600" dirty="0" err="1"/>
              <a:t>foo.DoSomething</a:t>
            </a:r>
            <a:r>
              <a:rPr lang="en-US" sz="1600" dirty="0"/>
              <a:t>("ping")).Returns(true); // Configuration du </a:t>
            </a:r>
            <a:r>
              <a:rPr lang="en-US" sz="1600" dirty="0" err="1"/>
              <a:t>résultat</a:t>
            </a:r>
            <a:r>
              <a:rPr lang="en-US" sz="1600" dirty="0"/>
              <a:t> </a:t>
            </a:r>
            <a:r>
              <a:rPr lang="en-US" sz="1600" dirty="0" err="1"/>
              <a:t>attendu</a:t>
            </a:r>
            <a:endParaRPr lang="en-US" sz="1600" dirty="0"/>
          </a:p>
          <a:p>
            <a:r>
              <a:rPr lang="fr-CA" sz="1600" dirty="0" err="1"/>
              <a:t>IFoo</a:t>
            </a:r>
            <a:r>
              <a:rPr lang="fr-CA" sz="1600" dirty="0"/>
              <a:t> objet = </a:t>
            </a:r>
            <a:r>
              <a:rPr lang="fr-CA" sz="1600" dirty="0" err="1"/>
              <a:t>mock.Object</a:t>
            </a:r>
            <a:r>
              <a:rPr lang="fr-CA" sz="1600" dirty="0"/>
              <a:t>; // Objet créé</a:t>
            </a:r>
          </a:p>
          <a:p>
            <a:r>
              <a:rPr lang="en-US" sz="1600" dirty="0"/>
              <a:t>bool ping = </a:t>
            </a:r>
            <a:r>
              <a:rPr lang="en-US" sz="1600" dirty="0" err="1"/>
              <a:t>objet.DoSomething</a:t>
            </a:r>
            <a:r>
              <a:rPr lang="en-US" sz="1600" dirty="0"/>
              <a:t>("ping"); // Validation du </a:t>
            </a:r>
            <a:r>
              <a:rPr lang="en-US" sz="1600" dirty="0" err="1"/>
              <a:t>résultat</a:t>
            </a:r>
            <a:r>
              <a:rPr lang="en-US" sz="1600" dirty="0"/>
              <a:t>: la </a:t>
            </a:r>
            <a:r>
              <a:rPr lang="en-US" sz="1600" dirty="0" err="1"/>
              <a:t>méthode</a:t>
            </a:r>
            <a:r>
              <a:rPr lang="en-US" sz="1600" dirty="0"/>
              <a:t> </a:t>
            </a:r>
            <a:r>
              <a:rPr lang="en-US" sz="1600" dirty="0" err="1"/>
              <a:t>retourne</a:t>
            </a:r>
            <a:r>
              <a:rPr lang="en-US" sz="1600" dirty="0"/>
              <a:t> bien "true"</a:t>
            </a:r>
            <a:endParaRPr lang="fr-CA" sz="1600" dirty="0"/>
          </a:p>
          <a:p>
            <a:endParaRPr lang="fr-CA" dirty="0"/>
          </a:p>
        </p:txBody>
      </p:sp>
      <p:sp>
        <p:nvSpPr>
          <p:cNvPr id="4" name="Espace réservé du numéro de diapositive 3">
            <a:extLst>
              <a:ext uri="{FF2B5EF4-FFF2-40B4-BE49-F238E27FC236}">
                <a16:creationId xmlns:a16="http://schemas.microsoft.com/office/drawing/2014/main" id="{0DA584BA-8384-4895-9E65-0AD08D8CAEC7}"/>
              </a:ext>
            </a:extLst>
          </p:cNvPr>
          <p:cNvSpPr>
            <a:spLocks noGrp="1"/>
          </p:cNvSpPr>
          <p:nvPr>
            <p:ph type="sldNum" sz="quarter" idx="12"/>
          </p:nvPr>
        </p:nvSpPr>
        <p:spPr/>
        <p:txBody>
          <a:bodyPr/>
          <a:lstStyle/>
          <a:p>
            <a:pPr>
              <a:defRPr/>
            </a:pPr>
            <a:fld id="{7FEE665E-3450-413D-913D-057FF7C87532}" type="slidenum">
              <a:rPr lang="en-US" altLang="en-US" smtClean="0"/>
              <a:pPr>
                <a:defRPr/>
              </a:pPr>
              <a:t>78</a:t>
            </a:fld>
            <a:endParaRPr lang="en-US" altLang="en-US"/>
          </a:p>
        </p:txBody>
      </p:sp>
    </p:spTree>
    <p:extLst>
      <p:ext uri="{BB962C8B-B14F-4D97-AF65-F5344CB8AC3E}">
        <p14:creationId xmlns:p14="http://schemas.microsoft.com/office/powerpoint/2010/main" val="2377747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a:bodyPr>
          <a:lstStyle/>
          <a:p>
            <a:r>
              <a:rPr lang="fr-CA" dirty="0"/>
              <a:t>Tests unitaires - services</a:t>
            </a:r>
            <a:endParaRPr lang="fr-CA" sz="4400" dirty="0"/>
          </a:p>
        </p:txBody>
      </p:sp>
      <p:sp>
        <p:nvSpPr>
          <p:cNvPr id="4101" name="Rectangle 3"/>
          <p:cNvSpPr>
            <a:spLocks noGrp="1" noChangeArrowheads="1"/>
          </p:cNvSpPr>
          <p:nvPr>
            <p:ph idx="1"/>
            <p:custDataLst>
              <p:tags r:id="rId2"/>
            </p:custDataLst>
          </p:nvPr>
        </p:nvSpPr>
        <p:spPr>
          <a:xfrm>
            <a:off x="228600" y="1403874"/>
            <a:ext cx="8686800" cy="5013458"/>
          </a:xfrm>
        </p:spPr>
        <p:txBody>
          <a:bodyPr>
            <a:noAutofit/>
          </a:bodyPr>
          <a:lstStyle/>
          <a:p>
            <a:r>
              <a:rPr lang="fr-CA" sz="2400" dirty="0"/>
              <a:t>Nécessite beaucoup moins de travail que de créer un stub complet</a:t>
            </a:r>
          </a:p>
          <a:p>
            <a:r>
              <a:rPr lang="fr-CA" sz="2400" dirty="0"/>
              <a:t> Offre un ensemble de fonctionnalité bien adapté à la création de tests</a:t>
            </a:r>
          </a:p>
          <a:p>
            <a:r>
              <a:rPr lang="fr-CA" sz="2400" dirty="0"/>
              <a:t>https://github.com/moq/moq4</a:t>
            </a:r>
          </a:p>
          <a:p>
            <a:pPr lvl="2"/>
            <a:endParaRPr lang="fr-CA" sz="1800" dirty="0"/>
          </a:p>
        </p:txBody>
      </p:sp>
      <p:sp>
        <p:nvSpPr>
          <p:cNvPr id="4099" name="Espace réservé du numéro de diapositive 4"/>
          <p:cNvSpPr>
            <a:spLocks noGrp="1"/>
          </p:cNvSpPr>
          <p:nvPr>
            <p:ph type="sldNum" sz="quarter" idx="12"/>
            <p:custDataLst>
              <p:tags r:id="rId3"/>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79</a:t>
            </a:fld>
            <a:endParaRPr lang="en-US" altLang="en-US"/>
          </a:p>
        </p:txBody>
      </p:sp>
      <p:sp>
        <p:nvSpPr>
          <p:cNvPr id="6" name="ZoneTexte 5">
            <a:extLst>
              <a:ext uri="{FF2B5EF4-FFF2-40B4-BE49-F238E27FC236}">
                <a16:creationId xmlns:a16="http://schemas.microsoft.com/office/drawing/2014/main" id="{C031E08C-B6EB-4B9C-882A-DDB45AB2A127}"/>
              </a:ext>
            </a:extLst>
          </p:cNvPr>
          <p:cNvSpPr txBox="1"/>
          <p:nvPr/>
        </p:nvSpPr>
        <p:spPr>
          <a:xfrm>
            <a:off x="287524" y="3645024"/>
            <a:ext cx="8308044" cy="1077218"/>
          </a:xfrm>
          <a:prstGeom prst="rect">
            <a:avLst/>
          </a:prstGeom>
          <a:noFill/>
        </p:spPr>
        <p:txBody>
          <a:bodyPr wrap="none" rtlCol="0">
            <a:spAutoFit/>
          </a:bodyPr>
          <a:lstStyle/>
          <a:p>
            <a:r>
              <a:rPr lang="fr-CA" sz="1600" dirty="0" err="1"/>
              <a:t>Mock</a:t>
            </a:r>
            <a:r>
              <a:rPr lang="fr-CA" sz="1600" dirty="0"/>
              <a:t>&lt;</a:t>
            </a:r>
            <a:r>
              <a:rPr lang="fr-CA" sz="1600" dirty="0" err="1"/>
              <a:t>IFoo</a:t>
            </a:r>
            <a:r>
              <a:rPr lang="fr-CA" sz="1600" dirty="0"/>
              <a:t>&gt; </a:t>
            </a:r>
            <a:r>
              <a:rPr lang="fr-CA" sz="1600" dirty="0" err="1"/>
              <a:t>mock</a:t>
            </a:r>
            <a:r>
              <a:rPr lang="fr-CA" sz="1600" dirty="0"/>
              <a:t> = new </a:t>
            </a:r>
            <a:r>
              <a:rPr lang="fr-CA" sz="1600" dirty="0" err="1"/>
              <a:t>Mock</a:t>
            </a:r>
            <a:r>
              <a:rPr lang="fr-CA" sz="1600" dirty="0"/>
              <a:t>&lt;</a:t>
            </a:r>
            <a:r>
              <a:rPr lang="fr-CA" sz="1600" dirty="0" err="1"/>
              <a:t>IFoo</a:t>
            </a:r>
            <a:r>
              <a:rPr lang="fr-CA" sz="1600" dirty="0"/>
              <a:t>&gt;(); //Création du </a:t>
            </a:r>
            <a:r>
              <a:rPr lang="fr-CA" sz="1600" dirty="0" err="1"/>
              <a:t>mock</a:t>
            </a:r>
            <a:endParaRPr lang="fr-CA" sz="1600" dirty="0"/>
          </a:p>
          <a:p>
            <a:r>
              <a:rPr lang="en-US" sz="1600" dirty="0" err="1"/>
              <a:t>mock.Setup</a:t>
            </a:r>
            <a:r>
              <a:rPr lang="en-US" sz="1600" dirty="0"/>
              <a:t>(foo =&gt; </a:t>
            </a:r>
            <a:r>
              <a:rPr lang="en-US" sz="1600" dirty="0" err="1"/>
              <a:t>foo.DoSomething</a:t>
            </a:r>
            <a:r>
              <a:rPr lang="en-US" sz="1600" dirty="0"/>
              <a:t>("ping")).Returns(true); // Configuration du </a:t>
            </a:r>
            <a:r>
              <a:rPr lang="en-US" sz="1600" dirty="0" err="1"/>
              <a:t>résultat</a:t>
            </a:r>
            <a:r>
              <a:rPr lang="en-US" sz="1600" dirty="0"/>
              <a:t> </a:t>
            </a:r>
            <a:r>
              <a:rPr lang="en-US" sz="1600" dirty="0" err="1"/>
              <a:t>attendu</a:t>
            </a:r>
            <a:endParaRPr lang="en-US" sz="1600" dirty="0"/>
          </a:p>
          <a:p>
            <a:r>
              <a:rPr lang="fr-CA" sz="1600" dirty="0" err="1"/>
              <a:t>IFoo</a:t>
            </a:r>
            <a:r>
              <a:rPr lang="fr-CA" sz="1600" dirty="0"/>
              <a:t> objet = </a:t>
            </a:r>
            <a:r>
              <a:rPr lang="fr-CA" sz="1600" dirty="0" err="1"/>
              <a:t>mock.Object</a:t>
            </a:r>
            <a:r>
              <a:rPr lang="fr-CA" sz="1600" dirty="0"/>
              <a:t>; // Objet créé</a:t>
            </a:r>
          </a:p>
          <a:p>
            <a:r>
              <a:rPr lang="en-US" sz="1600" dirty="0"/>
              <a:t>bool ping = </a:t>
            </a:r>
            <a:r>
              <a:rPr lang="en-US" sz="1600" dirty="0" err="1"/>
              <a:t>objet.DoSomething</a:t>
            </a:r>
            <a:r>
              <a:rPr lang="en-US" sz="1600" dirty="0"/>
              <a:t>("ping"); // Validation du </a:t>
            </a:r>
            <a:r>
              <a:rPr lang="en-US" sz="1600" dirty="0" err="1"/>
              <a:t>résultat</a:t>
            </a:r>
            <a:r>
              <a:rPr lang="en-US" sz="1600" dirty="0"/>
              <a:t>: la </a:t>
            </a:r>
            <a:r>
              <a:rPr lang="en-US" sz="1600" dirty="0" err="1"/>
              <a:t>méthode</a:t>
            </a:r>
            <a:r>
              <a:rPr lang="en-US" sz="1600" dirty="0"/>
              <a:t> </a:t>
            </a:r>
            <a:r>
              <a:rPr lang="en-US" sz="1600" dirty="0" err="1"/>
              <a:t>retourne</a:t>
            </a:r>
            <a:r>
              <a:rPr lang="en-US" sz="1600" dirty="0"/>
              <a:t> </a:t>
            </a:r>
            <a:r>
              <a:rPr lang="en-US" sz="1600" dirty="0" err="1"/>
              <a:t>bien</a:t>
            </a:r>
            <a:r>
              <a:rPr lang="en-US" sz="1600" dirty="0"/>
              <a:t> "true"</a:t>
            </a:r>
            <a:endParaRPr lang="fr-CA" sz="1600" dirty="0"/>
          </a:p>
        </p:txBody>
      </p:sp>
    </p:spTree>
    <p:extLst>
      <p:ext uri="{BB962C8B-B14F-4D97-AF65-F5344CB8AC3E}">
        <p14:creationId xmlns:p14="http://schemas.microsoft.com/office/powerpoint/2010/main" val="314656129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a:bodyPr>
          <a:lstStyle/>
          <a:p>
            <a:r>
              <a:rPr lang="fr-CA" dirty="0"/>
              <a:t>Tests unitaires - services</a:t>
            </a:r>
            <a:endParaRPr lang="fr-CA" sz="4400" dirty="0"/>
          </a:p>
        </p:txBody>
      </p:sp>
      <p:sp>
        <p:nvSpPr>
          <p:cNvPr id="4101" name="Rectangle 3"/>
          <p:cNvSpPr>
            <a:spLocks noGrp="1" noChangeArrowheads="1"/>
          </p:cNvSpPr>
          <p:nvPr>
            <p:ph idx="1"/>
            <p:custDataLst>
              <p:tags r:id="rId2"/>
            </p:custDataLst>
          </p:nvPr>
        </p:nvSpPr>
        <p:spPr>
          <a:xfrm>
            <a:off x="228600" y="1403874"/>
            <a:ext cx="8686800" cy="5013458"/>
          </a:xfrm>
        </p:spPr>
        <p:txBody>
          <a:bodyPr>
            <a:noAutofit/>
          </a:bodyPr>
          <a:lstStyle/>
          <a:p>
            <a:r>
              <a:rPr lang="fr-CA" sz="2400" dirty="0"/>
              <a:t>Nous allons créer un test pour la méthode </a:t>
            </a:r>
            <a:r>
              <a:rPr lang="fr-CA" sz="2400" dirty="0" err="1"/>
              <a:t>AddTransaction</a:t>
            </a:r>
            <a:r>
              <a:rPr lang="fr-CA" sz="2400" dirty="0"/>
              <a:t> du service </a:t>
            </a:r>
            <a:r>
              <a:rPr lang="fr-CA" sz="2400" dirty="0" err="1"/>
              <a:t>TransactionService</a:t>
            </a:r>
            <a:endParaRPr lang="fr-CA" sz="2400" dirty="0"/>
          </a:p>
          <a:p>
            <a:r>
              <a:rPr lang="fr-CA" sz="2400" dirty="0"/>
              <a:t>Créer d’abord la classe de tests </a:t>
            </a:r>
            <a:r>
              <a:rPr lang="fr-CA" sz="2400" dirty="0" err="1"/>
              <a:t>AddTransaction</a:t>
            </a:r>
            <a:r>
              <a:rPr lang="fr-CA" sz="2400" dirty="0"/>
              <a:t> dans </a:t>
            </a:r>
            <a:r>
              <a:rPr lang="fr-CA" sz="2400" dirty="0" err="1"/>
              <a:t>SystèmeGestionStationService.TestsUnitaires</a:t>
            </a:r>
            <a:r>
              <a:rPr lang="fr-CA" sz="2400" dirty="0"/>
              <a:t>/</a:t>
            </a:r>
            <a:r>
              <a:rPr lang="fr-CA" sz="2400" dirty="0" err="1"/>
              <a:t>core</a:t>
            </a:r>
            <a:r>
              <a:rPr lang="fr-CA" sz="2400" dirty="0"/>
              <a:t>/services/</a:t>
            </a:r>
            <a:r>
              <a:rPr lang="fr-CA" sz="2400" dirty="0" err="1"/>
              <a:t>TransactionTest</a:t>
            </a:r>
            <a:endParaRPr lang="fr-CA" sz="2400" dirty="0"/>
          </a:p>
          <a:p>
            <a:r>
              <a:rPr lang="fr-CA" sz="2400" dirty="0"/>
              <a:t>Ajouter un constructeur et deux variables pour les repository utilisés par ce service :</a:t>
            </a:r>
          </a:p>
          <a:p>
            <a:pPr lvl="2"/>
            <a:endParaRPr lang="fr-CA" sz="1800" dirty="0"/>
          </a:p>
        </p:txBody>
      </p:sp>
      <p:sp>
        <p:nvSpPr>
          <p:cNvPr id="4099" name="Espace réservé du numéro de diapositive 4"/>
          <p:cNvSpPr>
            <a:spLocks noGrp="1"/>
          </p:cNvSpPr>
          <p:nvPr>
            <p:ph type="sldNum" sz="quarter" idx="12"/>
            <p:custDataLst>
              <p:tags r:id="rId3"/>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80</a:t>
            </a:fld>
            <a:endParaRPr lang="en-US" altLang="en-US"/>
          </a:p>
        </p:txBody>
      </p:sp>
      <p:sp>
        <p:nvSpPr>
          <p:cNvPr id="5" name="Rectangle 4">
            <a:extLst>
              <a:ext uri="{FF2B5EF4-FFF2-40B4-BE49-F238E27FC236}">
                <a16:creationId xmlns:a16="http://schemas.microsoft.com/office/drawing/2014/main" id="{2363311B-39B9-480E-B61F-974C6DD3661A}"/>
              </a:ext>
            </a:extLst>
          </p:cNvPr>
          <p:cNvSpPr/>
          <p:nvPr/>
        </p:nvSpPr>
        <p:spPr>
          <a:xfrm>
            <a:off x="894426" y="4181382"/>
            <a:ext cx="7661428" cy="2308324"/>
          </a:xfrm>
          <a:prstGeom prst="rect">
            <a:avLst/>
          </a:prstGeom>
        </p:spPr>
        <p:txBody>
          <a:bodyPr wrap="square">
            <a:spAutoFit/>
          </a:bodyPr>
          <a:lstStyle/>
          <a:p>
            <a:r>
              <a:rPr lang="fr-CA" dirty="0" err="1"/>
              <a:t>private</a:t>
            </a:r>
            <a:r>
              <a:rPr lang="fr-CA" dirty="0"/>
              <a:t> </a:t>
            </a:r>
            <a:r>
              <a:rPr lang="fr-CA" dirty="0" err="1"/>
              <a:t>Mock</a:t>
            </a:r>
            <a:r>
              <a:rPr lang="fr-CA" dirty="0"/>
              <a:t>&lt;</a:t>
            </a:r>
            <a:r>
              <a:rPr lang="fr-CA" dirty="0" err="1"/>
              <a:t>ITransactionRepository</a:t>
            </a:r>
            <a:r>
              <a:rPr lang="fr-CA" dirty="0"/>
              <a:t>&gt; _</a:t>
            </a:r>
            <a:r>
              <a:rPr lang="fr-CA" dirty="0" err="1"/>
              <a:t>mockTransactionRepository</a:t>
            </a:r>
            <a:r>
              <a:rPr lang="fr-CA" dirty="0"/>
              <a:t>;</a:t>
            </a:r>
          </a:p>
          <a:p>
            <a:r>
              <a:rPr lang="fr-CA" dirty="0" err="1"/>
              <a:t>private</a:t>
            </a:r>
            <a:r>
              <a:rPr lang="fr-CA" dirty="0"/>
              <a:t> </a:t>
            </a:r>
            <a:r>
              <a:rPr lang="fr-CA" dirty="0" err="1"/>
              <a:t>Mock</a:t>
            </a:r>
            <a:r>
              <a:rPr lang="fr-CA" dirty="0"/>
              <a:t>&lt;</a:t>
            </a:r>
            <a:r>
              <a:rPr lang="fr-CA" dirty="0" err="1"/>
              <a:t>IPompeRepository</a:t>
            </a:r>
            <a:r>
              <a:rPr lang="fr-CA" dirty="0"/>
              <a:t>&gt; _</a:t>
            </a:r>
            <a:r>
              <a:rPr lang="fr-CA" dirty="0" err="1"/>
              <a:t>mockPompeRepository</a:t>
            </a:r>
            <a:r>
              <a:rPr lang="fr-CA" dirty="0"/>
              <a:t>;</a:t>
            </a:r>
          </a:p>
          <a:p>
            <a:endParaRPr lang="fr-CA" dirty="0"/>
          </a:p>
          <a:p>
            <a:r>
              <a:rPr lang="fr-CA" dirty="0"/>
              <a:t>public </a:t>
            </a:r>
            <a:r>
              <a:rPr lang="fr-CA" dirty="0" err="1"/>
              <a:t>AddTransaction</a:t>
            </a:r>
            <a:r>
              <a:rPr lang="fr-CA" dirty="0"/>
              <a:t>()</a:t>
            </a:r>
          </a:p>
          <a:p>
            <a:r>
              <a:rPr lang="fr-CA" dirty="0"/>
              <a:t>   {</a:t>
            </a:r>
          </a:p>
          <a:p>
            <a:r>
              <a:rPr lang="fr-CA" dirty="0"/>
              <a:t>         _</a:t>
            </a:r>
            <a:r>
              <a:rPr lang="fr-CA" dirty="0" err="1"/>
              <a:t>mockTransactionRepository</a:t>
            </a:r>
            <a:r>
              <a:rPr lang="fr-CA" dirty="0"/>
              <a:t> = new </a:t>
            </a:r>
            <a:r>
              <a:rPr lang="fr-CA" dirty="0" err="1"/>
              <a:t>Mock</a:t>
            </a:r>
            <a:r>
              <a:rPr lang="fr-CA" dirty="0"/>
              <a:t>&lt;</a:t>
            </a:r>
            <a:r>
              <a:rPr lang="fr-CA" dirty="0" err="1"/>
              <a:t>ITransactionRepository</a:t>
            </a:r>
            <a:r>
              <a:rPr lang="fr-CA" dirty="0"/>
              <a:t>&gt;();</a:t>
            </a:r>
          </a:p>
          <a:p>
            <a:r>
              <a:rPr lang="fr-CA" dirty="0"/>
              <a:t>         _</a:t>
            </a:r>
            <a:r>
              <a:rPr lang="fr-CA" dirty="0" err="1"/>
              <a:t>mockPompeRepository</a:t>
            </a:r>
            <a:r>
              <a:rPr lang="fr-CA" dirty="0"/>
              <a:t> = new </a:t>
            </a:r>
            <a:r>
              <a:rPr lang="fr-CA" dirty="0" err="1"/>
              <a:t>Mock</a:t>
            </a:r>
            <a:r>
              <a:rPr lang="fr-CA" dirty="0"/>
              <a:t>&lt;</a:t>
            </a:r>
            <a:r>
              <a:rPr lang="fr-CA" dirty="0" err="1"/>
              <a:t>IPompeRepository</a:t>
            </a:r>
            <a:r>
              <a:rPr lang="fr-CA" dirty="0"/>
              <a:t>&gt;();</a:t>
            </a:r>
          </a:p>
          <a:p>
            <a:r>
              <a:rPr lang="fr-CA" dirty="0"/>
              <a:t>   }</a:t>
            </a:r>
          </a:p>
        </p:txBody>
      </p:sp>
    </p:spTree>
    <p:extLst>
      <p:ext uri="{BB962C8B-B14F-4D97-AF65-F5344CB8AC3E}">
        <p14:creationId xmlns:p14="http://schemas.microsoft.com/office/powerpoint/2010/main" val="360975153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Tests unitaires - services</a:t>
            </a:r>
          </a:p>
        </p:txBody>
      </p:sp>
      <p:sp>
        <p:nvSpPr>
          <p:cNvPr id="3" name="Espace réservé du contenu 2"/>
          <p:cNvSpPr>
            <a:spLocks noGrp="1"/>
          </p:cNvSpPr>
          <p:nvPr>
            <p:ph idx="1"/>
          </p:nvPr>
        </p:nvSpPr>
        <p:spPr/>
        <p:txBody>
          <a:bodyPr>
            <a:normAutofit/>
          </a:bodyPr>
          <a:lstStyle/>
          <a:p>
            <a:r>
              <a:rPr lang="fr-CA" sz="2400" dirty="0"/>
              <a:t>Créer la méthode:</a:t>
            </a:r>
          </a:p>
          <a:p>
            <a:pPr marL="109728" indent="0">
              <a:buNone/>
            </a:pPr>
            <a:r>
              <a:rPr lang="fr-CA" sz="2400" dirty="0"/>
              <a:t>[Fact]</a:t>
            </a:r>
          </a:p>
          <a:p>
            <a:pPr marL="109728" indent="0">
              <a:buNone/>
            </a:pPr>
            <a:r>
              <a:rPr lang="fr-CA" sz="2400" dirty="0"/>
              <a:t>public </a:t>
            </a:r>
            <a:r>
              <a:rPr lang="fr-CA" sz="2400" dirty="0" err="1"/>
              <a:t>async</a:t>
            </a:r>
            <a:r>
              <a:rPr lang="fr-CA" sz="2400" dirty="0"/>
              <a:t> </a:t>
            </a:r>
            <a:r>
              <a:rPr lang="fr-CA" sz="2400" dirty="0" err="1"/>
              <a:t>void</a:t>
            </a:r>
            <a:r>
              <a:rPr lang="fr-CA" sz="2400" dirty="0"/>
              <a:t> </a:t>
            </a:r>
            <a:r>
              <a:rPr lang="fr-CA" sz="2400" dirty="0" err="1"/>
              <a:t>AjouterTransaction</a:t>
            </a:r>
            <a:r>
              <a:rPr lang="fr-CA" sz="2400" dirty="0"/>
              <a:t>()</a:t>
            </a:r>
          </a:p>
          <a:p>
            <a:r>
              <a:rPr lang="fr-CA" sz="2400" dirty="0"/>
              <a:t>Le travail effectué par cette méthode se divise en 4 blocs:</a:t>
            </a:r>
          </a:p>
          <a:p>
            <a:pPr lvl="1"/>
            <a:r>
              <a:rPr lang="fr-CA" sz="2000" dirty="0"/>
              <a:t>Configuration des </a:t>
            </a:r>
            <a:r>
              <a:rPr lang="fr-CA" sz="2000" dirty="0" err="1"/>
              <a:t>mocks</a:t>
            </a:r>
            <a:endParaRPr lang="fr-CA" sz="2000" dirty="0"/>
          </a:p>
          <a:p>
            <a:pPr lvl="1"/>
            <a:r>
              <a:rPr lang="fr-CA" sz="2000" dirty="0"/>
              <a:t>Appel au service</a:t>
            </a:r>
          </a:p>
          <a:p>
            <a:pPr lvl="1"/>
            <a:r>
              <a:rPr lang="fr-CA" sz="2000" dirty="0"/>
              <a:t>Vérification des appels faits aux </a:t>
            </a:r>
            <a:r>
              <a:rPr lang="fr-CA" sz="2000" dirty="0" err="1"/>
              <a:t>repositories</a:t>
            </a:r>
            <a:endParaRPr lang="fr-CA" sz="2000" dirty="0"/>
          </a:p>
          <a:p>
            <a:pPr lvl="1"/>
            <a:r>
              <a:rPr lang="fr-CA" sz="2000" dirty="0"/>
              <a:t>Validation des valeurs finale des objets</a:t>
            </a:r>
          </a:p>
        </p:txBody>
      </p:sp>
      <p:sp>
        <p:nvSpPr>
          <p:cNvPr id="4" name="Espace réservé du numéro de diapositive 3">
            <a:extLst>
              <a:ext uri="{FF2B5EF4-FFF2-40B4-BE49-F238E27FC236}">
                <a16:creationId xmlns:a16="http://schemas.microsoft.com/office/drawing/2014/main" id="{978A6BC1-C27C-49B0-8EF3-6076E2042D60}"/>
              </a:ext>
            </a:extLst>
          </p:cNvPr>
          <p:cNvSpPr>
            <a:spLocks noGrp="1"/>
          </p:cNvSpPr>
          <p:nvPr>
            <p:ph type="sldNum" sz="quarter" idx="12"/>
          </p:nvPr>
        </p:nvSpPr>
        <p:spPr/>
        <p:txBody>
          <a:bodyPr/>
          <a:lstStyle/>
          <a:p>
            <a:pPr>
              <a:defRPr/>
            </a:pPr>
            <a:fld id="{7FEE665E-3450-413D-913D-057FF7C87532}" type="slidenum">
              <a:rPr lang="en-US" altLang="en-US" smtClean="0"/>
              <a:pPr>
                <a:defRPr/>
              </a:pPr>
              <a:t>81</a:t>
            </a:fld>
            <a:endParaRPr lang="en-US" altLang="en-US"/>
          </a:p>
        </p:txBody>
      </p:sp>
    </p:spTree>
    <p:extLst>
      <p:ext uri="{BB962C8B-B14F-4D97-AF65-F5344CB8AC3E}">
        <p14:creationId xmlns:p14="http://schemas.microsoft.com/office/powerpoint/2010/main" val="3042813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Tests unitaires - services</a:t>
            </a:r>
          </a:p>
        </p:txBody>
      </p:sp>
      <p:sp>
        <p:nvSpPr>
          <p:cNvPr id="3" name="Espace réservé du contenu 2"/>
          <p:cNvSpPr>
            <a:spLocks noGrp="1"/>
          </p:cNvSpPr>
          <p:nvPr>
            <p:ph idx="1"/>
          </p:nvPr>
        </p:nvSpPr>
        <p:spPr>
          <a:xfrm>
            <a:off x="359532" y="1520788"/>
            <a:ext cx="8229600" cy="4325112"/>
          </a:xfrm>
        </p:spPr>
        <p:txBody>
          <a:bodyPr>
            <a:normAutofit/>
          </a:bodyPr>
          <a:lstStyle/>
          <a:p>
            <a:r>
              <a:rPr lang="fr-CA" sz="2400" dirty="0"/>
              <a:t>Première étape: configurer les </a:t>
            </a:r>
            <a:r>
              <a:rPr lang="fr-CA" sz="2400" dirty="0" err="1"/>
              <a:t>mocks</a:t>
            </a:r>
            <a:r>
              <a:rPr lang="fr-CA" sz="2400" dirty="0"/>
              <a:t> pour qu’ils retournent les bons objets:</a:t>
            </a:r>
          </a:p>
          <a:p>
            <a:pPr marL="109728" indent="0">
              <a:buNone/>
            </a:pPr>
            <a:r>
              <a:rPr lang="fr-CA" sz="1800" dirty="0"/>
              <a:t>Pompe pompe = new Pompe { Id = 1 };</a:t>
            </a:r>
          </a:p>
          <a:p>
            <a:pPr marL="109728" indent="0">
              <a:buNone/>
            </a:pPr>
            <a:r>
              <a:rPr lang="fr-CA" sz="1800" dirty="0"/>
              <a:t>_</a:t>
            </a:r>
            <a:r>
              <a:rPr lang="fr-CA" sz="1800" dirty="0" err="1"/>
              <a:t>mockPompeRepository.Setup</a:t>
            </a:r>
            <a:r>
              <a:rPr lang="fr-CA" sz="1800" dirty="0"/>
              <a:t>(x =&gt; </a:t>
            </a:r>
          </a:p>
          <a:p>
            <a:pPr marL="109728" indent="0">
              <a:buNone/>
            </a:pPr>
            <a:r>
              <a:rPr lang="fr-CA" sz="1800" dirty="0"/>
              <a:t>      </a:t>
            </a:r>
            <a:r>
              <a:rPr lang="fr-CA" sz="1800" dirty="0" err="1"/>
              <a:t>x.GetByIdWithRéservoirAsync</a:t>
            </a:r>
            <a:r>
              <a:rPr lang="fr-CA" sz="1800" dirty="0"/>
              <a:t>(</a:t>
            </a:r>
            <a:r>
              <a:rPr lang="fr-CA" sz="1800" dirty="0" err="1"/>
              <a:t>pompe.Id</a:t>
            </a:r>
            <a:r>
              <a:rPr lang="fr-CA" sz="1800" dirty="0"/>
              <a:t>)).</a:t>
            </a:r>
            <a:r>
              <a:rPr lang="fr-CA" sz="1800" dirty="0" err="1"/>
              <a:t>ReturnsAsync</a:t>
            </a:r>
            <a:r>
              <a:rPr lang="fr-CA" sz="1800" dirty="0"/>
              <a:t>(pompe);</a:t>
            </a:r>
          </a:p>
          <a:p>
            <a:pPr marL="109728" indent="0">
              <a:buNone/>
            </a:pPr>
            <a:r>
              <a:rPr lang="fr-CA" sz="1800" dirty="0"/>
              <a:t>Transaction </a:t>
            </a:r>
            <a:r>
              <a:rPr lang="fr-CA" sz="1800" dirty="0" err="1"/>
              <a:t>transaction</a:t>
            </a:r>
            <a:r>
              <a:rPr lang="fr-CA" sz="1800" dirty="0"/>
              <a:t> = new Transaction { Id = 1 };</a:t>
            </a:r>
          </a:p>
          <a:p>
            <a:pPr marL="109728" indent="0">
              <a:buNone/>
            </a:pPr>
            <a:r>
              <a:rPr lang="fr-CA" sz="1800" dirty="0" err="1"/>
              <a:t>transaction.Pompe</a:t>
            </a:r>
            <a:r>
              <a:rPr lang="fr-CA" sz="1800" dirty="0"/>
              <a:t> = pompe;</a:t>
            </a:r>
          </a:p>
          <a:p>
            <a:pPr marL="109728" indent="0">
              <a:buNone/>
            </a:pPr>
            <a:r>
              <a:rPr lang="fr-CA" sz="1800" dirty="0" err="1"/>
              <a:t>transaction.PrixUnitaire</a:t>
            </a:r>
            <a:r>
              <a:rPr lang="fr-CA" sz="1800" dirty="0"/>
              <a:t> = 1.0M;</a:t>
            </a:r>
          </a:p>
          <a:p>
            <a:pPr marL="109728" indent="0">
              <a:buNone/>
            </a:pPr>
            <a:r>
              <a:rPr lang="fr-CA" sz="1800" dirty="0" err="1"/>
              <a:t>transaction.Volume</a:t>
            </a:r>
            <a:r>
              <a:rPr lang="fr-CA" sz="1800" dirty="0"/>
              <a:t> = 50.0M;</a:t>
            </a:r>
          </a:p>
          <a:p>
            <a:pPr marL="109728" indent="0">
              <a:buNone/>
            </a:pPr>
            <a:r>
              <a:rPr lang="fr-CA" sz="1800" dirty="0"/>
              <a:t>_</a:t>
            </a:r>
            <a:r>
              <a:rPr lang="fr-CA" sz="1800" dirty="0" err="1"/>
              <a:t>mockTransactionRepository.Setup</a:t>
            </a:r>
            <a:r>
              <a:rPr lang="fr-CA" sz="1800" dirty="0"/>
              <a:t>(x =&gt; </a:t>
            </a:r>
            <a:r>
              <a:rPr lang="fr-CA" sz="1800" dirty="0" err="1"/>
              <a:t>x.GetByIdWithPaiementsAsync</a:t>
            </a:r>
            <a:r>
              <a:rPr lang="fr-CA" sz="1800" dirty="0"/>
              <a:t>(</a:t>
            </a:r>
            <a:r>
              <a:rPr lang="fr-CA" sz="1800" dirty="0" err="1"/>
              <a:t>transaction.Id</a:t>
            </a:r>
            <a:r>
              <a:rPr lang="fr-CA" sz="1800" dirty="0"/>
              <a:t>)).</a:t>
            </a:r>
            <a:r>
              <a:rPr lang="fr-CA" sz="1800" dirty="0" err="1"/>
              <a:t>ReturnsAsync</a:t>
            </a:r>
            <a:r>
              <a:rPr lang="fr-CA" sz="1800" dirty="0"/>
              <a:t>(transaction);</a:t>
            </a:r>
          </a:p>
        </p:txBody>
      </p:sp>
      <p:sp>
        <p:nvSpPr>
          <p:cNvPr id="4" name="Espace réservé du numéro de diapositive 3">
            <a:extLst>
              <a:ext uri="{FF2B5EF4-FFF2-40B4-BE49-F238E27FC236}">
                <a16:creationId xmlns:a16="http://schemas.microsoft.com/office/drawing/2014/main" id="{D7707552-9899-4F20-89DB-DA731C2F47C6}"/>
              </a:ext>
            </a:extLst>
          </p:cNvPr>
          <p:cNvSpPr>
            <a:spLocks noGrp="1"/>
          </p:cNvSpPr>
          <p:nvPr>
            <p:ph type="sldNum" sz="quarter" idx="12"/>
          </p:nvPr>
        </p:nvSpPr>
        <p:spPr/>
        <p:txBody>
          <a:bodyPr/>
          <a:lstStyle/>
          <a:p>
            <a:pPr>
              <a:defRPr/>
            </a:pPr>
            <a:fld id="{7FEE665E-3450-413D-913D-057FF7C87532}" type="slidenum">
              <a:rPr lang="en-US" altLang="en-US" smtClean="0"/>
              <a:pPr>
                <a:defRPr/>
              </a:pPr>
              <a:t>82</a:t>
            </a:fld>
            <a:endParaRPr lang="en-US" altLang="en-US"/>
          </a:p>
        </p:txBody>
      </p:sp>
    </p:spTree>
    <p:extLst>
      <p:ext uri="{BB962C8B-B14F-4D97-AF65-F5344CB8AC3E}">
        <p14:creationId xmlns:p14="http://schemas.microsoft.com/office/powerpoint/2010/main" val="1136590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Tests unitaires - services</a:t>
            </a:r>
          </a:p>
        </p:txBody>
      </p:sp>
      <p:sp>
        <p:nvSpPr>
          <p:cNvPr id="3" name="Espace réservé du contenu 2"/>
          <p:cNvSpPr>
            <a:spLocks noGrp="1"/>
          </p:cNvSpPr>
          <p:nvPr>
            <p:ph idx="1"/>
          </p:nvPr>
        </p:nvSpPr>
        <p:spPr/>
        <p:txBody>
          <a:bodyPr>
            <a:normAutofit/>
          </a:bodyPr>
          <a:lstStyle/>
          <a:p>
            <a:r>
              <a:rPr lang="fr-CA" sz="2400" dirty="0"/>
              <a:t>Deuxième étape: appeler le service:</a:t>
            </a:r>
          </a:p>
          <a:p>
            <a:pPr marL="109728" indent="0">
              <a:buNone/>
            </a:pPr>
            <a:endParaRPr lang="fr-CA" sz="1800" dirty="0"/>
          </a:p>
          <a:p>
            <a:pPr marL="109728" indent="0">
              <a:buNone/>
            </a:pPr>
            <a:r>
              <a:rPr lang="fr-CA" sz="1800" dirty="0" err="1"/>
              <a:t>TransactionService</a:t>
            </a:r>
            <a:r>
              <a:rPr lang="fr-CA" sz="1800" dirty="0"/>
              <a:t> service = new </a:t>
            </a:r>
            <a:r>
              <a:rPr lang="fr-CA" sz="1800" dirty="0" err="1"/>
              <a:t>TransactionService</a:t>
            </a:r>
            <a:r>
              <a:rPr lang="fr-CA" sz="1800" dirty="0"/>
              <a:t>(_</a:t>
            </a:r>
            <a:r>
              <a:rPr lang="fr-CA" sz="1800" dirty="0" err="1"/>
              <a:t>mockTransactionRepository.Object</a:t>
            </a:r>
            <a:r>
              <a:rPr lang="fr-CA" sz="1800" dirty="0"/>
              <a:t>, </a:t>
            </a:r>
            <a:r>
              <a:rPr lang="fr-CA" sz="1800" dirty="0" err="1"/>
              <a:t>null</a:t>
            </a:r>
            <a:r>
              <a:rPr lang="fr-CA" sz="1800" dirty="0"/>
              <a:t>); </a:t>
            </a:r>
          </a:p>
          <a:p>
            <a:pPr marL="109728" indent="0">
              <a:buNone/>
            </a:pPr>
            <a:r>
              <a:rPr lang="fr-CA" sz="1800" dirty="0" err="1"/>
              <a:t>await</a:t>
            </a:r>
            <a:r>
              <a:rPr lang="fr-CA" sz="1800" dirty="0"/>
              <a:t> </a:t>
            </a:r>
            <a:r>
              <a:rPr lang="fr-CA" sz="1800" dirty="0" err="1"/>
              <a:t>service.AddTransaction</a:t>
            </a:r>
            <a:r>
              <a:rPr lang="fr-CA" sz="1800" dirty="0"/>
              <a:t>(transaction);</a:t>
            </a:r>
          </a:p>
          <a:p>
            <a:pPr marL="109728" indent="0">
              <a:buNone/>
            </a:pPr>
            <a:r>
              <a:rPr lang="fr-CA" sz="1800" dirty="0"/>
              <a:t>Paiement </a:t>
            </a:r>
            <a:r>
              <a:rPr lang="fr-CA" sz="1800" dirty="0" err="1"/>
              <a:t>paiement</a:t>
            </a:r>
            <a:r>
              <a:rPr lang="fr-CA" sz="1800" dirty="0"/>
              <a:t> = new </a:t>
            </a:r>
            <a:r>
              <a:rPr lang="fr-CA" sz="1800" dirty="0" err="1"/>
              <a:t>PaiementEspèce</a:t>
            </a:r>
            <a:r>
              <a:rPr lang="fr-CA" sz="1800" dirty="0"/>
              <a:t>(50, transaction);</a:t>
            </a:r>
          </a:p>
          <a:p>
            <a:pPr marL="109728" indent="0">
              <a:buNone/>
            </a:pPr>
            <a:r>
              <a:rPr lang="fr-CA" sz="1800" dirty="0" err="1"/>
              <a:t>await</a:t>
            </a:r>
            <a:r>
              <a:rPr lang="fr-CA" sz="1800" dirty="0"/>
              <a:t> </a:t>
            </a:r>
            <a:r>
              <a:rPr lang="fr-CA" sz="1800" dirty="0" err="1"/>
              <a:t>service.AddPaiement</a:t>
            </a:r>
            <a:r>
              <a:rPr lang="fr-CA" sz="1800" dirty="0"/>
              <a:t>(</a:t>
            </a:r>
            <a:r>
              <a:rPr lang="fr-CA" sz="1800" dirty="0" err="1"/>
              <a:t>transaction.Id</a:t>
            </a:r>
            <a:r>
              <a:rPr lang="fr-CA" sz="1800" dirty="0"/>
              <a:t>, paiement);</a:t>
            </a:r>
          </a:p>
        </p:txBody>
      </p:sp>
      <p:sp>
        <p:nvSpPr>
          <p:cNvPr id="4" name="Espace réservé du numéro de diapositive 3">
            <a:extLst>
              <a:ext uri="{FF2B5EF4-FFF2-40B4-BE49-F238E27FC236}">
                <a16:creationId xmlns:a16="http://schemas.microsoft.com/office/drawing/2014/main" id="{3BD88D67-7257-49F6-BF28-CFE92A1A42BB}"/>
              </a:ext>
            </a:extLst>
          </p:cNvPr>
          <p:cNvSpPr>
            <a:spLocks noGrp="1"/>
          </p:cNvSpPr>
          <p:nvPr>
            <p:ph type="sldNum" sz="quarter" idx="12"/>
          </p:nvPr>
        </p:nvSpPr>
        <p:spPr/>
        <p:txBody>
          <a:bodyPr/>
          <a:lstStyle/>
          <a:p>
            <a:pPr>
              <a:defRPr/>
            </a:pPr>
            <a:fld id="{7FEE665E-3450-413D-913D-057FF7C87532}" type="slidenum">
              <a:rPr lang="en-US" altLang="en-US" smtClean="0"/>
              <a:pPr>
                <a:defRPr/>
              </a:pPr>
              <a:t>83</a:t>
            </a:fld>
            <a:endParaRPr lang="en-US" altLang="en-US"/>
          </a:p>
        </p:txBody>
      </p:sp>
    </p:spTree>
    <p:extLst>
      <p:ext uri="{BB962C8B-B14F-4D97-AF65-F5344CB8AC3E}">
        <p14:creationId xmlns:p14="http://schemas.microsoft.com/office/powerpoint/2010/main" val="474761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Tests unitaires - services</a:t>
            </a:r>
          </a:p>
        </p:txBody>
      </p:sp>
      <p:sp>
        <p:nvSpPr>
          <p:cNvPr id="3" name="Espace réservé du contenu 2"/>
          <p:cNvSpPr>
            <a:spLocks noGrp="1"/>
          </p:cNvSpPr>
          <p:nvPr>
            <p:ph idx="1"/>
          </p:nvPr>
        </p:nvSpPr>
        <p:spPr/>
        <p:txBody>
          <a:bodyPr>
            <a:normAutofit/>
          </a:bodyPr>
          <a:lstStyle/>
          <a:p>
            <a:r>
              <a:rPr lang="fr-CA" sz="2400" dirty="0"/>
              <a:t>Troisième étape: vérifier les appels aux </a:t>
            </a:r>
            <a:r>
              <a:rPr lang="fr-CA" sz="2400" dirty="0" err="1"/>
              <a:t>repositories</a:t>
            </a:r>
            <a:r>
              <a:rPr lang="fr-CA" sz="2400" dirty="0"/>
              <a:t>:</a:t>
            </a:r>
          </a:p>
          <a:p>
            <a:pPr marL="109728" indent="0">
              <a:buNone/>
            </a:pPr>
            <a:r>
              <a:rPr lang="fr-CA" sz="1600" dirty="0" err="1"/>
              <a:t>mockTransactionRepository.Verify</a:t>
            </a:r>
            <a:r>
              <a:rPr lang="fr-CA" sz="1600" dirty="0"/>
              <a:t>(x =&gt; </a:t>
            </a:r>
            <a:r>
              <a:rPr lang="fr-CA" sz="1600" dirty="0" err="1"/>
              <a:t>x.AddAsync</a:t>
            </a:r>
            <a:r>
              <a:rPr lang="fr-CA" sz="1600" dirty="0"/>
              <a:t>(transaction), </a:t>
            </a:r>
            <a:r>
              <a:rPr lang="fr-CA" sz="1600" dirty="0" err="1"/>
              <a:t>Times.Once</a:t>
            </a:r>
            <a:r>
              <a:rPr lang="fr-CA" sz="1600" dirty="0"/>
              <a:t>);</a:t>
            </a:r>
          </a:p>
          <a:p>
            <a:pPr marL="109728" indent="0">
              <a:buNone/>
            </a:pPr>
            <a:r>
              <a:rPr lang="fr-CA" sz="1600" dirty="0"/>
              <a:t> _</a:t>
            </a:r>
            <a:r>
              <a:rPr lang="fr-CA" sz="1600" dirty="0" err="1"/>
              <a:t>mockTransactionRepository.Verify</a:t>
            </a:r>
            <a:r>
              <a:rPr lang="fr-CA" sz="1600" dirty="0"/>
              <a:t>(x =&gt; </a:t>
            </a:r>
            <a:r>
              <a:rPr lang="fr-CA" sz="1600" dirty="0" err="1"/>
              <a:t>x.GetByIdWithPaiementsAsync</a:t>
            </a:r>
            <a:r>
              <a:rPr lang="fr-CA" sz="1600" dirty="0"/>
              <a:t>(1), </a:t>
            </a:r>
            <a:r>
              <a:rPr lang="fr-CA" sz="1600" dirty="0" err="1"/>
              <a:t>Times.Once</a:t>
            </a:r>
            <a:r>
              <a:rPr lang="fr-CA" sz="1600" dirty="0"/>
              <a:t>);</a:t>
            </a:r>
          </a:p>
          <a:p>
            <a:pPr marL="109728" indent="0">
              <a:buNone/>
            </a:pPr>
            <a:r>
              <a:rPr lang="fr-CA" sz="1600" dirty="0"/>
              <a:t>_</a:t>
            </a:r>
            <a:r>
              <a:rPr lang="fr-CA" sz="1600" dirty="0" err="1"/>
              <a:t>mockTransactionRepository.Verify</a:t>
            </a:r>
            <a:r>
              <a:rPr lang="fr-CA" sz="1600" dirty="0"/>
              <a:t>(x =&gt; </a:t>
            </a:r>
            <a:r>
              <a:rPr lang="fr-CA" sz="1600" dirty="0" err="1"/>
              <a:t>x.UpdateAsync</a:t>
            </a:r>
            <a:r>
              <a:rPr lang="fr-CA" sz="1600" dirty="0"/>
              <a:t>(transaction), </a:t>
            </a:r>
            <a:r>
              <a:rPr lang="fr-CA" sz="1600" dirty="0" err="1"/>
              <a:t>Times.Once</a:t>
            </a:r>
            <a:r>
              <a:rPr lang="fr-CA" sz="1600" dirty="0"/>
              <a:t>);</a:t>
            </a:r>
          </a:p>
          <a:p>
            <a:pPr marL="109728" indent="0">
              <a:buNone/>
            </a:pPr>
            <a:r>
              <a:rPr lang="fr-CA" sz="1600" dirty="0"/>
              <a:t>_</a:t>
            </a:r>
            <a:r>
              <a:rPr lang="fr-CA" sz="1600" dirty="0" err="1"/>
              <a:t>mockTransactionRepository.VerifyNoOtherCalls</a:t>
            </a:r>
            <a:r>
              <a:rPr lang="fr-CA" sz="1600" dirty="0"/>
              <a:t>();</a:t>
            </a:r>
          </a:p>
          <a:p>
            <a:r>
              <a:rPr lang="fr-CA" sz="2400" dirty="0"/>
              <a:t>Ici, on s’assure que le service a ajouté la bonne transaction et qu’il n’a effectué aucune autre opération</a:t>
            </a:r>
          </a:p>
          <a:p>
            <a:r>
              <a:rPr lang="fr-CA" sz="2400" dirty="0"/>
              <a:t>Ce sont des validations beaucoup plus faciles à faire avec un </a:t>
            </a:r>
            <a:r>
              <a:rPr lang="fr-CA" sz="2400" dirty="0" err="1"/>
              <a:t>mock</a:t>
            </a:r>
            <a:r>
              <a:rPr lang="fr-CA" sz="2400" dirty="0"/>
              <a:t> qu’avec une BD</a:t>
            </a:r>
          </a:p>
        </p:txBody>
      </p:sp>
      <p:sp>
        <p:nvSpPr>
          <p:cNvPr id="4" name="Espace réservé du numéro de diapositive 3">
            <a:extLst>
              <a:ext uri="{FF2B5EF4-FFF2-40B4-BE49-F238E27FC236}">
                <a16:creationId xmlns:a16="http://schemas.microsoft.com/office/drawing/2014/main" id="{E90BD17B-B26A-4D9C-AF2C-2372643B62CC}"/>
              </a:ext>
            </a:extLst>
          </p:cNvPr>
          <p:cNvSpPr>
            <a:spLocks noGrp="1"/>
          </p:cNvSpPr>
          <p:nvPr>
            <p:ph type="sldNum" sz="quarter" idx="12"/>
          </p:nvPr>
        </p:nvSpPr>
        <p:spPr/>
        <p:txBody>
          <a:bodyPr/>
          <a:lstStyle/>
          <a:p>
            <a:pPr>
              <a:defRPr/>
            </a:pPr>
            <a:fld id="{7FEE665E-3450-413D-913D-057FF7C87532}" type="slidenum">
              <a:rPr lang="en-US" altLang="en-US" smtClean="0"/>
              <a:pPr>
                <a:defRPr/>
              </a:pPr>
              <a:t>84</a:t>
            </a:fld>
            <a:endParaRPr lang="en-US" altLang="en-US"/>
          </a:p>
        </p:txBody>
      </p:sp>
    </p:spTree>
    <p:extLst>
      <p:ext uri="{BB962C8B-B14F-4D97-AF65-F5344CB8AC3E}">
        <p14:creationId xmlns:p14="http://schemas.microsoft.com/office/powerpoint/2010/main" val="3967901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Tests unitaires - services</a:t>
            </a:r>
          </a:p>
        </p:txBody>
      </p:sp>
      <p:sp>
        <p:nvSpPr>
          <p:cNvPr id="3" name="Espace réservé du contenu 2"/>
          <p:cNvSpPr>
            <a:spLocks noGrp="1"/>
          </p:cNvSpPr>
          <p:nvPr>
            <p:ph idx="1"/>
          </p:nvPr>
        </p:nvSpPr>
        <p:spPr/>
        <p:txBody>
          <a:bodyPr>
            <a:normAutofit/>
          </a:bodyPr>
          <a:lstStyle/>
          <a:p>
            <a:r>
              <a:rPr lang="fr-CA" sz="2400" dirty="0"/>
              <a:t>Quatrième étape: vérifier les valeurs finales:</a:t>
            </a:r>
          </a:p>
          <a:p>
            <a:pPr marL="109728" indent="0">
              <a:buNone/>
            </a:pPr>
            <a:endParaRPr lang="fr-CA" sz="1600" dirty="0"/>
          </a:p>
          <a:p>
            <a:pPr marL="109728" indent="0">
              <a:buNone/>
            </a:pPr>
            <a:r>
              <a:rPr lang="fr-CA" sz="1800" dirty="0" err="1"/>
              <a:t>Assert.Single</a:t>
            </a:r>
            <a:r>
              <a:rPr lang="fr-CA" sz="1800" dirty="0"/>
              <a:t>(</a:t>
            </a:r>
            <a:r>
              <a:rPr lang="fr-CA" sz="1800" dirty="0" err="1"/>
              <a:t>transaction.Paiements</a:t>
            </a:r>
            <a:r>
              <a:rPr lang="fr-CA" sz="1800" dirty="0"/>
              <a:t>);</a:t>
            </a:r>
          </a:p>
          <a:p>
            <a:pPr marL="109728" indent="0">
              <a:buNone/>
            </a:pPr>
            <a:r>
              <a:rPr lang="fr-CA" sz="1800" dirty="0" err="1"/>
              <a:t>Assert.Equal</a:t>
            </a:r>
            <a:r>
              <a:rPr lang="fr-CA" sz="1800" dirty="0"/>
              <a:t>(50.0M, </a:t>
            </a:r>
            <a:r>
              <a:rPr lang="fr-CA" sz="1800" dirty="0" err="1"/>
              <a:t>transaction.MontantTotal</a:t>
            </a:r>
            <a:r>
              <a:rPr lang="fr-CA" sz="1800" dirty="0"/>
              <a:t>());</a:t>
            </a:r>
          </a:p>
          <a:p>
            <a:pPr marL="109728" indent="0">
              <a:buNone/>
            </a:pPr>
            <a:r>
              <a:rPr lang="fr-CA" sz="1800" dirty="0" err="1"/>
              <a:t>Assert.Equal</a:t>
            </a:r>
            <a:r>
              <a:rPr lang="fr-CA" sz="1800" dirty="0"/>
              <a:t>(</a:t>
            </a:r>
            <a:r>
              <a:rPr lang="fr-CA" sz="1800" dirty="0" err="1"/>
              <a:t>true</a:t>
            </a:r>
            <a:r>
              <a:rPr lang="fr-CA" sz="1800" dirty="0"/>
              <a:t>, </a:t>
            </a:r>
            <a:r>
              <a:rPr lang="fr-CA" sz="1800" dirty="0" err="1"/>
              <a:t>transaction.EstPayée</a:t>
            </a:r>
            <a:r>
              <a:rPr lang="fr-CA" sz="1800" dirty="0"/>
              <a:t>());</a:t>
            </a:r>
          </a:p>
        </p:txBody>
      </p:sp>
      <p:sp>
        <p:nvSpPr>
          <p:cNvPr id="4" name="Espace réservé du numéro de diapositive 3">
            <a:extLst>
              <a:ext uri="{FF2B5EF4-FFF2-40B4-BE49-F238E27FC236}">
                <a16:creationId xmlns:a16="http://schemas.microsoft.com/office/drawing/2014/main" id="{4B3D7A09-5B79-43AD-B736-188103EC3BF3}"/>
              </a:ext>
            </a:extLst>
          </p:cNvPr>
          <p:cNvSpPr>
            <a:spLocks noGrp="1"/>
          </p:cNvSpPr>
          <p:nvPr>
            <p:ph type="sldNum" sz="quarter" idx="12"/>
          </p:nvPr>
        </p:nvSpPr>
        <p:spPr/>
        <p:txBody>
          <a:bodyPr/>
          <a:lstStyle/>
          <a:p>
            <a:pPr>
              <a:defRPr/>
            </a:pPr>
            <a:fld id="{7FEE665E-3450-413D-913D-057FF7C87532}" type="slidenum">
              <a:rPr lang="en-US" altLang="en-US" smtClean="0"/>
              <a:pPr>
                <a:defRPr/>
              </a:pPr>
              <a:t>85</a:t>
            </a:fld>
            <a:endParaRPr lang="en-US" altLang="en-US"/>
          </a:p>
        </p:txBody>
      </p:sp>
    </p:spTree>
    <p:extLst>
      <p:ext uri="{BB962C8B-B14F-4D97-AF65-F5344CB8AC3E}">
        <p14:creationId xmlns:p14="http://schemas.microsoft.com/office/powerpoint/2010/main" val="2222615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Tests d’intégration</a:t>
            </a:r>
          </a:p>
        </p:txBody>
      </p:sp>
      <p:sp>
        <p:nvSpPr>
          <p:cNvPr id="3" name="Espace réservé du contenu 2"/>
          <p:cNvSpPr>
            <a:spLocks noGrp="1"/>
          </p:cNvSpPr>
          <p:nvPr>
            <p:ph idx="1"/>
          </p:nvPr>
        </p:nvSpPr>
        <p:spPr/>
        <p:txBody>
          <a:bodyPr/>
          <a:lstStyle/>
          <a:p>
            <a:r>
              <a:rPr lang="fr-CA" sz="2400" dirty="0"/>
              <a:t>Dans cet exemple, nous allons tester le travail des </a:t>
            </a:r>
            <a:r>
              <a:rPr lang="fr-CA" sz="2400" dirty="0" err="1"/>
              <a:t>Repositories</a:t>
            </a:r>
            <a:r>
              <a:rPr lang="fr-CA" sz="2400" dirty="0"/>
              <a:t> et de </a:t>
            </a:r>
            <a:r>
              <a:rPr lang="fr-CA" sz="2400" dirty="0" err="1"/>
              <a:t>EntityFramework</a:t>
            </a:r>
            <a:r>
              <a:rPr lang="fr-CA" sz="2400" dirty="0"/>
              <a:t> ensemble (intégration)</a:t>
            </a:r>
          </a:p>
          <a:p>
            <a:r>
              <a:rPr lang="fr-CA" sz="2400" dirty="0"/>
              <a:t>Étapes préliminaires:</a:t>
            </a:r>
          </a:p>
          <a:p>
            <a:pPr lvl="1"/>
            <a:r>
              <a:rPr lang="fr-CA" sz="2000" dirty="0"/>
              <a:t>Créer un projet </a:t>
            </a:r>
            <a:r>
              <a:rPr lang="fr-CA" sz="2000" dirty="0" err="1"/>
              <a:t>xUnit</a:t>
            </a:r>
            <a:r>
              <a:rPr lang="fr-CA" sz="2000" dirty="0"/>
              <a:t> nommé </a:t>
            </a:r>
            <a:r>
              <a:rPr lang="fr-CA" sz="2000" dirty="0" err="1"/>
              <a:t>SystèmeGestionStationService.TestsIntégration</a:t>
            </a:r>
            <a:endParaRPr lang="fr-CA" sz="2000" dirty="0"/>
          </a:p>
          <a:p>
            <a:pPr lvl="1"/>
            <a:r>
              <a:rPr lang="fr-CA" sz="2000" dirty="0"/>
              <a:t>Ajouter une référence vers les projets </a:t>
            </a:r>
            <a:r>
              <a:rPr lang="fr-CA" sz="2000" dirty="0" err="1"/>
              <a:t>SharedKernel</a:t>
            </a:r>
            <a:r>
              <a:rPr lang="fr-CA" sz="2000" dirty="0"/>
              <a:t> et Infrastructure</a:t>
            </a:r>
          </a:p>
          <a:p>
            <a:pPr lvl="1"/>
            <a:r>
              <a:rPr lang="fr-CA" sz="2000" dirty="0"/>
              <a:t>Ajouter la dépendance à </a:t>
            </a:r>
            <a:r>
              <a:rPr lang="fr-CA" sz="2000" dirty="0" err="1"/>
              <a:t>EntityFrameworkCore</a:t>
            </a:r>
            <a:endParaRPr lang="fr-CA" sz="2000" dirty="0"/>
          </a:p>
          <a:p>
            <a:pPr lvl="1"/>
            <a:endParaRPr lang="fr-CA" dirty="0"/>
          </a:p>
        </p:txBody>
      </p:sp>
      <p:sp>
        <p:nvSpPr>
          <p:cNvPr id="4" name="Espace réservé du numéro de diapositive 3">
            <a:extLst>
              <a:ext uri="{FF2B5EF4-FFF2-40B4-BE49-F238E27FC236}">
                <a16:creationId xmlns:a16="http://schemas.microsoft.com/office/drawing/2014/main" id="{33CF74F5-087E-4F7E-A164-5E344FA6C2AA}"/>
              </a:ext>
            </a:extLst>
          </p:cNvPr>
          <p:cNvSpPr>
            <a:spLocks noGrp="1"/>
          </p:cNvSpPr>
          <p:nvPr>
            <p:ph type="sldNum" sz="quarter" idx="12"/>
          </p:nvPr>
        </p:nvSpPr>
        <p:spPr/>
        <p:txBody>
          <a:bodyPr/>
          <a:lstStyle/>
          <a:p>
            <a:pPr>
              <a:defRPr/>
            </a:pPr>
            <a:fld id="{7FEE665E-3450-413D-913D-057FF7C87532}" type="slidenum">
              <a:rPr lang="en-US" altLang="en-US" smtClean="0"/>
              <a:pPr>
                <a:defRPr/>
              </a:pPr>
              <a:t>86</a:t>
            </a:fld>
            <a:endParaRPr lang="en-US" altLang="en-US"/>
          </a:p>
        </p:txBody>
      </p:sp>
    </p:spTree>
    <p:extLst>
      <p:ext uri="{BB962C8B-B14F-4D97-AF65-F5344CB8AC3E}">
        <p14:creationId xmlns:p14="http://schemas.microsoft.com/office/powerpoint/2010/main" val="923157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Tests d’intégration</a:t>
            </a:r>
          </a:p>
        </p:txBody>
      </p:sp>
      <p:sp>
        <p:nvSpPr>
          <p:cNvPr id="3" name="Espace réservé du contenu 2"/>
          <p:cNvSpPr>
            <a:spLocks noGrp="1"/>
          </p:cNvSpPr>
          <p:nvPr>
            <p:ph idx="1"/>
          </p:nvPr>
        </p:nvSpPr>
        <p:spPr>
          <a:xfrm>
            <a:off x="228600" y="1403874"/>
            <a:ext cx="8686800" cy="3321270"/>
          </a:xfrm>
        </p:spPr>
        <p:txBody>
          <a:bodyPr>
            <a:normAutofit/>
          </a:bodyPr>
          <a:lstStyle/>
          <a:p>
            <a:r>
              <a:rPr lang="fr-CA" sz="2400" dirty="0"/>
              <a:t>Isolation de la base de données</a:t>
            </a:r>
          </a:p>
          <a:p>
            <a:pPr lvl="1"/>
            <a:r>
              <a:rPr lang="fr-CA" sz="2000" dirty="0"/>
              <a:t>Étant donné que l’on veut tester uniquement l’intégration de EF et du </a:t>
            </a:r>
            <a:r>
              <a:rPr lang="fr-CA" sz="2000" dirty="0" err="1"/>
              <a:t>repository</a:t>
            </a:r>
            <a:r>
              <a:rPr lang="fr-CA" sz="2000" dirty="0"/>
              <a:t>, il est souhaitable de le faire sans utiliser </a:t>
            </a:r>
            <a:r>
              <a:rPr lang="fr-CA" sz="2000" dirty="0" err="1"/>
              <a:t>SqlServer</a:t>
            </a:r>
            <a:r>
              <a:rPr lang="fr-CA" sz="2000" dirty="0"/>
              <a:t> (on se retrouverait alors à tester 3 couches)</a:t>
            </a:r>
          </a:p>
          <a:p>
            <a:pPr lvl="1"/>
            <a:r>
              <a:rPr lang="fr-CA" sz="2000" dirty="0"/>
              <a:t>On peut à ce moment configurer EF pour conserver les données en mémoire.</a:t>
            </a:r>
          </a:p>
          <a:p>
            <a:pPr lvl="1"/>
            <a:r>
              <a:rPr lang="fr-CA" sz="2000" dirty="0"/>
              <a:t>Pour ce faire, il faut installer le package </a:t>
            </a:r>
            <a:r>
              <a:rPr lang="fr-CA" sz="2000" dirty="0" err="1"/>
              <a:t>Microsoft.EntityFrameworkCore.InMemory</a:t>
            </a:r>
            <a:endParaRPr lang="fr-CA" sz="2000" dirty="0"/>
          </a:p>
        </p:txBody>
      </p:sp>
      <p:sp>
        <p:nvSpPr>
          <p:cNvPr id="4" name="Espace réservé du numéro de diapositive 3">
            <a:extLst>
              <a:ext uri="{FF2B5EF4-FFF2-40B4-BE49-F238E27FC236}">
                <a16:creationId xmlns:a16="http://schemas.microsoft.com/office/drawing/2014/main" id="{23B05486-2470-4A9F-97EF-C5002A4C0B60}"/>
              </a:ext>
            </a:extLst>
          </p:cNvPr>
          <p:cNvSpPr>
            <a:spLocks noGrp="1"/>
          </p:cNvSpPr>
          <p:nvPr>
            <p:ph type="sldNum" sz="quarter" idx="12"/>
          </p:nvPr>
        </p:nvSpPr>
        <p:spPr/>
        <p:txBody>
          <a:bodyPr/>
          <a:lstStyle/>
          <a:p>
            <a:pPr>
              <a:defRPr/>
            </a:pPr>
            <a:fld id="{7FEE665E-3450-413D-913D-057FF7C87532}" type="slidenum">
              <a:rPr lang="en-US" altLang="en-US" smtClean="0"/>
              <a:pPr>
                <a:defRPr/>
              </a:pPr>
              <a:t>87</a:t>
            </a:fld>
            <a:endParaRPr lang="en-US" altLang="en-US"/>
          </a:p>
        </p:txBody>
      </p:sp>
    </p:spTree>
    <p:extLst>
      <p:ext uri="{BB962C8B-B14F-4D97-AF65-F5344CB8AC3E}">
        <p14:creationId xmlns:p14="http://schemas.microsoft.com/office/powerpoint/2010/main" val="2337184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Tests d’intégration</a:t>
            </a:r>
          </a:p>
        </p:txBody>
      </p:sp>
      <p:sp>
        <p:nvSpPr>
          <p:cNvPr id="3" name="Espace réservé du contenu 2"/>
          <p:cNvSpPr>
            <a:spLocks noGrp="1"/>
          </p:cNvSpPr>
          <p:nvPr>
            <p:ph idx="1"/>
          </p:nvPr>
        </p:nvSpPr>
        <p:spPr>
          <a:xfrm>
            <a:off x="228600" y="1403874"/>
            <a:ext cx="8686800" cy="2025126"/>
          </a:xfrm>
        </p:spPr>
        <p:txBody>
          <a:bodyPr>
            <a:normAutofit/>
          </a:bodyPr>
          <a:lstStyle/>
          <a:p>
            <a:r>
              <a:rPr lang="fr-CA" sz="2400" dirty="0"/>
              <a:t>Créer les répertoires Repositories et Repositories/</a:t>
            </a:r>
            <a:r>
              <a:rPr lang="fr-CA" sz="2400" dirty="0" err="1"/>
              <a:t>TransactionRepositoryTest</a:t>
            </a:r>
            <a:endParaRPr lang="fr-CA" sz="2400" dirty="0"/>
          </a:p>
          <a:p>
            <a:r>
              <a:rPr lang="fr-CA" sz="2400" dirty="0"/>
              <a:t>Créer la classe de test </a:t>
            </a:r>
            <a:r>
              <a:rPr lang="fr-CA" sz="2400" dirty="0" err="1"/>
              <a:t>ListAsync</a:t>
            </a:r>
            <a:r>
              <a:rPr lang="fr-CA" sz="2400" dirty="0"/>
              <a:t> avec deux variables d’Instance pour le </a:t>
            </a:r>
            <a:r>
              <a:rPr lang="fr-CA" sz="2400" dirty="0" err="1"/>
              <a:t>context</a:t>
            </a:r>
            <a:r>
              <a:rPr lang="fr-CA" sz="2400" dirty="0"/>
              <a:t> et le repository à tester et un constructeur pour les initialiser:</a:t>
            </a:r>
          </a:p>
        </p:txBody>
      </p:sp>
      <p:sp>
        <p:nvSpPr>
          <p:cNvPr id="5" name="ZoneTexte 4">
            <a:extLst>
              <a:ext uri="{FF2B5EF4-FFF2-40B4-BE49-F238E27FC236}">
                <a16:creationId xmlns:a16="http://schemas.microsoft.com/office/drawing/2014/main" id="{90456A24-9837-40DE-8473-AE906A1B66A8}"/>
              </a:ext>
            </a:extLst>
          </p:cNvPr>
          <p:cNvSpPr txBox="1"/>
          <p:nvPr/>
        </p:nvSpPr>
        <p:spPr>
          <a:xfrm>
            <a:off x="755576" y="3609020"/>
            <a:ext cx="7983276" cy="2893100"/>
          </a:xfrm>
          <a:prstGeom prst="rect">
            <a:avLst/>
          </a:prstGeom>
          <a:noFill/>
        </p:spPr>
        <p:txBody>
          <a:bodyPr wrap="none" rtlCol="0">
            <a:spAutoFit/>
          </a:bodyPr>
          <a:lstStyle/>
          <a:p>
            <a:r>
              <a:rPr lang="fr-CA" sz="1400" dirty="0" err="1">
                <a:solidFill>
                  <a:srgbClr val="0000FF"/>
                </a:solidFill>
                <a:latin typeface="Consolas" panose="020B0609020204030204" pitchFamily="49" charset="0"/>
              </a:rPr>
              <a:t>private</a:t>
            </a:r>
            <a:r>
              <a:rPr lang="fr-CA" sz="1400" dirty="0">
                <a:solidFill>
                  <a:srgbClr val="000000"/>
                </a:solidFill>
                <a:latin typeface="Consolas" panose="020B0609020204030204" pitchFamily="49" charset="0"/>
              </a:rPr>
              <a:t> </a:t>
            </a:r>
            <a:r>
              <a:rPr lang="fr-CA" sz="1400" dirty="0" err="1">
                <a:solidFill>
                  <a:srgbClr val="0000FF"/>
                </a:solidFill>
                <a:latin typeface="Consolas" panose="020B0609020204030204" pitchFamily="49" charset="0"/>
              </a:rPr>
              <a:t>readonly</a:t>
            </a:r>
            <a:r>
              <a:rPr lang="fr-CA" sz="1400" dirty="0">
                <a:solidFill>
                  <a:srgbClr val="000000"/>
                </a:solidFill>
                <a:latin typeface="Consolas" panose="020B0609020204030204" pitchFamily="49" charset="0"/>
              </a:rPr>
              <a:t> </a:t>
            </a:r>
            <a:r>
              <a:rPr lang="fr-CA" sz="1400" dirty="0" err="1">
                <a:solidFill>
                  <a:srgbClr val="000000"/>
                </a:solidFill>
                <a:latin typeface="Consolas" panose="020B0609020204030204" pitchFamily="49" charset="0"/>
              </a:rPr>
              <a:t>SystèmeGestionStationServiceContext</a:t>
            </a:r>
            <a:r>
              <a:rPr lang="fr-CA" sz="1400" dirty="0">
                <a:solidFill>
                  <a:srgbClr val="000000"/>
                </a:solidFill>
                <a:latin typeface="Consolas" panose="020B0609020204030204" pitchFamily="49" charset="0"/>
              </a:rPr>
              <a:t> _</a:t>
            </a:r>
            <a:r>
              <a:rPr lang="fr-CA" sz="1400" dirty="0" err="1">
                <a:solidFill>
                  <a:srgbClr val="000000"/>
                </a:solidFill>
                <a:latin typeface="Consolas" panose="020B0609020204030204" pitchFamily="49" charset="0"/>
              </a:rPr>
              <a:t>context</a:t>
            </a:r>
            <a:r>
              <a:rPr lang="fr-CA" sz="1400" dirty="0">
                <a:solidFill>
                  <a:srgbClr val="000000"/>
                </a:solidFill>
                <a:latin typeface="Consolas" panose="020B0609020204030204" pitchFamily="49" charset="0"/>
              </a:rPr>
              <a:t>;</a:t>
            </a:r>
          </a:p>
          <a:p>
            <a:r>
              <a:rPr lang="fr-CA" sz="1400" dirty="0" err="1">
                <a:solidFill>
                  <a:srgbClr val="0000FF"/>
                </a:solidFill>
                <a:latin typeface="Consolas" panose="020B0609020204030204" pitchFamily="49" charset="0"/>
              </a:rPr>
              <a:t>private</a:t>
            </a:r>
            <a:r>
              <a:rPr lang="fr-CA" sz="1400" dirty="0">
                <a:solidFill>
                  <a:srgbClr val="000000"/>
                </a:solidFill>
                <a:latin typeface="Consolas" panose="020B0609020204030204" pitchFamily="49" charset="0"/>
              </a:rPr>
              <a:t> </a:t>
            </a:r>
            <a:r>
              <a:rPr lang="fr-CA" sz="1400" dirty="0" err="1">
                <a:solidFill>
                  <a:srgbClr val="0000FF"/>
                </a:solidFill>
                <a:latin typeface="Consolas" panose="020B0609020204030204" pitchFamily="49" charset="0"/>
              </a:rPr>
              <a:t>readonly</a:t>
            </a:r>
            <a:r>
              <a:rPr lang="fr-CA" sz="1400" dirty="0">
                <a:solidFill>
                  <a:srgbClr val="000000"/>
                </a:solidFill>
                <a:latin typeface="Consolas" panose="020B0609020204030204" pitchFamily="49" charset="0"/>
              </a:rPr>
              <a:t> </a:t>
            </a:r>
            <a:r>
              <a:rPr lang="fr-CA" sz="1400" dirty="0" err="1">
                <a:solidFill>
                  <a:srgbClr val="000000"/>
                </a:solidFill>
                <a:latin typeface="Consolas" panose="020B0609020204030204" pitchFamily="49" charset="0"/>
              </a:rPr>
              <a:t>ClientRepository</a:t>
            </a:r>
            <a:r>
              <a:rPr lang="fr-CA" sz="1400" dirty="0">
                <a:solidFill>
                  <a:srgbClr val="000000"/>
                </a:solidFill>
                <a:latin typeface="Consolas" panose="020B0609020204030204" pitchFamily="49" charset="0"/>
              </a:rPr>
              <a:t> _</a:t>
            </a:r>
            <a:r>
              <a:rPr lang="fr-CA" sz="1400" dirty="0" err="1">
                <a:solidFill>
                  <a:srgbClr val="000000"/>
                </a:solidFill>
                <a:latin typeface="Consolas" panose="020B0609020204030204" pitchFamily="49" charset="0"/>
              </a:rPr>
              <a:t>ClientRepository</a:t>
            </a:r>
            <a:r>
              <a:rPr lang="fr-CA" sz="1400" dirty="0">
                <a:solidFill>
                  <a:srgbClr val="000000"/>
                </a:solidFill>
                <a:latin typeface="Consolas" panose="020B0609020204030204" pitchFamily="49" charset="0"/>
              </a:rPr>
              <a:t>;</a:t>
            </a:r>
          </a:p>
          <a:p>
            <a:endParaRPr lang="fr-CA" sz="1400" dirty="0">
              <a:solidFill>
                <a:srgbClr val="000000"/>
              </a:solidFill>
              <a:latin typeface="Consolas" panose="020B0609020204030204" pitchFamily="49" charset="0"/>
            </a:endParaRPr>
          </a:p>
          <a:p>
            <a:r>
              <a:rPr lang="fr-CA" sz="1400" dirty="0">
                <a:solidFill>
                  <a:srgbClr val="0000FF"/>
                </a:solidFill>
                <a:latin typeface="Consolas" panose="020B0609020204030204" pitchFamily="49" charset="0"/>
              </a:rPr>
              <a:t>public</a:t>
            </a:r>
            <a:r>
              <a:rPr lang="fr-CA" sz="1400" dirty="0">
                <a:solidFill>
                  <a:srgbClr val="000000"/>
                </a:solidFill>
                <a:latin typeface="Consolas" panose="020B0609020204030204" pitchFamily="49" charset="0"/>
              </a:rPr>
              <a:t> </a:t>
            </a:r>
            <a:r>
              <a:rPr lang="fr-CA" sz="1400" dirty="0" err="1">
                <a:solidFill>
                  <a:srgbClr val="2B91AF"/>
                </a:solidFill>
                <a:latin typeface="Consolas" panose="020B0609020204030204" pitchFamily="49" charset="0"/>
              </a:rPr>
              <a:t>ListAsync</a:t>
            </a:r>
            <a:r>
              <a:rPr lang="fr-CA" sz="1400" dirty="0">
                <a:solidFill>
                  <a:srgbClr val="000000"/>
                </a:solidFill>
                <a:latin typeface="Consolas" panose="020B0609020204030204" pitchFamily="49" charset="0"/>
              </a:rPr>
              <a:t>()</a:t>
            </a:r>
          </a:p>
          <a:p>
            <a:r>
              <a:rPr lang="fr-CA" sz="1400" dirty="0">
                <a:solidFill>
                  <a:srgbClr val="000000"/>
                </a:solidFill>
                <a:latin typeface="Consolas" panose="020B0609020204030204" pitchFamily="49" charset="0"/>
              </a:rPr>
              <a:t> {</a:t>
            </a:r>
          </a:p>
          <a:p>
            <a:r>
              <a:rPr lang="fr-CA" sz="1400" dirty="0">
                <a:solidFill>
                  <a:srgbClr val="000000"/>
                </a:solidFill>
                <a:latin typeface="Consolas" panose="020B0609020204030204" pitchFamily="49" charset="0"/>
              </a:rPr>
              <a:t>   </a:t>
            </a:r>
            <a:r>
              <a:rPr lang="fr-CA" sz="1400" dirty="0" err="1">
                <a:solidFill>
                  <a:srgbClr val="000000"/>
                </a:solidFill>
                <a:latin typeface="Consolas" panose="020B0609020204030204" pitchFamily="49" charset="0"/>
              </a:rPr>
              <a:t>DbContextOptions</a:t>
            </a:r>
            <a:r>
              <a:rPr lang="fr-CA" sz="1400" dirty="0">
                <a:solidFill>
                  <a:srgbClr val="000000"/>
                </a:solidFill>
                <a:latin typeface="Consolas" panose="020B0609020204030204" pitchFamily="49" charset="0"/>
              </a:rPr>
              <a:t>&lt;</a:t>
            </a:r>
            <a:r>
              <a:rPr lang="fr-CA" sz="1400" dirty="0" err="1">
                <a:solidFill>
                  <a:srgbClr val="000000"/>
                </a:solidFill>
                <a:latin typeface="Consolas" panose="020B0609020204030204" pitchFamily="49" charset="0"/>
              </a:rPr>
              <a:t>SystèmeGestionStationServiceContext</a:t>
            </a:r>
            <a:r>
              <a:rPr lang="fr-CA" sz="1400" dirty="0">
                <a:solidFill>
                  <a:srgbClr val="000000"/>
                </a:solidFill>
                <a:latin typeface="Consolas" panose="020B0609020204030204" pitchFamily="49" charset="0"/>
              </a:rPr>
              <a:t>&gt; </a:t>
            </a:r>
            <a:r>
              <a:rPr lang="fr-CA" sz="1400" dirty="0" err="1">
                <a:solidFill>
                  <a:srgbClr val="000000"/>
                </a:solidFill>
                <a:latin typeface="Consolas" panose="020B0609020204030204" pitchFamily="49" charset="0"/>
              </a:rPr>
              <a:t>dbOptions</a:t>
            </a:r>
            <a:r>
              <a:rPr lang="fr-CA" sz="1400" dirty="0">
                <a:solidFill>
                  <a:srgbClr val="000000"/>
                </a:solidFill>
                <a:latin typeface="Consolas" panose="020B0609020204030204" pitchFamily="49" charset="0"/>
              </a:rPr>
              <a:t> = </a:t>
            </a:r>
          </a:p>
          <a:p>
            <a:r>
              <a:rPr lang="fr-CA" sz="1400" dirty="0">
                <a:solidFill>
                  <a:srgbClr val="000000"/>
                </a:solidFill>
                <a:latin typeface="Consolas" panose="020B0609020204030204" pitchFamily="49" charset="0"/>
              </a:rPr>
              <a:t>    </a:t>
            </a:r>
            <a:r>
              <a:rPr lang="fr-CA" sz="1400" dirty="0">
                <a:solidFill>
                  <a:srgbClr val="0000FF"/>
                </a:solidFill>
                <a:latin typeface="Consolas" panose="020B0609020204030204" pitchFamily="49" charset="0"/>
              </a:rPr>
              <a:t>new</a:t>
            </a:r>
            <a:r>
              <a:rPr lang="fr-CA" sz="1400" dirty="0">
                <a:solidFill>
                  <a:srgbClr val="000000"/>
                </a:solidFill>
                <a:latin typeface="Consolas" panose="020B0609020204030204" pitchFamily="49" charset="0"/>
              </a:rPr>
              <a:t> </a:t>
            </a:r>
            <a:r>
              <a:rPr lang="fr-CA" sz="1400" dirty="0" err="1">
                <a:solidFill>
                  <a:srgbClr val="000000"/>
                </a:solidFill>
                <a:latin typeface="Consolas" panose="020B0609020204030204" pitchFamily="49" charset="0"/>
              </a:rPr>
              <a:t>DbContextOptionsBuilder</a:t>
            </a:r>
            <a:r>
              <a:rPr lang="fr-CA" sz="1400" dirty="0">
                <a:solidFill>
                  <a:srgbClr val="000000"/>
                </a:solidFill>
                <a:latin typeface="Consolas" panose="020B0609020204030204" pitchFamily="49" charset="0"/>
              </a:rPr>
              <a:t>&lt;</a:t>
            </a:r>
            <a:r>
              <a:rPr lang="fr-CA" sz="1400" dirty="0" err="1">
                <a:solidFill>
                  <a:srgbClr val="000000"/>
                </a:solidFill>
                <a:latin typeface="Consolas" panose="020B0609020204030204" pitchFamily="49" charset="0"/>
              </a:rPr>
              <a:t>SystèmeGestionStationServiceContext</a:t>
            </a:r>
            <a:r>
              <a:rPr lang="fr-CA" sz="1400" dirty="0">
                <a:solidFill>
                  <a:srgbClr val="000000"/>
                </a:solidFill>
                <a:latin typeface="Consolas" panose="020B0609020204030204" pitchFamily="49" charset="0"/>
              </a:rPr>
              <a:t>&gt;()</a:t>
            </a:r>
          </a:p>
          <a:p>
            <a:r>
              <a:rPr lang="fr-CA" sz="1400" dirty="0">
                <a:solidFill>
                  <a:srgbClr val="000000"/>
                </a:solidFill>
                <a:latin typeface="Consolas" panose="020B0609020204030204" pitchFamily="49" charset="0"/>
              </a:rPr>
              <a:t>    </a:t>
            </a:r>
            <a:r>
              <a:rPr lang="fr-CA" sz="1300" dirty="0">
                <a:solidFill>
                  <a:srgbClr val="000000"/>
                </a:solidFill>
                <a:latin typeface="Consolas" panose="020B0609020204030204" pitchFamily="49" charset="0"/>
              </a:rPr>
              <a:t>.</a:t>
            </a:r>
            <a:r>
              <a:rPr lang="fr-CA" sz="1300" dirty="0" err="1">
                <a:solidFill>
                  <a:srgbClr val="000000"/>
                </a:solidFill>
                <a:latin typeface="Consolas" panose="020B0609020204030204" pitchFamily="49" charset="0"/>
              </a:rPr>
              <a:t>UseInMemoryDatabase</a:t>
            </a:r>
            <a:r>
              <a:rPr lang="fr-CA" sz="1300" dirty="0">
                <a:solidFill>
                  <a:srgbClr val="000000"/>
                </a:solidFill>
                <a:latin typeface="Consolas" panose="020B0609020204030204" pitchFamily="49" charset="0"/>
              </a:rPr>
              <a:t>(</a:t>
            </a:r>
            <a:r>
              <a:rPr lang="fr-CA" sz="1300" dirty="0" err="1">
                <a:solidFill>
                  <a:srgbClr val="000000"/>
                </a:solidFill>
                <a:latin typeface="Consolas" panose="020B0609020204030204" pitchFamily="49" charset="0"/>
              </a:rPr>
              <a:t>databaseName</a:t>
            </a:r>
            <a:r>
              <a:rPr lang="fr-CA" sz="1300" dirty="0">
                <a:solidFill>
                  <a:srgbClr val="000000"/>
                </a:solidFill>
                <a:latin typeface="Consolas" panose="020B0609020204030204" pitchFamily="49" charset="0"/>
              </a:rPr>
              <a:t>: </a:t>
            </a:r>
            <a:r>
              <a:rPr lang="fr-CA" sz="1300" dirty="0">
                <a:solidFill>
                  <a:srgbClr val="A31515"/>
                </a:solidFill>
                <a:latin typeface="Consolas" panose="020B0609020204030204" pitchFamily="49" charset="0"/>
              </a:rPr>
              <a:t>"</a:t>
            </a:r>
            <a:r>
              <a:rPr lang="fr-CA" sz="1300" dirty="0" err="1">
                <a:solidFill>
                  <a:srgbClr val="A31515"/>
                </a:solidFill>
                <a:latin typeface="Consolas" panose="020B0609020204030204" pitchFamily="49" charset="0"/>
              </a:rPr>
              <a:t>Repositories.ClientRepositoryTest.ListAsync</a:t>
            </a:r>
            <a:r>
              <a:rPr lang="fr-CA" sz="1300" dirty="0">
                <a:solidFill>
                  <a:srgbClr val="A31515"/>
                </a:solidFill>
                <a:latin typeface="Consolas" panose="020B0609020204030204" pitchFamily="49" charset="0"/>
              </a:rPr>
              <a:t>"</a:t>
            </a:r>
            <a:r>
              <a:rPr lang="fr-CA" sz="1300" dirty="0">
                <a:solidFill>
                  <a:srgbClr val="000000"/>
                </a:solidFill>
                <a:latin typeface="Consolas" panose="020B0609020204030204" pitchFamily="49" charset="0"/>
              </a:rPr>
              <a:t>)</a:t>
            </a:r>
          </a:p>
          <a:p>
            <a:r>
              <a:rPr lang="fr-CA" sz="1400" dirty="0">
                <a:solidFill>
                  <a:srgbClr val="000000"/>
                </a:solidFill>
                <a:latin typeface="Consolas" panose="020B0609020204030204" pitchFamily="49" charset="0"/>
              </a:rPr>
              <a:t>    .Options;</a:t>
            </a:r>
          </a:p>
          <a:p>
            <a:r>
              <a:rPr lang="fr-CA" sz="1400" dirty="0">
                <a:solidFill>
                  <a:srgbClr val="000000"/>
                </a:solidFill>
                <a:latin typeface="Consolas" panose="020B0609020204030204" pitchFamily="49" charset="0"/>
              </a:rPr>
              <a:t>   _</a:t>
            </a:r>
            <a:r>
              <a:rPr lang="fr-CA" sz="1400" dirty="0" err="1">
                <a:solidFill>
                  <a:srgbClr val="000000"/>
                </a:solidFill>
                <a:latin typeface="Consolas" panose="020B0609020204030204" pitchFamily="49" charset="0"/>
              </a:rPr>
              <a:t>context</a:t>
            </a:r>
            <a:r>
              <a:rPr lang="fr-CA" sz="1400" dirty="0">
                <a:solidFill>
                  <a:srgbClr val="000000"/>
                </a:solidFill>
                <a:latin typeface="Consolas" panose="020B0609020204030204" pitchFamily="49" charset="0"/>
              </a:rPr>
              <a:t> = </a:t>
            </a:r>
            <a:r>
              <a:rPr lang="fr-CA" sz="1400" dirty="0">
                <a:solidFill>
                  <a:srgbClr val="0000FF"/>
                </a:solidFill>
                <a:latin typeface="Consolas" panose="020B0609020204030204" pitchFamily="49" charset="0"/>
              </a:rPr>
              <a:t>new</a:t>
            </a:r>
            <a:r>
              <a:rPr lang="fr-CA" sz="1400" dirty="0">
                <a:solidFill>
                  <a:srgbClr val="000000"/>
                </a:solidFill>
                <a:latin typeface="Consolas" panose="020B0609020204030204" pitchFamily="49" charset="0"/>
              </a:rPr>
              <a:t> </a:t>
            </a:r>
            <a:r>
              <a:rPr lang="fr-CA" sz="1400" dirty="0" err="1">
                <a:solidFill>
                  <a:srgbClr val="000000"/>
                </a:solidFill>
                <a:latin typeface="Consolas" panose="020B0609020204030204" pitchFamily="49" charset="0"/>
              </a:rPr>
              <a:t>SystèmeGestionStationServiceContext</a:t>
            </a:r>
            <a:r>
              <a:rPr lang="fr-CA" sz="1400" dirty="0">
                <a:solidFill>
                  <a:srgbClr val="000000"/>
                </a:solidFill>
                <a:latin typeface="Consolas" panose="020B0609020204030204" pitchFamily="49" charset="0"/>
              </a:rPr>
              <a:t>(</a:t>
            </a:r>
            <a:r>
              <a:rPr lang="fr-CA" sz="1400" dirty="0" err="1">
                <a:solidFill>
                  <a:srgbClr val="000000"/>
                </a:solidFill>
                <a:latin typeface="Consolas" panose="020B0609020204030204" pitchFamily="49" charset="0"/>
              </a:rPr>
              <a:t>dbOptions</a:t>
            </a:r>
            <a:r>
              <a:rPr lang="fr-CA" sz="1400" dirty="0">
                <a:solidFill>
                  <a:srgbClr val="000000"/>
                </a:solidFill>
                <a:latin typeface="Consolas" panose="020B0609020204030204" pitchFamily="49" charset="0"/>
              </a:rPr>
              <a:t>);</a:t>
            </a:r>
          </a:p>
          <a:p>
            <a:r>
              <a:rPr lang="fr-CA" sz="1400" dirty="0">
                <a:solidFill>
                  <a:srgbClr val="000000"/>
                </a:solidFill>
                <a:latin typeface="Consolas" panose="020B0609020204030204" pitchFamily="49" charset="0"/>
              </a:rPr>
              <a:t>   _</a:t>
            </a:r>
            <a:r>
              <a:rPr lang="fr-CA" sz="1400" dirty="0" err="1">
                <a:solidFill>
                  <a:srgbClr val="000000"/>
                </a:solidFill>
                <a:latin typeface="Consolas" panose="020B0609020204030204" pitchFamily="49" charset="0"/>
              </a:rPr>
              <a:t>ClientRepository</a:t>
            </a:r>
            <a:r>
              <a:rPr lang="fr-CA" sz="1400" dirty="0">
                <a:solidFill>
                  <a:srgbClr val="000000"/>
                </a:solidFill>
                <a:latin typeface="Consolas" panose="020B0609020204030204" pitchFamily="49" charset="0"/>
              </a:rPr>
              <a:t> = </a:t>
            </a:r>
            <a:r>
              <a:rPr lang="fr-CA" sz="1400" dirty="0">
                <a:solidFill>
                  <a:srgbClr val="0000FF"/>
                </a:solidFill>
                <a:latin typeface="Consolas" panose="020B0609020204030204" pitchFamily="49" charset="0"/>
              </a:rPr>
              <a:t>new</a:t>
            </a:r>
            <a:r>
              <a:rPr lang="fr-CA" sz="1400" dirty="0">
                <a:solidFill>
                  <a:srgbClr val="000000"/>
                </a:solidFill>
                <a:latin typeface="Consolas" panose="020B0609020204030204" pitchFamily="49" charset="0"/>
              </a:rPr>
              <a:t> </a:t>
            </a:r>
            <a:r>
              <a:rPr lang="fr-CA" sz="1400" dirty="0" err="1">
                <a:solidFill>
                  <a:srgbClr val="000000"/>
                </a:solidFill>
                <a:latin typeface="Consolas" panose="020B0609020204030204" pitchFamily="49" charset="0"/>
              </a:rPr>
              <a:t>ClientRepository</a:t>
            </a:r>
            <a:r>
              <a:rPr lang="fr-CA" sz="1400" dirty="0">
                <a:solidFill>
                  <a:srgbClr val="000000"/>
                </a:solidFill>
                <a:latin typeface="Consolas" panose="020B0609020204030204" pitchFamily="49" charset="0"/>
              </a:rPr>
              <a:t>(_</a:t>
            </a:r>
            <a:r>
              <a:rPr lang="fr-CA" sz="1400" dirty="0" err="1">
                <a:solidFill>
                  <a:srgbClr val="000000"/>
                </a:solidFill>
                <a:latin typeface="Consolas" panose="020B0609020204030204" pitchFamily="49" charset="0"/>
              </a:rPr>
              <a:t>context</a:t>
            </a:r>
            <a:r>
              <a:rPr lang="fr-CA" sz="1400" dirty="0">
                <a:solidFill>
                  <a:srgbClr val="000000"/>
                </a:solidFill>
                <a:latin typeface="Consolas" panose="020B0609020204030204" pitchFamily="49" charset="0"/>
              </a:rPr>
              <a:t>);</a:t>
            </a:r>
          </a:p>
          <a:p>
            <a:r>
              <a:rPr lang="fr-CA" sz="1400" dirty="0">
                <a:solidFill>
                  <a:srgbClr val="000000"/>
                </a:solidFill>
                <a:latin typeface="Consolas" panose="020B0609020204030204" pitchFamily="49" charset="0"/>
              </a:rPr>
              <a:t>   </a:t>
            </a:r>
            <a:r>
              <a:rPr lang="fr-CA" sz="1400" dirty="0" err="1">
                <a:solidFill>
                  <a:srgbClr val="000000"/>
                </a:solidFill>
                <a:latin typeface="Consolas" panose="020B0609020204030204" pitchFamily="49" charset="0"/>
              </a:rPr>
              <a:t>InsertData</a:t>
            </a:r>
            <a:r>
              <a:rPr lang="fr-CA" sz="1400" dirty="0">
                <a:solidFill>
                  <a:srgbClr val="000000"/>
                </a:solidFill>
                <a:latin typeface="Consolas" panose="020B0609020204030204" pitchFamily="49" charset="0"/>
              </a:rPr>
              <a:t>();</a:t>
            </a:r>
          </a:p>
          <a:p>
            <a:r>
              <a:rPr lang="fr-CA" sz="1400" dirty="0">
                <a:solidFill>
                  <a:srgbClr val="000000"/>
                </a:solidFill>
                <a:latin typeface="Consolas" panose="020B0609020204030204" pitchFamily="49" charset="0"/>
              </a:rPr>
              <a:t> }</a:t>
            </a:r>
            <a:endParaRPr lang="fr-CA" sz="1400" dirty="0"/>
          </a:p>
        </p:txBody>
      </p:sp>
      <p:sp>
        <p:nvSpPr>
          <p:cNvPr id="6" name="Espace réservé du numéro de diapositive 5">
            <a:extLst>
              <a:ext uri="{FF2B5EF4-FFF2-40B4-BE49-F238E27FC236}">
                <a16:creationId xmlns:a16="http://schemas.microsoft.com/office/drawing/2014/main" id="{2A17F017-B5C3-4B5F-BCEB-03B999876EBD}"/>
              </a:ext>
            </a:extLst>
          </p:cNvPr>
          <p:cNvSpPr>
            <a:spLocks noGrp="1"/>
          </p:cNvSpPr>
          <p:nvPr>
            <p:ph type="sldNum" sz="quarter" idx="12"/>
          </p:nvPr>
        </p:nvSpPr>
        <p:spPr/>
        <p:txBody>
          <a:bodyPr/>
          <a:lstStyle/>
          <a:p>
            <a:pPr>
              <a:defRPr/>
            </a:pPr>
            <a:fld id="{7FEE665E-3450-413D-913D-057FF7C87532}" type="slidenum">
              <a:rPr lang="en-US" altLang="en-US" smtClean="0"/>
              <a:pPr>
                <a:defRPr/>
              </a:pPr>
              <a:t>88</a:t>
            </a:fld>
            <a:endParaRPr lang="en-US" altLang="en-US"/>
          </a:p>
        </p:txBody>
      </p:sp>
    </p:spTree>
    <p:extLst>
      <p:ext uri="{BB962C8B-B14F-4D97-AF65-F5344CB8AC3E}">
        <p14:creationId xmlns:p14="http://schemas.microsoft.com/office/powerpoint/2010/main" val="3607728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Tests d’intégration</a:t>
            </a:r>
          </a:p>
        </p:txBody>
      </p:sp>
      <p:sp>
        <p:nvSpPr>
          <p:cNvPr id="3" name="Espace réservé du contenu 2"/>
          <p:cNvSpPr>
            <a:spLocks noGrp="1"/>
          </p:cNvSpPr>
          <p:nvPr>
            <p:ph idx="1"/>
          </p:nvPr>
        </p:nvSpPr>
        <p:spPr/>
        <p:txBody>
          <a:bodyPr/>
          <a:lstStyle/>
          <a:p>
            <a:r>
              <a:rPr lang="fr-CA" dirty="0"/>
              <a:t>Créer la méthode </a:t>
            </a:r>
            <a:r>
              <a:rPr lang="fr-CA" dirty="0" err="1"/>
              <a:t>InsertData</a:t>
            </a:r>
            <a:r>
              <a:rPr lang="fr-CA" dirty="0"/>
              <a:t> pour initialiser la « BD »</a:t>
            </a:r>
          </a:p>
        </p:txBody>
      </p:sp>
      <p:sp>
        <p:nvSpPr>
          <p:cNvPr id="4" name="ZoneTexte 3"/>
          <p:cNvSpPr txBox="1"/>
          <p:nvPr/>
        </p:nvSpPr>
        <p:spPr>
          <a:xfrm>
            <a:off x="457200" y="2889012"/>
            <a:ext cx="7738016" cy="3108543"/>
          </a:xfrm>
          <a:prstGeom prst="rect">
            <a:avLst/>
          </a:prstGeom>
          <a:noFill/>
        </p:spPr>
        <p:txBody>
          <a:bodyPr wrap="none" rtlCol="0">
            <a:spAutoFit/>
          </a:bodyPr>
          <a:lstStyle/>
          <a:p>
            <a:r>
              <a:rPr lang="fr-CA" sz="1400" dirty="0" err="1">
                <a:solidFill>
                  <a:srgbClr val="0000FF"/>
                </a:solidFill>
                <a:latin typeface="Consolas" panose="020B0609020204030204" pitchFamily="49" charset="0"/>
              </a:rPr>
              <a:t>private</a:t>
            </a:r>
            <a:r>
              <a:rPr lang="fr-CA" sz="1400" dirty="0">
                <a:solidFill>
                  <a:srgbClr val="000000"/>
                </a:solidFill>
                <a:latin typeface="Consolas" panose="020B0609020204030204" pitchFamily="49" charset="0"/>
              </a:rPr>
              <a:t> </a:t>
            </a:r>
            <a:r>
              <a:rPr lang="fr-CA" sz="1400" dirty="0" err="1">
                <a:solidFill>
                  <a:srgbClr val="0000FF"/>
                </a:solidFill>
                <a:latin typeface="Consolas" panose="020B0609020204030204" pitchFamily="49" charset="0"/>
              </a:rPr>
              <a:t>async</a:t>
            </a:r>
            <a:r>
              <a:rPr lang="fr-CA" sz="1400" dirty="0">
                <a:solidFill>
                  <a:srgbClr val="000000"/>
                </a:solidFill>
                <a:latin typeface="Consolas" panose="020B0609020204030204" pitchFamily="49" charset="0"/>
              </a:rPr>
              <a:t> </a:t>
            </a:r>
            <a:r>
              <a:rPr lang="fr-CA" sz="1400" dirty="0" err="1">
                <a:solidFill>
                  <a:srgbClr val="000000"/>
                </a:solidFill>
                <a:latin typeface="Consolas" panose="020B0609020204030204" pitchFamily="49" charset="0"/>
              </a:rPr>
              <a:t>Task</a:t>
            </a:r>
            <a:r>
              <a:rPr lang="fr-CA" sz="1400" dirty="0">
                <a:solidFill>
                  <a:srgbClr val="000000"/>
                </a:solidFill>
                <a:latin typeface="Consolas" panose="020B0609020204030204" pitchFamily="49" charset="0"/>
              </a:rPr>
              <a:t> </a:t>
            </a:r>
            <a:r>
              <a:rPr lang="fr-CA" sz="1400" dirty="0" err="1">
                <a:solidFill>
                  <a:srgbClr val="000000"/>
                </a:solidFill>
                <a:latin typeface="Consolas" panose="020B0609020204030204" pitchFamily="49" charset="0"/>
              </a:rPr>
              <a:t>InsertData</a:t>
            </a:r>
            <a:r>
              <a:rPr lang="fr-CA" sz="1400" dirty="0">
                <a:solidFill>
                  <a:srgbClr val="000000"/>
                </a:solidFill>
                <a:latin typeface="Consolas" panose="020B0609020204030204" pitchFamily="49" charset="0"/>
              </a:rPr>
              <a:t>()</a:t>
            </a:r>
          </a:p>
          <a:p>
            <a:r>
              <a:rPr lang="fr-CA" sz="1400" dirty="0">
                <a:solidFill>
                  <a:srgbClr val="000000"/>
                </a:solidFill>
                <a:latin typeface="Consolas" panose="020B0609020204030204" pitchFamily="49" charset="0"/>
              </a:rPr>
              <a:t> {</a:t>
            </a:r>
          </a:p>
          <a:p>
            <a:r>
              <a:rPr lang="fr-CA" sz="1400" dirty="0">
                <a:solidFill>
                  <a:srgbClr val="000000"/>
                </a:solidFill>
                <a:latin typeface="Consolas" panose="020B0609020204030204" pitchFamily="49" charset="0"/>
              </a:rPr>
              <a:t>   </a:t>
            </a:r>
            <a:r>
              <a:rPr lang="fr-CA" sz="1400" dirty="0" err="1">
                <a:solidFill>
                  <a:srgbClr val="0000FF"/>
                </a:solidFill>
                <a:latin typeface="Consolas" panose="020B0609020204030204" pitchFamily="49" charset="0"/>
              </a:rPr>
              <a:t>int</a:t>
            </a:r>
            <a:r>
              <a:rPr lang="fr-CA" sz="1400" dirty="0">
                <a:solidFill>
                  <a:srgbClr val="000000"/>
                </a:solidFill>
                <a:latin typeface="Consolas" panose="020B0609020204030204" pitchFamily="49" charset="0"/>
              </a:rPr>
              <a:t> nombre = _</a:t>
            </a:r>
            <a:r>
              <a:rPr lang="fr-CA" sz="1400" dirty="0" err="1">
                <a:solidFill>
                  <a:srgbClr val="000000"/>
                </a:solidFill>
                <a:latin typeface="Consolas" panose="020B0609020204030204" pitchFamily="49" charset="0"/>
              </a:rPr>
              <a:t>context.Clients.CountAsync</a:t>
            </a:r>
            <a:r>
              <a:rPr lang="fr-CA" sz="1400" dirty="0">
                <a:solidFill>
                  <a:srgbClr val="000000"/>
                </a:solidFill>
                <a:latin typeface="Consolas" panose="020B0609020204030204" pitchFamily="49" charset="0"/>
              </a:rPr>
              <a:t>().</a:t>
            </a:r>
            <a:r>
              <a:rPr lang="fr-CA" sz="1400" dirty="0" err="1">
                <a:solidFill>
                  <a:srgbClr val="000000"/>
                </a:solidFill>
                <a:latin typeface="Consolas" panose="020B0609020204030204" pitchFamily="49" charset="0"/>
              </a:rPr>
              <a:t>Result</a:t>
            </a:r>
            <a:r>
              <a:rPr lang="fr-CA" sz="1400" dirty="0">
                <a:solidFill>
                  <a:srgbClr val="000000"/>
                </a:solidFill>
                <a:latin typeface="Consolas" panose="020B0609020204030204" pitchFamily="49" charset="0"/>
              </a:rPr>
              <a:t>;</a:t>
            </a:r>
          </a:p>
          <a:p>
            <a:r>
              <a:rPr lang="fr-CA" sz="1400" dirty="0">
                <a:solidFill>
                  <a:srgbClr val="000000"/>
                </a:solidFill>
                <a:latin typeface="Consolas" panose="020B0609020204030204" pitchFamily="49" charset="0"/>
              </a:rPr>
              <a:t>   </a:t>
            </a:r>
            <a:r>
              <a:rPr lang="fr-CA" sz="1400" dirty="0">
                <a:solidFill>
                  <a:srgbClr val="0000FF"/>
                </a:solidFill>
                <a:latin typeface="Consolas" panose="020B0609020204030204" pitchFamily="49" charset="0"/>
              </a:rPr>
              <a:t>if</a:t>
            </a:r>
            <a:r>
              <a:rPr lang="fr-CA" sz="1400" dirty="0">
                <a:solidFill>
                  <a:srgbClr val="000000"/>
                </a:solidFill>
                <a:latin typeface="Consolas" panose="020B0609020204030204" pitchFamily="49" charset="0"/>
              </a:rPr>
              <a:t> (nombre &lt;= 20)</a:t>
            </a:r>
          </a:p>
          <a:p>
            <a:r>
              <a:rPr lang="fr-CA" sz="1400" dirty="0">
                <a:solidFill>
                  <a:srgbClr val="000000"/>
                </a:solidFill>
                <a:latin typeface="Consolas" panose="020B0609020204030204" pitchFamily="49" charset="0"/>
              </a:rPr>
              <a:t>    {</a:t>
            </a:r>
          </a:p>
          <a:p>
            <a:r>
              <a:rPr lang="nn-NO" sz="1400" dirty="0">
                <a:solidFill>
                  <a:srgbClr val="000000"/>
                </a:solidFill>
                <a:latin typeface="Consolas" panose="020B0609020204030204" pitchFamily="49" charset="0"/>
              </a:rPr>
              <a:t>      </a:t>
            </a:r>
            <a:r>
              <a:rPr lang="nn-NO" sz="1400" dirty="0">
                <a:solidFill>
                  <a:srgbClr val="0000FF"/>
                </a:solidFill>
                <a:latin typeface="Consolas" panose="020B0609020204030204" pitchFamily="49" charset="0"/>
              </a:rPr>
              <a:t>for</a:t>
            </a:r>
            <a:r>
              <a:rPr lang="nn-NO" sz="1400" dirty="0">
                <a:solidFill>
                  <a:srgbClr val="000000"/>
                </a:solidFill>
                <a:latin typeface="Consolas" panose="020B0609020204030204" pitchFamily="49" charset="0"/>
              </a:rPr>
              <a:t> (</a:t>
            </a:r>
            <a:r>
              <a:rPr lang="nn-NO" sz="1400" dirty="0">
                <a:solidFill>
                  <a:srgbClr val="0000FF"/>
                </a:solidFill>
                <a:latin typeface="Consolas" panose="020B0609020204030204" pitchFamily="49" charset="0"/>
              </a:rPr>
              <a:t>int</a:t>
            </a:r>
            <a:r>
              <a:rPr lang="nn-NO" sz="1400" dirty="0">
                <a:solidFill>
                  <a:srgbClr val="000000"/>
                </a:solidFill>
                <a:latin typeface="Consolas" panose="020B0609020204030204" pitchFamily="49" charset="0"/>
              </a:rPr>
              <a:t> i = 1; i &lt;= 20; i++)</a:t>
            </a:r>
          </a:p>
          <a:p>
            <a:r>
              <a:rPr lang="fr-CA" sz="1400" dirty="0">
                <a:solidFill>
                  <a:srgbClr val="000000"/>
                </a:solidFill>
                <a:latin typeface="Consolas" panose="020B0609020204030204" pitchFamily="49" charset="0"/>
              </a:rPr>
              <a:t>       {</a:t>
            </a:r>
          </a:p>
          <a:p>
            <a:r>
              <a:rPr lang="fr-CA" sz="1400" dirty="0">
                <a:solidFill>
                  <a:srgbClr val="000000"/>
                </a:solidFill>
                <a:latin typeface="Consolas" panose="020B0609020204030204" pitchFamily="49" charset="0"/>
              </a:rPr>
              <a:t>         Client </a:t>
            </a:r>
            <a:r>
              <a:rPr lang="fr-CA" sz="1400" dirty="0" err="1">
                <a:solidFill>
                  <a:srgbClr val="000000"/>
                </a:solidFill>
                <a:latin typeface="Consolas" panose="020B0609020204030204" pitchFamily="49" charset="0"/>
              </a:rPr>
              <a:t>client</a:t>
            </a:r>
            <a:r>
              <a:rPr lang="fr-CA" sz="1400" dirty="0">
                <a:solidFill>
                  <a:srgbClr val="000000"/>
                </a:solidFill>
                <a:latin typeface="Consolas" panose="020B0609020204030204" pitchFamily="49" charset="0"/>
              </a:rPr>
              <a:t> = </a:t>
            </a:r>
            <a:r>
              <a:rPr lang="fr-CA" sz="1400" dirty="0">
                <a:solidFill>
                  <a:srgbClr val="0000FF"/>
                </a:solidFill>
                <a:latin typeface="Consolas" panose="020B0609020204030204" pitchFamily="49" charset="0"/>
              </a:rPr>
              <a:t>new</a:t>
            </a:r>
            <a:r>
              <a:rPr lang="fr-CA" sz="1400" dirty="0">
                <a:solidFill>
                  <a:srgbClr val="000000"/>
                </a:solidFill>
                <a:latin typeface="Consolas" panose="020B0609020204030204" pitchFamily="49" charset="0"/>
              </a:rPr>
              <a:t> Client(</a:t>
            </a:r>
            <a:r>
              <a:rPr lang="fr-CA" sz="1400" dirty="0">
                <a:solidFill>
                  <a:srgbClr val="A31515"/>
                </a:solidFill>
                <a:latin typeface="Consolas" panose="020B0609020204030204" pitchFamily="49" charset="0"/>
              </a:rPr>
              <a:t>"Nom"</a:t>
            </a:r>
            <a:r>
              <a:rPr lang="fr-CA" sz="1400" dirty="0">
                <a:solidFill>
                  <a:srgbClr val="000000"/>
                </a:solidFill>
                <a:latin typeface="Consolas" panose="020B0609020204030204" pitchFamily="49" charset="0"/>
              </a:rPr>
              <a:t> + i, </a:t>
            </a:r>
            <a:r>
              <a:rPr lang="fr-CA" sz="1400" dirty="0">
                <a:solidFill>
                  <a:srgbClr val="A31515"/>
                </a:solidFill>
                <a:latin typeface="Consolas" panose="020B0609020204030204" pitchFamily="49" charset="0"/>
              </a:rPr>
              <a:t>"Prénom"</a:t>
            </a:r>
            <a:r>
              <a:rPr lang="fr-CA" sz="1400" dirty="0">
                <a:solidFill>
                  <a:srgbClr val="000000"/>
                </a:solidFill>
                <a:latin typeface="Consolas" panose="020B0609020204030204" pitchFamily="49" charset="0"/>
              </a:rPr>
              <a:t> + i, </a:t>
            </a:r>
            <a:r>
              <a:rPr lang="fr-CA" sz="1400" dirty="0">
                <a:solidFill>
                  <a:srgbClr val="A31515"/>
                </a:solidFill>
                <a:latin typeface="Consolas" panose="020B0609020204030204" pitchFamily="49" charset="0"/>
              </a:rPr>
              <a:t>"adresse"</a:t>
            </a:r>
            <a:r>
              <a:rPr lang="fr-CA" sz="1400" dirty="0">
                <a:solidFill>
                  <a:srgbClr val="000000"/>
                </a:solidFill>
                <a:latin typeface="Consolas" panose="020B0609020204030204" pitchFamily="49" charset="0"/>
              </a:rPr>
              <a:t> + i, </a:t>
            </a:r>
          </a:p>
          <a:p>
            <a:r>
              <a:rPr lang="fr-CA" sz="1400" dirty="0">
                <a:solidFill>
                  <a:srgbClr val="000000"/>
                </a:solidFill>
                <a:latin typeface="Consolas" panose="020B0609020204030204" pitchFamily="49" charset="0"/>
              </a:rPr>
              <a:t>                                    </a:t>
            </a:r>
            <a:r>
              <a:rPr lang="fr-CA" sz="1400" dirty="0">
                <a:solidFill>
                  <a:srgbClr val="A31515"/>
                </a:solidFill>
                <a:latin typeface="Consolas" panose="020B0609020204030204" pitchFamily="49" charset="0"/>
              </a:rPr>
              <a:t>"téléphone"</a:t>
            </a:r>
            <a:r>
              <a:rPr lang="fr-CA" sz="1400" dirty="0">
                <a:solidFill>
                  <a:srgbClr val="000000"/>
                </a:solidFill>
                <a:latin typeface="Consolas" panose="020B0609020204030204" pitchFamily="49" charset="0"/>
              </a:rPr>
              <a:t> + i);</a:t>
            </a:r>
          </a:p>
          <a:p>
            <a:r>
              <a:rPr lang="fr-CA" sz="1400" dirty="0">
                <a:solidFill>
                  <a:srgbClr val="000000"/>
                </a:solidFill>
                <a:latin typeface="Consolas" panose="020B0609020204030204" pitchFamily="49" charset="0"/>
              </a:rPr>
              <a:t>         _ = </a:t>
            </a:r>
            <a:r>
              <a:rPr lang="fr-CA" sz="1400" dirty="0" err="1">
                <a:solidFill>
                  <a:srgbClr val="0000FF"/>
                </a:solidFill>
                <a:latin typeface="Consolas" panose="020B0609020204030204" pitchFamily="49" charset="0"/>
              </a:rPr>
              <a:t>await</a:t>
            </a:r>
            <a:r>
              <a:rPr lang="fr-CA" sz="1400" dirty="0">
                <a:solidFill>
                  <a:srgbClr val="000000"/>
                </a:solidFill>
                <a:latin typeface="Consolas" panose="020B0609020204030204" pitchFamily="49" charset="0"/>
              </a:rPr>
              <a:t> _</a:t>
            </a:r>
            <a:r>
              <a:rPr lang="fr-CA" sz="1400" dirty="0" err="1">
                <a:solidFill>
                  <a:srgbClr val="000000"/>
                </a:solidFill>
                <a:latin typeface="Consolas" panose="020B0609020204030204" pitchFamily="49" charset="0"/>
              </a:rPr>
              <a:t>ClientRepository.AddAsync</a:t>
            </a:r>
            <a:r>
              <a:rPr lang="fr-CA" sz="1400" dirty="0">
                <a:solidFill>
                  <a:srgbClr val="000000"/>
                </a:solidFill>
                <a:latin typeface="Consolas" panose="020B0609020204030204" pitchFamily="49" charset="0"/>
              </a:rPr>
              <a:t>(client);</a:t>
            </a:r>
          </a:p>
          <a:p>
            <a:r>
              <a:rPr lang="fr-CA" sz="1400" dirty="0">
                <a:solidFill>
                  <a:srgbClr val="000000"/>
                </a:solidFill>
                <a:latin typeface="Consolas" panose="020B0609020204030204" pitchFamily="49" charset="0"/>
              </a:rPr>
              <a:t>       }</a:t>
            </a:r>
          </a:p>
          <a:p>
            <a:r>
              <a:rPr lang="fr-CA" sz="1400" dirty="0">
                <a:solidFill>
                  <a:srgbClr val="000000"/>
                </a:solidFill>
                <a:latin typeface="Consolas" panose="020B0609020204030204" pitchFamily="49" charset="0"/>
              </a:rPr>
              <a:t>      _</a:t>
            </a:r>
            <a:r>
              <a:rPr lang="fr-CA" sz="1400" dirty="0" err="1">
                <a:solidFill>
                  <a:srgbClr val="000000"/>
                </a:solidFill>
                <a:latin typeface="Consolas" panose="020B0609020204030204" pitchFamily="49" charset="0"/>
              </a:rPr>
              <a:t>context.SaveChanges</a:t>
            </a:r>
            <a:r>
              <a:rPr lang="fr-CA" sz="1400" dirty="0">
                <a:solidFill>
                  <a:srgbClr val="000000"/>
                </a:solidFill>
                <a:latin typeface="Consolas" panose="020B0609020204030204" pitchFamily="49" charset="0"/>
              </a:rPr>
              <a:t>();</a:t>
            </a:r>
          </a:p>
          <a:p>
            <a:r>
              <a:rPr lang="fr-CA" sz="1400" dirty="0">
                <a:solidFill>
                  <a:srgbClr val="000000"/>
                </a:solidFill>
                <a:latin typeface="Consolas" panose="020B0609020204030204" pitchFamily="49" charset="0"/>
              </a:rPr>
              <a:t>    }</a:t>
            </a:r>
          </a:p>
          <a:p>
            <a:r>
              <a:rPr lang="fr-CA" sz="1400" dirty="0">
                <a:solidFill>
                  <a:srgbClr val="000000"/>
                </a:solidFill>
                <a:latin typeface="Consolas" panose="020B0609020204030204" pitchFamily="49" charset="0"/>
              </a:rPr>
              <a:t> }</a:t>
            </a:r>
            <a:endParaRPr lang="fr-CA" sz="1400" dirty="0"/>
          </a:p>
        </p:txBody>
      </p:sp>
      <p:sp>
        <p:nvSpPr>
          <p:cNvPr id="5" name="Espace réservé du numéro de diapositive 4">
            <a:extLst>
              <a:ext uri="{FF2B5EF4-FFF2-40B4-BE49-F238E27FC236}">
                <a16:creationId xmlns:a16="http://schemas.microsoft.com/office/drawing/2014/main" id="{A72F2014-7FB3-4BF6-B446-1C9D5E64AF04}"/>
              </a:ext>
            </a:extLst>
          </p:cNvPr>
          <p:cNvSpPr>
            <a:spLocks noGrp="1"/>
          </p:cNvSpPr>
          <p:nvPr>
            <p:ph type="sldNum" sz="quarter" idx="12"/>
          </p:nvPr>
        </p:nvSpPr>
        <p:spPr/>
        <p:txBody>
          <a:bodyPr/>
          <a:lstStyle/>
          <a:p>
            <a:pPr>
              <a:defRPr/>
            </a:pPr>
            <a:fld id="{7FEE665E-3450-413D-913D-057FF7C87532}" type="slidenum">
              <a:rPr lang="en-US" altLang="en-US" smtClean="0"/>
              <a:pPr>
                <a:defRPr/>
              </a:pPr>
              <a:t>89</a:t>
            </a:fld>
            <a:endParaRPr lang="en-US" altLang="en-US"/>
          </a:p>
        </p:txBody>
      </p:sp>
    </p:spTree>
    <p:extLst>
      <p:ext uri="{BB962C8B-B14F-4D97-AF65-F5344CB8AC3E}">
        <p14:creationId xmlns:p14="http://schemas.microsoft.com/office/powerpoint/2010/main" val="3002485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a:bodyPr>
          <a:lstStyle/>
          <a:p>
            <a:r>
              <a:rPr lang="fr-CA" dirty="0"/>
              <a:t>Tests d’intégration</a:t>
            </a:r>
            <a:endParaRPr lang="fr-CA" sz="4400" dirty="0"/>
          </a:p>
        </p:txBody>
      </p:sp>
      <p:sp>
        <p:nvSpPr>
          <p:cNvPr id="4099" name="Espace réservé du numéro de diapositive 4"/>
          <p:cNvSpPr>
            <a:spLocks noGrp="1"/>
          </p:cNvSpPr>
          <p:nvPr>
            <p:ph type="sldNum" sz="quarter" idx="12"/>
            <p:custDataLst>
              <p:tags r:id="rId2"/>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90</a:t>
            </a:fld>
            <a:endParaRPr lang="en-US" altLang="en-US"/>
          </a:p>
        </p:txBody>
      </p:sp>
      <p:sp>
        <p:nvSpPr>
          <p:cNvPr id="3" name="Espace réservé du contenu 2">
            <a:extLst>
              <a:ext uri="{FF2B5EF4-FFF2-40B4-BE49-F238E27FC236}">
                <a16:creationId xmlns:a16="http://schemas.microsoft.com/office/drawing/2014/main" id="{7B080AA6-86A5-43DE-BE64-D17E294DCE21}"/>
              </a:ext>
            </a:extLst>
          </p:cNvPr>
          <p:cNvSpPr>
            <a:spLocks noGrp="1"/>
          </p:cNvSpPr>
          <p:nvPr>
            <p:ph idx="1"/>
          </p:nvPr>
        </p:nvSpPr>
        <p:spPr/>
        <p:txBody>
          <a:bodyPr>
            <a:normAutofit/>
          </a:bodyPr>
          <a:lstStyle/>
          <a:p>
            <a:r>
              <a:rPr lang="fr-CA" sz="2400" dirty="0"/>
              <a:t>Créer la méthode de test:</a:t>
            </a:r>
          </a:p>
        </p:txBody>
      </p:sp>
      <p:sp>
        <p:nvSpPr>
          <p:cNvPr id="7" name="ZoneTexte 6">
            <a:extLst>
              <a:ext uri="{FF2B5EF4-FFF2-40B4-BE49-F238E27FC236}">
                <a16:creationId xmlns:a16="http://schemas.microsoft.com/office/drawing/2014/main" id="{367DDD28-E666-46E4-90FF-C854A1067146}"/>
              </a:ext>
            </a:extLst>
          </p:cNvPr>
          <p:cNvSpPr txBox="1"/>
          <p:nvPr/>
        </p:nvSpPr>
        <p:spPr>
          <a:xfrm>
            <a:off x="213350" y="2204864"/>
            <a:ext cx="8930650" cy="3108543"/>
          </a:xfrm>
          <a:prstGeom prst="rect">
            <a:avLst/>
          </a:prstGeom>
          <a:noFill/>
        </p:spPr>
        <p:txBody>
          <a:bodyPr wrap="none" rtlCol="0">
            <a:spAutoFit/>
          </a:bodyPr>
          <a:lstStyle/>
          <a:p>
            <a:r>
              <a:rPr lang="fr-CA" sz="1100" dirty="0"/>
              <a:t>  </a:t>
            </a:r>
            <a:r>
              <a:rPr lang="fr-CA" sz="1400" dirty="0">
                <a:solidFill>
                  <a:srgbClr val="000000"/>
                </a:solidFill>
                <a:latin typeface="Consolas" panose="020B0609020204030204" pitchFamily="49" charset="0"/>
              </a:rPr>
              <a:t>[Theory]</a:t>
            </a:r>
          </a:p>
          <a:p>
            <a:r>
              <a:rPr lang="fr-CA" sz="1400" dirty="0">
                <a:solidFill>
                  <a:srgbClr val="000000"/>
                </a:solidFill>
                <a:latin typeface="Consolas" panose="020B0609020204030204" pitchFamily="49" charset="0"/>
              </a:rPr>
              <a:t> [</a:t>
            </a:r>
            <a:r>
              <a:rPr lang="fr-CA" sz="1400" dirty="0" err="1">
                <a:solidFill>
                  <a:srgbClr val="000000"/>
                </a:solidFill>
                <a:latin typeface="Consolas" panose="020B0609020204030204" pitchFamily="49" charset="0"/>
              </a:rPr>
              <a:t>InlineData</a:t>
            </a:r>
            <a:r>
              <a:rPr lang="fr-CA" sz="1400" dirty="0">
                <a:solidFill>
                  <a:srgbClr val="000000"/>
                </a:solidFill>
                <a:latin typeface="Consolas" panose="020B0609020204030204" pitchFamily="49" charset="0"/>
              </a:rPr>
              <a:t>(</a:t>
            </a:r>
            <a:r>
              <a:rPr lang="fr-CA" sz="1400" dirty="0">
                <a:solidFill>
                  <a:srgbClr val="A31515"/>
                </a:solidFill>
                <a:latin typeface="Consolas" panose="020B0609020204030204" pitchFamily="49" charset="0"/>
              </a:rPr>
              <a:t>"Khriss"</a:t>
            </a:r>
            <a:r>
              <a:rPr lang="fr-CA" sz="1400" dirty="0">
                <a:solidFill>
                  <a:srgbClr val="000000"/>
                </a:solidFill>
                <a:latin typeface="Consolas" panose="020B0609020204030204" pitchFamily="49" charset="0"/>
              </a:rPr>
              <a:t>, 0, </a:t>
            </a:r>
            <a:r>
              <a:rPr lang="fr-CA" sz="1400" dirty="0" err="1">
                <a:solidFill>
                  <a:srgbClr val="0000FF"/>
                </a:solidFill>
                <a:latin typeface="Consolas" panose="020B0609020204030204" pitchFamily="49" charset="0"/>
              </a:rPr>
              <a:t>int</a:t>
            </a:r>
            <a:r>
              <a:rPr lang="fr-CA" sz="1400" dirty="0" err="1">
                <a:solidFill>
                  <a:srgbClr val="000000"/>
                </a:solidFill>
                <a:latin typeface="Consolas" panose="020B0609020204030204" pitchFamily="49" charset="0"/>
              </a:rPr>
              <a:t>.MaxValue</a:t>
            </a:r>
            <a:r>
              <a:rPr lang="fr-CA" sz="1400" dirty="0">
                <a:solidFill>
                  <a:srgbClr val="000000"/>
                </a:solidFill>
                <a:latin typeface="Consolas" panose="020B0609020204030204" pitchFamily="49" charset="0"/>
              </a:rPr>
              <a:t>, 0)]</a:t>
            </a:r>
          </a:p>
          <a:p>
            <a:r>
              <a:rPr lang="nn-NO" sz="1400" dirty="0">
                <a:solidFill>
                  <a:srgbClr val="000000"/>
                </a:solidFill>
                <a:latin typeface="Consolas" panose="020B0609020204030204" pitchFamily="49" charset="0"/>
              </a:rPr>
              <a:t> [InlineData(</a:t>
            </a:r>
            <a:r>
              <a:rPr lang="nn-NO" sz="1400" dirty="0">
                <a:solidFill>
                  <a:srgbClr val="A31515"/>
                </a:solidFill>
                <a:latin typeface="Consolas" panose="020B0609020204030204" pitchFamily="49" charset="0"/>
              </a:rPr>
              <a:t>"Nom"</a:t>
            </a:r>
            <a:r>
              <a:rPr lang="nn-NO" sz="1400" dirty="0">
                <a:solidFill>
                  <a:srgbClr val="000000"/>
                </a:solidFill>
                <a:latin typeface="Consolas" panose="020B0609020204030204" pitchFamily="49" charset="0"/>
              </a:rPr>
              <a:t>, 0, </a:t>
            </a:r>
            <a:r>
              <a:rPr lang="nn-NO" sz="1400" dirty="0">
                <a:solidFill>
                  <a:srgbClr val="0000FF"/>
                </a:solidFill>
                <a:latin typeface="Consolas" panose="020B0609020204030204" pitchFamily="49" charset="0"/>
              </a:rPr>
              <a:t>int</a:t>
            </a:r>
            <a:r>
              <a:rPr lang="nn-NO" sz="1400" dirty="0">
                <a:solidFill>
                  <a:srgbClr val="000000"/>
                </a:solidFill>
                <a:latin typeface="Consolas" panose="020B0609020204030204" pitchFamily="49" charset="0"/>
              </a:rPr>
              <a:t>.MaxValue, 20)]</a:t>
            </a:r>
          </a:p>
          <a:p>
            <a:endParaRPr lang="fr-CA" sz="1400" dirty="0">
              <a:solidFill>
                <a:srgbClr val="000000"/>
              </a:solidFill>
              <a:latin typeface="Consolas" panose="020B0609020204030204" pitchFamily="49" charset="0"/>
            </a:endParaRPr>
          </a:p>
          <a:p>
            <a:r>
              <a:rPr lang="fr-CA" sz="1400" dirty="0">
                <a:solidFill>
                  <a:srgbClr val="000000"/>
                </a:solidFill>
                <a:latin typeface="Consolas" panose="020B0609020204030204" pitchFamily="49" charset="0"/>
              </a:rPr>
              <a:t> </a:t>
            </a:r>
            <a:r>
              <a:rPr lang="fr-CA" sz="1400" dirty="0">
                <a:solidFill>
                  <a:srgbClr val="0000FF"/>
                </a:solidFill>
                <a:latin typeface="Consolas" panose="020B0609020204030204" pitchFamily="49" charset="0"/>
              </a:rPr>
              <a:t>public</a:t>
            </a:r>
            <a:r>
              <a:rPr lang="fr-CA" sz="1400" dirty="0">
                <a:solidFill>
                  <a:srgbClr val="000000"/>
                </a:solidFill>
                <a:latin typeface="Consolas" panose="020B0609020204030204" pitchFamily="49" charset="0"/>
              </a:rPr>
              <a:t> </a:t>
            </a:r>
            <a:r>
              <a:rPr lang="fr-CA" sz="1400" dirty="0" err="1">
                <a:solidFill>
                  <a:srgbClr val="0000FF"/>
                </a:solidFill>
                <a:latin typeface="Consolas" panose="020B0609020204030204" pitchFamily="49" charset="0"/>
              </a:rPr>
              <a:t>async</a:t>
            </a:r>
            <a:r>
              <a:rPr lang="fr-CA" sz="1400" dirty="0">
                <a:solidFill>
                  <a:srgbClr val="000000"/>
                </a:solidFill>
                <a:latin typeface="Consolas" panose="020B0609020204030204" pitchFamily="49" charset="0"/>
              </a:rPr>
              <a:t> </a:t>
            </a:r>
            <a:r>
              <a:rPr lang="fr-CA" sz="1400" dirty="0" err="1">
                <a:solidFill>
                  <a:srgbClr val="000000"/>
                </a:solidFill>
                <a:latin typeface="Consolas" panose="020B0609020204030204" pitchFamily="49" charset="0"/>
              </a:rPr>
              <a:t>Task</a:t>
            </a:r>
            <a:r>
              <a:rPr lang="fr-CA" sz="1400" dirty="0">
                <a:solidFill>
                  <a:srgbClr val="000000"/>
                </a:solidFill>
                <a:latin typeface="Consolas" panose="020B0609020204030204" pitchFamily="49" charset="0"/>
              </a:rPr>
              <a:t> </a:t>
            </a:r>
            <a:r>
              <a:rPr lang="fr-CA" sz="1400" dirty="0" err="1">
                <a:solidFill>
                  <a:srgbClr val="000000"/>
                </a:solidFill>
                <a:latin typeface="Consolas" panose="020B0609020204030204" pitchFamily="49" charset="0"/>
              </a:rPr>
              <a:t>ClientRechercheSpecification</a:t>
            </a:r>
            <a:r>
              <a:rPr lang="fr-CA" sz="1400" dirty="0">
                <a:solidFill>
                  <a:srgbClr val="000000"/>
                </a:solidFill>
                <a:latin typeface="Consolas" panose="020B0609020204030204" pitchFamily="49" charset="0"/>
              </a:rPr>
              <a:t>(</a:t>
            </a:r>
            <a:r>
              <a:rPr lang="fr-CA" sz="1400" dirty="0">
                <a:solidFill>
                  <a:srgbClr val="0000FF"/>
                </a:solidFill>
                <a:latin typeface="Consolas" panose="020B0609020204030204" pitchFamily="49" charset="0"/>
              </a:rPr>
              <a:t>string</a:t>
            </a:r>
            <a:r>
              <a:rPr lang="fr-CA" sz="1400" dirty="0">
                <a:solidFill>
                  <a:srgbClr val="000000"/>
                </a:solidFill>
                <a:latin typeface="Consolas" panose="020B0609020204030204" pitchFamily="49" charset="0"/>
              </a:rPr>
              <a:t> recherche, </a:t>
            </a:r>
            <a:r>
              <a:rPr lang="fr-CA" sz="1400" dirty="0" err="1">
                <a:solidFill>
                  <a:srgbClr val="0000FF"/>
                </a:solidFill>
                <a:latin typeface="Consolas" panose="020B0609020204030204" pitchFamily="49" charset="0"/>
              </a:rPr>
              <a:t>int</a:t>
            </a:r>
            <a:r>
              <a:rPr lang="fr-CA" sz="1400" dirty="0">
                <a:solidFill>
                  <a:srgbClr val="000000"/>
                </a:solidFill>
                <a:latin typeface="Consolas" panose="020B0609020204030204" pitchFamily="49" charset="0"/>
              </a:rPr>
              <a:t> item, </a:t>
            </a:r>
            <a:r>
              <a:rPr lang="fr-CA" sz="1400" dirty="0" err="1">
                <a:solidFill>
                  <a:srgbClr val="0000FF"/>
                </a:solidFill>
                <a:latin typeface="Consolas" panose="020B0609020204030204" pitchFamily="49" charset="0"/>
              </a:rPr>
              <a:t>int</a:t>
            </a:r>
            <a:r>
              <a:rPr lang="fr-CA" sz="1400" dirty="0">
                <a:solidFill>
                  <a:srgbClr val="000000"/>
                </a:solidFill>
                <a:latin typeface="Consolas" panose="020B0609020204030204" pitchFamily="49" charset="0"/>
              </a:rPr>
              <a:t> </a:t>
            </a:r>
            <a:r>
              <a:rPr lang="fr-CA" sz="1400" dirty="0" err="1">
                <a:solidFill>
                  <a:srgbClr val="000000"/>
                </a:solidFill>
                <a:latin typeface="Consolas" panose="020B0609020204030204" pitchFamily="49" charset="0"/>
              </a:rPr>
              <a:t>nbItem</a:t>
            </a:r>
            <a:r>
              <a:rPr lang="fr-CA" sz="1400" dirty="0">
                <a:solidFill>
                  <a:srgbClr val="000000"/>
                </a:solidFill>
                <a:latin typeface="Consolas" panose="020B0609020204030204" pitchFamily="49" charset="0"/>
              </a:rPr>
              <a:t>, </a:t>
            </a:r>
          </a:p>
          <a:p>
            <a:r>
              <a:rPr lang="fr-CA" sz="1400" dirty="0">
                <a:solidFill>
                  <a:srgbClr val="000000"/>
                </a:solidFill>
                <a:latin typeface="Consolas" panose="020B0609020204030204" pitchFamily="49" charset="0"/>
              </a:rPr>
              <a:t>                                                </a:t>
            </a:r>
            <a:r>
              <a:rPr lang="fr-CA" sz="1400" dirty="0" err="1">
                <a:solidFill>
                  <a:srgbClr val="0000FF"/>
                </a:solidFill>
                <a:latin typeface="Consolas" panose="020B0609020204030204" pitchFamily="49" charset="0"/>
              </a:rPr>
              <a:t>int</a:t>
            </a:r>
            <a:r>
              <a:rPr lang="fr-CA" sz="1400" dirty="0">
                <a:solidFill>
                  <a:srgbClr val="000000"/>
                </a:solidFill>
                <a:latin typeface="Consolas" panose="020B0609020204030204" pitchFamily="49" charset="0"/>
              </a:rPr>
              <a:t> count)</a:t>
            </a:r>
          </a:p>
          <a:p>
            <a:r>
              <a:rPr lang="fr-CA" sz="1400" dirty="0">
                <a:solidFill>
                  <a:srgbClr val="000000"/>
                </a:solidFill>
                <a:latin typeface="Consolas" panose="020B0609020204030204" pitchFamily="49" charset="0"/>
              </a:rPr>
              <a:t>  {</a:t>
            </a:r>
          </a:p>
          <a:p>
            <a:r>
              <a:rPr lang="fr-CA" sz="1400" dirty="0">
                <a:solidFill>
                  <a:srgbClr val="000000"/>
                </a:solidFill>
                <a:latin typeface="Consolas" panose="020B0609020204030204" pitchFamily="49" charset="0"/>
              </a:rPr>
              <a:t>    </a:t>
            </a:r>
            <a:r>
              <a:rPr lang="fr-CA" sz="1400" dirty="0" err="1">
                <a:solidFill>
                  <a:srgbClr val="000000"/>
                </a:solidFill>
                <a:latin typeface="Consolas" panose="020B0609020204030204" pitchFamily="49" charset="0"/>
              </a:rPr>
              <a:t>ClientSearchSpecification</a:t>
            </a:r>
            <a:r>
              <a:rPr lang="fr-CA" sz="1400" dirty="0">
                <a:solidFill>
                  <a:srgbClr val="000000"/>
                </a:solidFill>
                <a:latin typeface="Consolas" panose="020B0609020204030204" pitchFamily="49" charset="0"/>
              </a:rPr>
              <a:t> </a:t>
            </a:r>
            <a:r>
              <a:rPr lang="fr-CA" sz="1400" dirty="0" err="1">
                <a:solidFill>
                  <a:srgbClr val="000000"/>
                </a:solidFill>
                <a:latin typeface="Consolas" panose="020B0609020204030204" pitchFamily="49" charset="0"/>
              </a:rPr>
              <a:t>spec</a:t>
            </a:r>
            <a:r>
              <a:rPr lang="fr-CA" sz="1400" dirty="0">
                <a:solidFill>
                  <a:srgbClr val="000000"/>
                </a:solidFill>
                <a:latin typeface="Consolas" panose="020B0609020204030204" pitchFamily="49" charset="0"/>
              </a:rPr>
              <a:t> = </a:t>
            </a:r>
            <a:r>
              <a:rPr lang="fr-CA" sz="1400" dirty="0">
                <a:solidFill>
                  <a:srgbClr val="0000FF"/>
                </a:solidFill>
                <a:latin typeface="Consolas" panose="020B0609020204030204" pitchFamily="49" charset="0"/>
              </a:rPr>
              <a:t>new</a:t>
            </a:r>
            <a:r>
              <a:rPr lang="fr-CA" sz="1400" dirty="0">
                <a:solidFill>
                  <a:srgbClr val="000000"/>
                </a:solidFill>
                <a:latin typeface="Consolas" panose="020B0609020204030204" pitchFamily="49" charset="0"/>
              </a:rPr>
              <a:t> </a:t>
            </a:r>
            <a:r>
              <a:rPr lang="fr-CA" sz="1400" dirty="0" err="1">
                <a:solidFill>
                  <a:srgbClr val="000000"/>
                </a:solidFill>
                <a:latin typeface="Consolas" panose="020B0609020204030204" pitchFamily="49" charset="0"/>
              </a:rPr>
              <a:t>ClientSearchSpecification</a:t>
            </a:r>
            <a:r>
              <a:rPr lang="fr-CA" sz="1400" dirty="0">
                <a:solidFill>
                  <a:srgbClr val="000000"/>
                </a:solidFill>
                <a:latin typeface="Consolas" panose="020B0609020204030204" pitchFamily="49" charset="0"/>
              </a:rPr>
              <a:t>(recherche, item, </a:t>
            </a:r>
          </a:p>
          <a:p>
            <a:r>
              <a:rPr lang="fr-CA" sz="1400" dirty="0">
                <a:solidFill>
                  <a:srgbClr val="000000"/>
                </a:solidFill>
                <a:latin typeface="Consolas" panose="020B0609020204030204" pitchFamily="49" charset="0"/>
              </a:rPr>
              <a:t>                                                                   </a:t>
            </a:r>
            <a:r>
              <a:rPr lang="fr-CA" sz="1400" dirty="0" err="1">
                <a:solidFill>
                  <a:srgbClr val="000000"/>
                </a:solidFill>
                <a:latin typeface="Consolas" panose="020B0609020204030204" pitchFamily="49" charset="0"/>
              </a:rPr>
              <a:t>nbItem</a:t>
            </a:r>
            <a:r>
              <a:rPr lang="fr-CA" sz="1400" dirty="0">
                <a:solidFill>
                  <a:srgbClr val="000000"/>
                </a:solidFill>
                <a:latin typeface="Consolas" panose="020B0609020204030204" pitchFamily="49" charset="0"/>
              </a:rPr>
              <a:t>);</a:t>
            </a:r>
          </a:p>
          <a:p>
            <a:r>
              <a:rPr lang="fr-CA" sz="1400" dirty="0">
                <a:solidFill>
                  <a:srgbClr val="000000"/>
                </a:solidFill>
                <a:latin typeface="Consolas" panose="020B0609020204030204" pitchFamily="49" charset="0"/>
              </a:rPr>
              <a:t>    </a:t>
            </a:r>
            <a:r>
              <a:rPr lang="fr-CA" sz="1400" dirty="0">
                <a:solidFill>
                  <a:srgbClr val="0000FF"/>
                </a:solidFill>
                <a:latin typeface="Consolas" panose="020B0609020204030204" pitchFamily="49" charset="0"/>
              </a:rPr>
              <a:t>var</a:t>
            </a:r>
            <a:r>
              <a:rPr lang="fr-CA" sz="1400" dirty="0">
                <a:solidFill>
                  <a:srgbClr val="000000"/>
                </a:solidFill>
                <a:latin typeface="Consolas" panose="020B0609020204030204" pitchFamily="49" charset="0"/>
              </a:rPr>
              <a:t> clients = </a:t>
            </a:r>
            <a:r>
              <a:rPr lang="fr-CA" sz="1400" dirty="0" err="1">
                <a:solidFill>
                  <a:srgbClr val="0000FF"/>
                </a:solidFill>
                <a:latin typeface="Consolas" panose="020B0609020204030204" pitchFamily="49" charset="0"/>
              </a:rPr>
              <a:t>await</a:t>
            </a:r>
            <a:r>
              <a:rPr lang="fr-CA" sz="1400" dirty="0">
                <a:solidFill>
                  <a:srgbClr val="000000"/>
                </a:solidFill>
                <a:latin typeface="Consolas" panose="020B0609020204030204" pitchFamily="49" charset="0"/>
              </a:rPr>
              <a:t> _</a:t>
            </a:r>
            <a:r>
              <a:rPr lang="fr-CA" sz="1400" dirty="0" err="1">
                <a:solidFill>
                  <a:srgbClr val="000000"/>
                </a:solidFill>
                <a:latin typeface="Consolas" panose="020B0609020204030204" pitchFamily="49" charset="0"/>
              </a:rPr>
              <a:t>ClientRepository.ListAsync</a:t>
            </a:r>
            <a:r>
              <a:rPr lang="fr-CA" sz="1400" dirty="0">
                <a:solidFill>
                  <a:srgbClr val="000000"/>
                </a:solidFill>
                <a:latin typeface="Consolas" panose="020B0609020204030204" pitchFamily="49" charset="0"/>
              </a:rPr>
              <a:t>(</a:t>
            </a:r>
            <a:r>
              <a:rPr lang="fr-CA" sz="1400" dirty="0" err="1">
                <a:solidFill>
                  <a:srgbClr val="000000"/>
                </a:solidFill>
                <a:latin typeface="Consolas" panose="020B0609020204030204" pitchFamily="49" charset="0"/>
              </a:rPr>
              <a:t>spec</a:t>
            </a:r>
            <a:r>
              <a:rPr lang="fr-CA" sz="1400" dirty="0">
                <a:solidFill>
                  <a:srgbClr val="000000"/>
                </a:solidFill>
                <a:latin typeface="Consolas" panose="020B0609020204030204" pitchFamily="49" charset="0"/>
              </a:rPr>
              <a:t>);</a:t>
            </a:r>
          </a:p>
          <a:p>
            <a:r>
              <a:rPr lang="fr-CA" sz="1400" dirty="0">
                <a:solidFill>
                  <a:srgbClr val="000000"/>
                </a:solidFill>
                <a:latin typeface="Consolas" panose="020B0609020204030204" pitchFamily="49" charset="0"/>
              </a:rPr>
              <a:t>    </a:t>
            </a:r>
            <a:r>
              <a:rPr lang="fr-CA" sz="1400" dirty="0">
                <a:solidFill>
                  <a:srgbClr val="008000"/>
                </a:solidFill>
                <a:latin typeface="Consolas" panose="020B0609020204030204" pitchFamily="49" charset="0"/>
              </a:rPr>
              <a:t>//Validation du paging: le bon nombre d'item retourné commençant </a:t>
            </a:r>
          </a:p>
          <a:p>
            <a:r>
              <a:rPr lang="fr-CA" sz="1400" dirty="0">
                <a:solidFill>
                  <a:srgbClr val="008000"/>
                </a:solidFill>
                <a:latin typeface="Consolas" panose="020B0609020204030204" pitchFamily="49" charset="0"/>
              </a:rPr>
              <a:t>    //et finissant au bon endroit</a:t>
            </a:r>
            <a:endParaRPr lang="fr-CA"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Assert.Equal</a:t>
            </a:r>
            <a:r>
              <a:rPr lang="en-US" sz="1400" dirty="0">
                <a:solidFill>
                  <a:srgbClr val="000000"/>
                </a:solidFill>
                <a:latin typeface="Consolas" panose="020B0609020204030204" pitchFamily="49" charset="0"/>
              </a:rPr>
              <a:t>(count, </a:t>
            </a:r>
            <a:r>
              <a:rPr lang="en-US" sz="1400" dirty="0" err="1">
                <a:solidFill>
                  <a:srgbClr val="000000"/>
                </a:solidFill>
                <a:latin typeface="Consolas" panose="020B0609020204030204" pitchFamily="49" charset="0"/>
              </a:rPr>
              <a:t>clients.Count</a:t>
            </a:r>
            <a:r>
              <a:rPr lang="en-US" sz="1400" dirty="0">
                <a:solidFill>
                  <a:srgbClr val="000000"/>
                </a:solidFill>
                <a:latin typeface="Consolas" panose="020B0609020204030204" pitchFamily="49" charset="0"/>
              </a:rPr>
              <a:t>);</a:t>
            </a:r>
          </a:p>
          <a:p>
            <a:r>
              <a:rPr lang="fr-CA" sz="1400" dirty="0">
                <a:solidFill>
                  <a:srgbClr val="000000"/>
                </a:solidFill>
                <a:latin typeface="Consolas" panose="020B0609020204030204" pitchFamily="49" charset="0"/>
              </a:rPr>
              <a:t>  }</a:t>
            </a:r>
            <a:endParaRPr lang="fr-CA" sz="1400" dirty="0"/>
          </a:p>
        </p:txBody>
      </p:sp>
    </p:spTree>
    <p:extLst>
      <p:ext uri="{BB962C8B-B14F-4D97-AF65-F5344CB8AC3E}">
        <p14:creationId xmlns:p14="http://schemas.microsoft.com/office/powerpoint/2010/main" val="35176186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a:bodyPr>
          <a:lstStyle/>
          <a:p>
            <a:r>
              <a:rPr lang="fr-CA" dirty="0"/>
              <a:t>Rappel : Clean architecture</a:t>
            </a:r>
            <a:endParaRPr lang="fr-CA" sz="4400" dirty="0"/>
          </a:p>
        </p:txBody>
      </p:sp>
      <p:sp>
        <p:nvSpPr>
          <p:cNvPr id="4099" name="Espace réservé du numéro de diapositive 4"/>
          <p:cNvSpPr>
            <a:spLocks noGrp="1"/>
          </p:cNvSpPr>
          <p:nvPr>
            <p:ph type="sldNum" sz="quarter" idx="12"/>
            <p:custDataLst>
              <p:tags r:id="rId2"/>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91</a:t>
            </a:fld>
            <a:endParaRPr lang="en-US" altLang="en-US"/>
          </a:p>
        </p:txBody>
      </p:sp>
      <p:pic>
        <p:nvPicPr>
          <p:cNvPr id="7" name="Image 6">
            <a:extLst>
              <a:ext uri="{FF2B5EF4-FFF2-40B4-BE49-F238E27FC236}">
                <a16:creationId xmlns:a16="http://schemas.microsoft.com/office/drawing/2014/main" id="{153A20FA-439E-4F54-B3E6-5490A8000870}"/>
              </a:ext>
            </a:extLst>
          </p:cNvPr>
          <p:cNvPicPr>
            <a:picLocks noChangeAspect="1"/>
          </p:cNvPicPr>
          <p:nvPr/>
        </p:nvPicPr>
        <p:blipFill>
          <a:blip r:embed="rId4"/>
          <a:stretch>
            <a:fillRect/>
          </a:stretch>
        </p:blipFill>
        <p:spPr>
          <a:xfrm>
            <a:off x="683568" y="1772816"/>
            <a:ext cx="7148929" cy="3015726"/>
          </a:xfrm>
          <a:prstGeom prst="rect">
            <a:avLst/>
          </a:prstGeom>
        </p:spPr>
      </p:pic>
      <p:sp>
        <p:nvSpPr>
          <p:cNvPr id="8" name="ZoneTexte 6">
            <a:extLst>
              <a:ext uri="{FF2B5EF4-FFF2-40B4-BE49-F238E27FC236}">
                <a16:creationId xmlns:a16="http://schemas.microsoft.com/office/drawing/2014/main" id="{39050D79-D3D1-4DA2-A020-2A3B1ADA6279}"/>
              </a:ext>
            </a:extLst>
          </p:cNvPr>
          <p:cNvSpPr txBox="1"/>
          <p:nvPr/>
        </p:nvSpPr>
        <p:spPr>
          <a:xfrm>
            <a:off x="2476859" y="5393677"/>
            <a:ext cx="2145074" cy="461665"/>
          </a:xfrm>
          <a:prstGeom prst="rect">
            <a:avLst/>
          </a:prstGeom>
          <a:noFill/>
        </p:spPr>
        <p:txBody>
          <a:bodyPr wrap="none" rtlCol="0">
            <a:spAutoFit/>
          </a:bodyPr>
          <a:ls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CA" sz="2400" dirty="0"/>
              <a:t>Vue horizontale</a:t>
            </a:r>
          </a:p>
        </p:txBody>
      </p:sp>
      <p:pic>
        <p:nvPicPr>
          <p:cNvPr id="9" name="Image 8">
            <a:extLst>
              <a:ext uri="{FF2B5EF4-FFF2-40B4-BE49-F238E27FC236}">
                <a16:creationId xmlns:a16="http://schemas.microsoft.com/office/drawing/2014/main" id="{AFADA55B-97CB-4092-B5FF-4DD84C5B607E}"/>
              </a:ext>
            </a:extLst>
          </p:cNvPr>
          <p:cNvPicPr>
            <a:picLocks noChangeAspect="1"/>
          </p:cNvPicPr>
          <p:nvPr/>
        </p:nvPicPr>
        <p:blipFill>
          <a:blip r:embed="rId5"/>
          <a:stretch>
            <a:fillRect/>
          </a:stretch>
        </p:blipFill>
        <p:spPr>
          <a:xfrm>
            <a:off x="5514640" y="4822177"/>
            <a:ext cx="866775" cy="571500"/>
          </a:xfrm>
          <a:prstGeom prst="rect">
            <a:avLst/>
          </a:prstGeom>
        </p:spPr>
      </p:pic>
      <p:sp>
        <p:nvSpPr>
          <p:cNvPr id="10" name="ZoneTexte 9">
            <a:extLst>
              <a:ext uri="{FF2B5EF4-FFF2-40B4-BE49-F238E27FC236}">
                <a16:creationId xmlns:a16="http://schemas.microsoft.com/office/drawing/2014/main" id="{DF9B2ACF-7C2B-4CF7-8B57-409902610245}"/>
              </a:ext>
            </a:extLst>
          </p:cNvPr>
          <p:cNvSpPr txBox="1"/>
          <p:nvPr/>
        </p:nvSpPr>
        <p:spPr>
          <a:xfrm>
            <a:off x="6294258" y="5092741"/>
            <a:ext cx="2345579" cy="307777"/>
          </a:xfrm>
          <a:prstGeom prst="rect">
            <a:avLst/>
          </a:prstGeom>
          <a:noFill/>
        </p:spPr>
        <p:txBody>
          <a:bodyPr wrap="none" rtlCol="0">
            <a:spAutoFit/>
          </a:bodyPr>
          <a:ls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CA" sz="1400" dirty="0"/>
              <a:t>Dépendance à la compilation </a:t>
            </a:r>
          </a:p>
        </p:txBody>
      </p:sp>
      <p:sp>
        <p:nvSpPr>
          <p:cNvPr id="11" name="ZoneTexte 10">
            <a:extLst>
              <a:ext uri="{FF2B5EF4-FFF2-40B4-BE49-F238E27FC236}">
                <a16:creationId xmlns:a16="http://schemas.microsoft.com/office/drawing/2014/main" id="{FFDCF3EB-2548-46DB-8B97-CDB064680B32}"/>
              </a:ext>
            </a:extLst>
          </p:cNvPr>
          <p:cNvSpPr txBox="1"/>
          <p:nvPr/>
        </p:nvSpPr>
        <p:spPr>
          <a:xfrm>
            <a:off x="6294258" y="4884252"/>
            <a:ext cx="2097754" cy="307777"/>
          </a:xfrm>
          <a:prstGeom prst="rect">
            <a:avLst/>
          </a:prstGeom>
          <a:noFill/>
        </p:spPr>
        <p:txBody>
          <a:bodyPr wrap="none" rtlCol="0">
            <a:spAutoFit/>
          </a:bodyPr>
          <a:ls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CA" sz="1400" dirty="0"/>
              <a:t>Dépendance à l’exécution </a:t>
            </a:r>
          </a:p>
        </p:txBody>
      </p:sp>
    </p:spTree>
    <p:extLst>
      <p:ext uri="{BB962C8B-B14F-4D97-AF65-F5344CB8AC3E}">
        <p14:creationId xmlns:p14="http://schemas.microsoft.com/office/powerpoint/2010/main" val="142776400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fontScale="90000"/>
          </a:bodyPr>
          <a:lstStyle/>
          <a:p>
            <a:r>
              <a:rPr lang="fr-CA" dirty="0"/>
              <a:t>Rappel: Architecture de référence pour le TP3</a:t>
            </a:r>
            <a:endParaRPr lang="fr-CA" sz="4400" dirty="0"/>
          </a:p>
        </p:txBody>
      </p:sp>
      <p:sp>
        <p:nvSpPr>
          <p:cNvPr id="4099" name="Espace réservé du numéro de diapositive 4"/>
          <p:cNvSpPr>
            <a:spLocks noGrp="1"/>
          </p:cNvSpPr>
          <p:nvPr>
            <p:ph type="sldNum" sz="quarter" idx="12"/>
            <p:custDataLst>
              <p:tags r:id="rId2"/>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92</a:t>
            </a:fld>
            <a:endParaRPr lang="en-US" altLang="en-US"/>
          </a:p>
        </p:txBody>
      </p:sp>
      <p:pic>
        <p:nvPicPr>
          <p:cNvPr id="20" name="Image 19">
            <a:extLst>
              <a:ext uri="{FF2B5EF4-FFF2-40B4-BE49-F238E27FC236}">
                <a16:creationId xmlns:a16="http://schemas.microsoft.com/office/drawing/2014/main" id="{D7F1892E-2AA5-4935-B542-E144BEC7036D}"/>
              </a:ext>
            </a:extLst>
          </p:cNvPr>
          <p:cNvPicPr>
            <a:picLocks noChangeAspect="1"/>
          </p:cNvPicPr>
          <p:nvPr>
            <p:custDataLst>
              <p:tags r:id="rId3"/>
            </p:custDataLst>
          </p:nvPr>
        </p:nvPicPr>
        <p:blipFill>
          <a:blip r:embed="rId8"/>
          <a:stretch>
            <a:fillRect/>
          </a:stretch>
        </p:blipFill>
        <p:spPr>
          <a:xfrm>
            <a:off x="467544" y="1628800"/>
            <a:ext cx="8087920" cy="3797805"/>
          </a:xfrm>
          <a:prstGeom prst="rect">
            <a:avLst/>
          </a:prstGeom>
        </p:spPr>
      </p:pic>
      <p:pic>
        <p:nvPicPr>
          <p:cNvPr id="21" name="Image 20">
            <a:extLst>
              <a:ext uri="{FF2B5EF4-FFF2-40B4-BE49-F238E27FC236}">
                <a16:creationId xmlns:a16="http://schemas.microsoft.com/office/drawing/2014/main" id="{4DEECCD3-ED55-475D-8812-06BC791F8A35}"/>
              </a:ext>
            </a:extLst>
          </p:cNvPr>
          <p:cNvPicPr>
            <a:picLocks noChangeAspect="1"/>
          </p:cNvPicPr>
          <p:nvPr>
            <p:custDataLst>
              <p:tags r:id="rId4"/>
            </p:custDataLst>
          </p:nvPr>
        </p:nvPicPr>
        <p:blipFill>
          <a:blip r:embed="rId9"/>
          <a:stretch>
            <a:fillRect/>
          </a:stretch>
        </p:blipFill>
        <p:spPr>
          <a:xfrm>
            <a:off x="5596198" y="5088379"/>
            <a:ext cx="866775" cy="571500"/>
          </a:xfrm>
          <a:prstGeom prst="rect">
            <a:avLst/>
          </a:prstGeom>
        </p:spPr>
      </p:pic>
      <p:sp>
        <p:nvSpPr>
          <p:cNvPr id="22" name="ZoneTexte 21">
            <a:extLst>
              <a:ext uri="{FF2B5EF4-FFF2-40B4-BE49-F238E27FC236}">
                <a16:creationId xmlns:a16="http://schemas.microsoft.com/office/drawing/2014/main" id="{6B550BD0-3E1E-4ABA-B530-FCEB091E5A56}"/>
              </a:ext>
            </a:extLst>
          </p:cNvPr>
          <p:cNvSpPr txBox="1"/>
          <p:nvPr>
            <p:custDataLst>
              <p:tags r:id="rId5"/>
            </p:custDataLst>
          </p:nvPr>
        </p:nvSpPr>
        <p:spPr>
          <a:xfrm>
            <a:off x="6375816" y="5358943"/>
            <a:ext cx="2345579" cy="307777"/>
          </a:xfrm>
          <a:prstGeom prst="rect">
            <a:avLst/>
          </a:prstGeom>
          <a:noFill/>
        </p:spPr>
        <p:txBody>
          <a:bodyPr wrap="none" rtlCol="0">
            <a:spAutoFit/>
          </a:bodyPr>
          <a:lstStyle/>
          <a:p>
            <a:r>
              <a:rPr lang="fr-CA" sz="1400" dirty="0"/>
              <a:t>Dépendance à la compilation </a:t>
            </a:r>
          </a:p>
        </p:txBody>
      </p:sp>
      <p:sp>
        <p:nvSpPr>
          <p:cNvPr id="23" name="ZoneTexte 22">
            <a:extLst>
              <a:ext uri="{FF2B5EF4-FFF2-40B4-BE49-F238E27FC236}">
                <a16:creationId xmlns:a16="http://schemas.microsoft.com/office/drawing/2014/main" id="{EA280A72-32B7-4231-8D85-5278B7BB2CA5}"/>
              </a:ext>
            </a:extLst>
          </p:cNvPr>
          <p:cNvSpPr txBox="1"/>
          <p:nvPr>
            <p:custDataLst>
              <p:tags r:id="rId6"/>
            </p:custDataLst>
          </p:nvPr>
        </p:nvSpPr>
        <p:spPr>
          <a:xfrm>
            <a:off x="6375816" y="5150454"/>
            <a:ext cx="2097754" cy="307777"/>
          </a:xfrm>
          <a:prstGeom prst="rect">
            <a:avLst/>
          </a:prstGeom>
          <a:noFill/>
        </p:spPr>
        <p:txBody>
          <a:bodyPr wrap="none" rtlCol="0">
            <a:spAutoFit/>
          </a:bodyPr>
          <a:lstStyle/>
          <a:p>
            <a:r>
              <a:rPr lang="fr-CA" sz="1400" dirty="0"/>
              <a:t>Dépendance à l’exécution </a:t>
            </a:r>
          </a:p>
        </p:txBody>
      </p:sp>
      <p:grpSp>
        <p:nvGrpSpPr>
          <p:cNvPr id="2" name="Groupe 1">
            <a:extLst>
              <a:ext uri="{FF2B5EF4-FFF2-40B4-BE49-F238E27FC236}">
                <a16:creationId xmlns:a16="http://schemas.microsoft.com/office/drawing/2014/main" id="{B098D4A5-7254-4F20-A583-E88434785CF3}"/>
              </a:ext>
            </a:extLst>
          </p:cNvPr>
          <p:cNvGrpSpPr/>
          <p:nvPr/>
        </p:nvGrpSpPr>
        <p:grpSpPr>
          <a:xfrm>
            <a:off x="702984" y="2025096"/>
            <a:ext cx="2849732" cy="1142394"/>
            <a:chOff x="702984" y="2025096"/>
            <a:chExt cx="2849732" cy="1142394"/>
          </a:xfrm>
        </p:grpSpPr>
        <p:sp>
          <p:nvSpPr>
            <p:cNvPr id="25" name="ZoneTexte 24">
              <a:extLst>
                <a:ext uri="{FF2B5EF4-FFF2-40B4-BE49-F238E27FC236}">
                  <a16:creationId xmlns:a16="http://schemas.microsoft.com/office/drawing/2014/main" id="{A0807D09-D5E8-445F-9557-6B47ABB4CC8E}"/>
                </a:ext>
              </a:extLst>
            </p:cNvPr>
            <p:cNvSpPr txBox="1"/>
            <p:nvPr/>
          </p:nvSpPr>
          <p:spPr>
            <a:xfrm>
              <a:off x="702984" y="2025096"/>
              <a:ext cx="2849732" cy="656947"/>
            </a:xfrm>
            <a:prstGeom prst="rect">
              <a:avLst/>
            </a:prstGeom>
            <a:solidFill>
              <a:schemeClr val="bg1"/>
            </a:solidFill>
          </p:spPr>
          <p:txBody>
            <a:bodyPr wrap="square" rtlCol="0">
              <a:spAutoFit/>
            </a:bodyPr>
            <a:lstStyle/>
            <a:p>
              <a:endParaRPr lang="fr-CA" dirty="0"/>
            </a:p>
          </p:txBody>
        </p:sp>
        <p:sp>
          <p:nvSpPr>
            <p:cNvPr id="26" name="ZoneTexte 25">
              <a:extLst>
                <a:ext uri="{FF2B5EF4-FFF2-40B4-BE49-F238E27FC236}">
                  <a16:creationId xmlns:a16="http://schemas.microsoft.com/office/drawing/2014/main" id="{7140D3D4-D14D-4194-A828-83299645185C}"/>
                </a:ext>
              </a:extLst>
            </p:cNvPr>
            <p:cNvSpPr txBox="1"/>
            <p:nvPr/>
          </p:nvSpPr>
          <p:spPr>
            <a:xfrm>
              <a:off x="702984" y="2510543"/>
              <a:ext cx="1908699" cy="656947"/>
            </a:xfrm>
            <a:prstGeom prst="rect">
              <a:avLst/>
            </a:prstGeom>
            <a:solidFill>
              <a:schemeClr val="bg1"/>
            </a:solidFill>
          </p:spPr>
          <p:txBody>
            <a:bodyPr wrap="square" rtlCol="0">
              <a:spAutoFit/>
            </a:bodyPr>
            <a:lstStyle/>
            <a:p>
              <a:endParaRPr lang="fr-CA" dirty="0"/>
            </a:p>
          </p:txBody>
        </p:sp>
        <p:sp>
          <p:nvSpPr>
            <p:cNvPr id="27" name="Rectangle : coins arrondis 26">
              <a:extLst>
                <a:ext uri="{FF2B5EF4-FFF2-40B4-BE49-F238E27FC236}">
                  <a16:creationId xmlns:a16="http://schemas.microsoft.com/office/drawing/2014/main" id="{508E2D61-192C-44E8-B09B-5ECEBFB9CD2F}"/>
                </a:ext>
              </a:extLst>
            </p:cNvPr>
            <p:cNvSpPr/>
            <p:nvPr/>
          </p:nvSpPr>
          <p:spPr>
            <a:xfrm>
              <a:off x="1257097" y="2417423"/>
              <a:ext cx="1620175" cy="352282"/>
            </a:xfrm>
            <a:prstGeom prst="roundRect">
              <a:avLst/>
            </a:prstGeom>
            <a:solidFill>
              <a:schemeClr val="accent1">
                <a:lumMod val="60000"/>
                <a:lumOff val="4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1400" dirty="0"/>
                <a:t>Forms</a:t>
              </a:r>
            </a:p>
          </p:txBody>
        </p:sp>
      </p:grpSp>
      <p:sp>
        <p:nvSpPr>
          <p:cNvPr id="28" name="ZoneTexte 27">
            <a:extLst>
              <a:ext uri="{FF2B5EF4-FFF2-40B4-BE49-F238E27FC236}">
                <a16:creationId xmlns:a16="http://schemas.microsoft.com/office/drawing/2014/main" id="{F3A16A11-A9C8-41F4-8AA2-660F8EE8296B}"/>
              </a:ext>
            </a:extLst>
          </p:cNvPr>
          <p:cNvSpPr txBox="1"/>
          <p:nvPr/>
        </p:nvSpPr>
        <p:spPr>
          <a:xfrm>
            <a:off x="824312" y="1636436"/>
            <a:ext cx="2849732" cy="246221"/>
          </a:xfrm>
          <a:prstGeom prst="rect">
            <a:avLst/>
          </a:prstGeom>
          <a:solidFill>
            <a:schemeClr val="bg1"/>
          </a:solidFill>
        </p:spPr>
        <p:txBody>
          <a:bodyPr wrap="square" rtlCol="0">
            <a:spAutoFit/>
          </a:bodyPr>
          <a:lstStyle/>
          <a:p>
            <a:endParaRPr lang="fr-CA" sz="1000" dirty="0"/>
          </a:p>
        </p:txBody>
      </p:sp>
      <p:sp>
        <p:nvSpPr>
          <p:cNvPr id="29" name="ZoneTexte 28">
            <a:extLst>
              <a:ext uri="{FF2B5EF4-FFF2-40B4-BE49-F238E27FC236}">
                <a16:creationId xmlns:a16="http://schemas.microsoft.com/office/drawing/2014/main" id="{2CF8BB4C-DCCE-4B21-B309-D40FE47E4894}"/>
              </a:ext>
            </a:extLst>
          </p:cNvPr>
          <p:cNvSpPr txBox="1"/>
          <p:nvPr/>
        </p:nvSpPr>
        <p:spPr>
          <a:xfrm>
            <a:off x="824312" y="1628800"/>
            <a:ext cx="2485747" cy="307777"/>
          </a:xfrm>
          <a:prstGeom prst="rect">
            <a:avLst/>
          </a:prstGeom>
          <a:noFill/>
        </p:spPr>
        <p:txBody>
          <a:bodyPr wrap="square" rtlCol="0">
            <a:spAutoFit/>
          </a:bodyPr>
          <a:lstStyle/>
          <a:p>
            <a:r>
              <a:rPr lang="fr-CA" sz="1400" dirty="0">
                <a:solidFill>
                  <a:srgbClr val="3399FF"/>
                </a:solidFill>
              </a:rPr>
              <a:t>Windows Forms App</a:t>
            </a:r>
          </a:p>
        </p:txBody>
      </p:sp>
    </p:spTree>
    <p:extLst>
      <p:ext uri="{BB962C8B-B14F-4D97-AF65-F5344CB8AC3E}">
        <p14:creationId xmlns:p14="http://schemas.microsoft.com/office/powerpoint/2010/main" val="253595101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a:bodyPr>
          <a:lstStyle/>
          <a:p>
            <a:r>
              <a:rPr lang="fr-CA" dirty="0"/>
              <a:t>Rappel: Vue de l’architecture</a:t>
            </a:r>
            <a:endParaRPr lang="fr-CA" sz="4400" dirty="0"/>
          </a:p>
        </p:txBody>
      </p:sp>
      <p:sp>
        <p:nvSpPr>
          <p:cNvPr id="4099" name="Espace réservé du numéro de diapositive 4"/>
          <p:cNvSpPr>
            <a:spLocks noGrp="1"/>
          </p:cNvSpPr>
          <p:nvPr>
            <p:ph type="sldNum" sz="quarter" idx="12"/>
            <p:custDataLst>
              <p:tags r:id="rId2"/>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93</a:t>
            </a:fld>
            <a:endParaRPr lang="en-US" altLang="en-US"/>
          </a:p>
        </p:txBody>
      </p:sp>
      <p:pic>
        <p:nvPicPr>
          <p:cNvPr id="5" name="Image 4">
            <a:extLst>
              <a:ext uri="{FF2B5EF4-FFF2-40B4-BE49-F238E27FC236}">
                <a16:creationId xmlns:a16="http://schemas.microsoft.com/office/drawing/2014/main" id="{85969166-4E5C-1537-B33B-15278CF81A73}"/>
              </a:ext>
            </a:extLst>
          </p:cNvPr>
          <p:cNvPicPr>
            <a:picLocks noChangeAspect="1"/>
          </p:cNvPicPr>
          <p:nvPr/>
        </p:nvPicPr>
        <p:blipFill>
          <a:blip r:embed="rId4"/>
          <a:stretch>
            <a:fillRect/>
          </a:stretch>
        </p:blipFill>
        <p:spPr>
          <a:xfrm>
            <a:off x="143508" y="1484784"/>
            <a:ext cx="8820980" cy="4780123"/>
          </a:xfrm>
          <a:prstGeom prst="rect">
            <a:avLst/>
          </a:prstGeom>
        </p:spPr>
      </p:pic>
    </p:spTree>
    <p:extLst>
      <p:ext uri="{BB962C8B-B14F-4D97-AF65-F5344CB8AC3E}">
        <p14:creationId xmlns:p14="http://schemas.microsoft.com/office/powerpoint/2010/main" val="136845782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a:bodyPr>
          <a:lstStyle/>
          <a:p>
            <a:r>
              <a:rPr lang="fr-CA" dirty="0"/>
              <a:t>L’interface utilisateur</a:t>
            </a:r>
            <a:endParaRPr lang="fr-CA" sz="4400" dirty="0"/>
          </a:p>
        </p:txBody>
      </p:sp>
      <p:sp>
        <p:nvSpPr>
          <p:cNvPr id="4101" name="Rectangle 3"/>
          <p:cNvSpPr>
            <a:spLocks noGrp="1" noChangeArrowheads="1"/>
          </p:cNvSpPr>
          <p:nvPr>
            <p:ph idx="1"/>
            <p:custDataLst>
              <p:tags r:id="rId2"/>
            </p:custDataLst>
          </p:nvPr>
        </p:nvSpPr>
        <p:spPr>
          <a:xfrm>
            <a:off x="228600" y="1403874"/>
            <a:ext cx="8686800" cy="4545406"/>
          </a:xfrm>
        </p:spPr>
        <p:txBody>
          <a:bodyPr>
            <a:noAutofit/>
          </a:bodyPr>
          <a:lstStyle/>
          <a:p>
            <a:r>
              <a:rPr lang="fr-CA" sz="2400" dirty="0"/>
              <a:t>Windows Application (.NET5)</a:t>
            </a:r>
          </a:p>
          <a:p>
            <a:r>
              <a:rPr lang="fr-CA" sz="2400" dirty="0"/>
              <a:t>Ajouter la dépendance aux projets </a:t>
            </a:r>
            <a:r>
              <a:rPr lang="fr-CA" sz="2400" dirty="0" err="1"/>
              <a:t>Core</a:t>
            </a:r>
            <a:r>
              <a:rPr lang="fr-CA" sz="2400" dirty="0"/>
              <a:t>, Infrastructure, et </a:t>
            </a:r>
            <a:r>
              <a:rPr lang="fr-CA" sz="2400" dirty="0" err="1"/>
              <a:t>SharedKernel</a:t>
            </a:r>
            <a:endParaRPr lang="fr-CA" sz="2400" dirty="0"/>
          </a:p>
          <a:p>
            <a:r>
              <a:rPr lang="fr-CA" sz="2400" dirty="0"/>
              <a:t>Ajouter les packages </a:t>
            </a:r>
            <a:r>
              <a:rPr lang="fr-CA" sz="2400" dirty="0" err="1"/>
              <a:t>EntityFrameworkCore</a:t>
            </a:r>
            <a:r>
              <a:rPr lang="fr-CA" sz="2400" dirty="0"/>
              <a:t> et </a:t>
            </a:r>
            <a:r>
              <a:rPr lang="fr-CA" sz="2400" dirty="0" err="1"/>
              <a:t>EntityFrameworkCore.Design</a:t>
            </a:r>
            <a:endParaRPr lang="fr-CA" sz="2400" dirty="0"/>
          </a:p>
          <a:p>
            <a:r>
              <a:rPr lang="fr-CA" sz="2400" dirty="0"/>
              <a:t>Configurer l’inversion des dépendances</a:t>
            </a:r>
          </a:p>
          <a:p>
            <a:pPr lvl="1"/>
            <a:r>
              <a:rPr lang="fr-CA" sz="2000" dirty="0"/>
              <a:t>Installer les packages </a:t>
            </a:r>
            <a:r>
              <a:rPr lang="fr-CA" sz="2000" dirty="0" err="1"/>
              <a:t>Microsoft.Extensions.Hosting</a:t>
            </a:r>
            <a:r>
              <a:rPr lang="fr-CA" sz="2000" dirty="0"/>
              <a:t>,  </a:t>
            </a:r>
            <a:r>
              <a:rPr lang="fr-CA" sz="2000" dirty="0" err="1"/>
              <a:t>Microsoft.Extensions.DependencyInjection</a:t>
            </a:r>
            <a:r>
              <a:rPr lang="fr-CA" sz="2000" dirty="0"/>
              <a:t> et </a:t>
            </a:r>
            <a:r>
              <a:rPr lang="fr-CA" sz="2000" dirty="0" err="1"/>
              <a:t>Microsoft.Extensions.Logging</a:t>
            </a:r>
            <a:endParaRPr lang="fr-CA" sz="2000" dirty="0"/>
          </a:p>
          <a:p>
            <a:pPr lvl="1"/>
            <a:endParaRPr lang="fr-CA" sz="2000" dirty="0"/>
          </a:p>
          <a:p>
            <a:pPr lvl="1"/>
            <a:endParaRPr lang="fr-CA" sz="2000" dirty="0"/>
          </a:p>
        </p:txBody>
      </p:sp>
      <p:sp>
        <p:nvSpPr>
          <p:cNvPr id="4099" name="Espace réservé du numéro de diapositive 4"/>
          <p:cNvSpPr>
            <a:spLocks noGrp="1"/>
          </p:cNvSpPr>
          <p:nvPr>
            <p:ph type="sldNum" sz="quarter" idx="12"/>
            <p:custDataLst>
              <p:tags r:id="rId3"/>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94</a:t>
            </a:fld>
            <a:endParaRPr lang="en-US" altLang="en-US"/>
          </a:p>
        </p:txBody>
      </p:sp>
    </p:spTree>
    <p:extLst>
      <p:ext uri="{BB962C8B-B14F-4D97-AF65-F5344CB8AC3E}">
        <p14:creationId xmlns:p14="http://schemas.microsoft.com/office/powerpoint/2010/main" val="386137883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fontScale="90000"/>
          </a:bodyPr>
          <a:lstStyle/>
          <a:p>
            <a:r>
              <a:rPr lang="fr-CA" altLang="fr-FR" dirty="0"/>
              <a:t>Configuration de l’inversion de dépendance</a:t>
            </a:r>
            <a:endParaRPr lang="en-US" altLang="fr-FR" dirty="0"/>
          </a:p>
        </p:txBody>
      </p:sp>
      <p:sp>
        <p:nvSpPr>
          <p:cNvPr id="4101" name="Rectangle 3"/>
          <p:cNvSpPr>
            <a:spLocks noGrp="1" noChangeArrowheads="1"/>
          </p:cNvSpPr>
          <p:nvPr>
            <p:ph idx="1"/>
            <p:custDataLst>
              <p:tags r:id="rId2"/>
            </p:custDataLst>
          </p:nvPr>
        </p:nvSpPr>
        <p:spPr>
          <a:xfrm>
            <a:off x="228600" y="1403874"/>
            <a:ext cx="8686800" cy="4653418"/>
          </a:xfrm>
        </p:spPr>
        <p:txBody>
          <a:bodyPr>
            <a:noAutofit/>
          </a:bodyPr>
          <a:lstStyle/>
          <a:p>
            <a:r>
              <a:rPr lang="fr-CA" sz="2400" dirty="0"/>
              <a:t>Le code de la méthode Main de la classe Program:</a:t>
            </a:r>
          </a:p>
          <a:p>
            <a:pPr marL="0" indent="0">
              <a:buNone/>
            </a:pPr>
            <a:r>
              <a:rPr lang="fr-CA" sz="1200" dirty="0" err="1">
                <a:solidFill>
                  <a:srgbClr val="0000FF"/>
                </a:solidFill>
                <a:latin typeface="Consolas" panose="020B0609020204030204" pitchFamily="49" charset="0"/>
              </a:rPr>
              <a:t>static</a:t>
            </a:r>
            <a:r>
              <a:rPr lang="fr-CA" sz="1200" dirty="0">
                <a:solidFill>
                  <a:srgbClr val="000000"/>
                </a:solidFill>
                <a:latin typeface="Consolas" panose="020B0609020204030204" pitchFamily="49" charset="0"/>
              </a:rPr>
              <a:t> </a:t>
            </a:r>
            <a:r>
              <a:rPr lang="fr-CA" sz="1200" dirty="0" err="1">
                <a:solidFill>
                  <a:srgbClr val="0000FF"/>
                </a:solidFill>
                <a:latin typeface="Consolas" panose="020B0609020204030204" pitchFamily="49" charset="0"/>
              </a:rPr>
              <a:t>void</a:t>
            </a:r>
            <a:r>
              <a:rPr lang="fr-CA" sz="1200" dirty="0">
                <a:solidFill>
                  <a:srgbClr val="000000"/>
                </a:solidFill>
                <a:latin typeface="Consolas" panose="020B0609020204030204" pitchFamily="49" charset="0"/>
              </a:rPr>
              <a:t> Main()</a:t>
            </a:r>
          </a:p>
          <a:p>
            <a:pPr marL="0" indent="0">
              <a:buNone/>
            </a:pPr>
            <a:r>
              <a:rPr lang="fr-CA" sz="1200" dirty="0">
                <a:solidFill>
                  <a:srgbClr val="000000"/>
                </a:solidFill>
                <a:latin typeface="Consolas" panose="020B0609020204030204" pitchFamily="49" charset="0"/>
              </a:rPr>
              <a:t>   {</a:t>
            </a:r>
          </a:p>
          <a:p>
            <a:pPr marL="0" indent="0">
              <a:buNone/>
            </a:pPr>
            <a:r>
              <a:rPr lang="fr-CA" sz="1200" dirty="0">
                <a:solidFill>
                  <a:srgbClr val="000000"/>
                </a:solidFill>
                <a:latin typeface="Consolas" panose="020B0609020204030204" pitchFamily="49" charset="0"/>
              </a:rPr>
              <a:t>     </a:t>
            </a:r>
            <a:r>
              <a:rPr lang="fr-CA" sz="1200" dirty="0">
                <a:solidFill>
                  <a:srgbClr val="0000FF"/>
                </a:solidFill>
                <a:latin typeface="Consolas" panose="020B0609020204030204" pitchFamily="49" charset="0"/>
              </a:rPr>
              <a:t>var</a:t>
            </a: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builder</a:t>
            </a:r>
            <a:r>
              <a:rPr lang="fr-CA" sz="1200" dirty="0">
                <a:solidFill>
                  <a:srgbClr val="000000"/>
                </a:solidFill>
                <a:latin typeface="Consolas" panose="020B0609020204030204" pitchFamily="49" charset="0"/>
              </a:rPr>
              <a:t> = </a:t>
            </a:r>
            <a:r>
              <a:rPr lang="fr-CA" sz="1200" dirty="0">
                <a:solidFill>
                  <a:srgbClr val="0000FF"/>
                </a:solidFill>
                <a:latin typeface="Consolas" panose="020B0609020204030204" pitchFamily="49" charset="0"/>
              </a:rPr>
              <a:t>new</a:t>
            </a: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HostBuilder</a:t>
            </a:r>
            <a:r>
              <a:rPr lang="fr-CA" sz="1200" dirty="0">
                <a:solidFill>
                  <a:srgbClr val="000000"/>
                </a:solidFill>
                <a:latin typeface="Consolas" panose="020B0609020204030204" pitchFamily="49" charset="0"/>
              </a:rPr>
              <a:t>()</a:t>
            </a:r>
          </a:p>
          <a:p>
            <a:pPr marL="0" indent="0">
              <a:buNone/>
            </a:pP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ConfigureServices</a:t>
            </a:r>
            <a:r>
              <a:rPr lang="fr-CA" sz="1200" dirty="0">
                <a:solidFill>
                  <a:srgbClr val="000000"/>
                </a:solidFill>
                <a:latin typeface="Consolas" panose="020B0609020204030204" pitchFamily="49" charset="0"/>
              </a:rPr>
              <a:t>((</a:t>
            </a:r>
            <a:r>
              <a:rPr lang="fr-CA" sz="1200" dirty="0" err="1">
                <a:solidFill>
                  <a:srgbClr val="000000"/>
                </a:solidFill>
                <a:latin typeface="Consolas" panose="020B0609020204030204" pitchFamily="49" charset="0"/>
              </a:rPr>
              <a:t>hostContext</a:t>
            </a:r>
            <a:r>
              <a:rPr lang="fr-CA" sz="1200" dirty="0">
                <a:solidFill>
                  <a:srgbClr val="000000"/>
                </a:solidFill>
                <a:latin typeface="Consolas" panose="020B0609020204030204" pitchFamily="49" charset="0"/>
              </a:rPr>
              <a:t>, services) =&gt;</a:t>
            </a:r>
          </a:p>
          <a:p>
            <a:pPr marL="0" indent="0">
              <a:buNone/>
            </a:pPr>
            <a:r>
              <a:rPr lang="fr-CA" sz="1200" dirty="0">
                <a:solidFill>
                  <a:srgbClr val="000000"/>
                </a:solidFill>
                <a:latin typeface="Consolas" panose="020B0609020204030204" pitchFamily="49" charset="0"/>
              </a:rPr>
              <a:t>        {</a:t>
            </a:r>
          </a:p>
          <a:p>
            <a:pPr marL="0" indent="0">
              <a:buNone/>
            </a:pP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services.AddDbContext</a:t>
            </a:r>
            <a:r>
              <a:rPr lang="fr-CA" sz="1200" dirty="0">
                <a:solidFill>
                  <a:srgbClr val="000000"/>
                </a:solidFill>
                <a:latin typeface="Consolas" panose="020B0609020204030204" pitchFamily="49" charset="0"/>
              </a:rPr>
              <a:t>&lt;</a:t>
            </a:r>
            <a:r>
              <a:rPr lang="fr-CA" sz="1200" dirty="0" err="1">
                <a:solidFill>
                  <a:srgbClr val="000000"/>
                </a:solidFill>
                <a:latin typeface="Consolas" panose="020B0609020204030204" pitchFamily="49" charset="0"/>
              </a:rPr>
              <a:t>SystèmeGestionStationServiceContext</a:t>
            </a:r>
            <a:r>
              <a:rPr lang="fr-CA" sz="1200" dirty="0">
                <a:solidFill>
                  <a:srgbClr val="000000"/>
                </a:solidFill>
                <a:latin typeface="Consolas" panose="020B0609020204030204" pitchFamily="49" charset="0"/>
              </a:rPr>
              <a:t>&gt;(options =&gt; </a:t>
            </a:r>
            <a:r>
              <a:rPr lang="fr-CA" sz="1200" dirty="0" err="1">
                <a:solidFill>
                  <a:srgbClr val="000000"/>
                </a:solidFill>
                <a:latin typeface="Consolas" panose="020B0609020204030204" pitchFamily="49" charset="0"/>
              </a:rPr>
              <a:t>options.UseSqlServer</a:t>
            </a:r>
            <a:r>
              <a:rPr lang="fr-CA" sz="1200" dirty="0">
                <a:solidFill>
                  <a:srgbClr val="000000"/>
                </a:solidFill>
                <a:latin typeface="Consolas" panose="020B0609020204030204" pitchFamily="49" charset="0"/>
              </a:rPr>
              <a:t>(</a:t>
            </a:r>
            <a:r>
              <a:rPr lang="fr-CA" sz="1200" dirty="0">
                <a:solidFill>
                  <a:srgbClr val="800000"/>
                </a:solidFill>
                <a:latin typeface="Consolas" panose="020B0609020204030204" pitchFamily="49" charset="0"/>
              </a:rPr>
              <a:t>@"Server=.;Database=SystèmeGestionStationServiceDB;Trusted_Connection=True;"</a:t>
            </a:r>
            <a:r>
              <a:rPr lang="fr-CA" sz="1200" dirty="0">
                <a:solidFill>
                  <a:srgbClr val="000000"/>
                </a:solidFill>
                <a:latin typeface="Consolas" panose="020B0609020204030204" pitchFamily="49" charset="0"/>
              </a:rPr>
              <a:t>));</a:t>
            </a:r>
          </a:p>
          <a:p>
            <a:pPr marL="0" indent="0">
              <a:buNone/>
            </a:pP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services.AddSingleton</a:t>
            </a:r>
            <a:r>
              <a:rPr lang="fr-CA" sz="1200" dirty="0">
                <a:solidFill>
                  <a:srgbClr val="000000"/>
                </a:solidFill>
                <a:latin typeface="Consolas" panose="020B0609020204030204" pitchFamily="49" charset="0"/>
              </a:rPr>
              <a:t>&lt;</a:t>
            </a:r>
            <a:r>
              <a:rPr lang="fr-CA" sz="1200" dirty="0" err="1">
                <a:solidFill>
                  <a:srgbClr val="000000"/>
                </a:solidFill>
                <a:latin typeface="Consolas" panose="020B0609020204030204" pitchFamily="49" charset="0"/>
              </a:rPr>
              <a:t>FormTerminal</a:t>
            </a:r>
            <a:r>
              <a:rPr lang="fr-CA" sz="1200" dirty="0">
                <a:solidFill>
                  <a:srgbClr val="000000"/>
                </a:solidFill>
                <a:latin typeface="Consolas" panose="020B0609020204030204" pitchFamily="49" charset="0"/>
              </a:rPr>
              <a:t>&gt;();</a:t>
            </a:r>
          </a:p>
          <a:p>
            <a:pPr marL="0" indent="0">
              <a:buNone/>
            </a:pP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services.AddSingleton</a:t>
            </a:r>
            <a:r>
              <a:rPr lang="fr-CA" sz="1200" dirty="0">
                <a:solidFill>
                  <a:srgbClr val="000000"/>
                </a:solidFill>
                <a:latin typeface="Consolas" panose="020B0609020204030204" pitchFamily="49" charset="0"/>
              </a:rPr>
              <a:t>&lt;</a:t>
            </a:r>
            <a:r>
              <a:rPr lang="fr-CA" sz="1200" dirty="0" err="1">
                <a:solidFill>
                  <a:srgbClr val="000000"/>
                </a:solidFill>
                <a:latin typeface="Consolas" panose="020B0609020204030204" pitchFamily="49" charset="0"/>
              </a:rPr>
              <a:t>FormPompe</a:t>
            </a:r>
            <a:r>
              <a:rPr lang="fr-CA" sz="1200" dirty="0">
                <a:solidFill>
                  <a:srgbClr val="000000"/>
                </a:solidFill>
                <a:latin typeface="Consolas" panose="020B0609020204030204" pitchFamily="49" charset="0"/>
              </a:rPr>
              <a:t>&gt;();</a:t>
            </a:r>
          </a:p>
          <a:p>
            <a:pPr marL="0" indent="0">
              <a:buNone/>
            </a:pP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services.AddLogging</a:t>
            </a:r>
            <a:r>
              <a:rPr lang="fr-CA" sz="1200" dirty="0">
                <a:solidFill>
                  <a:srgbClr val="000000"/>
                </a:solidFill>
                <a:latin typeface="Consolas" panose="020B0609020204030204" pitchFamily="49" charset="0"/>
              </a:rPr>
              <a:t>(configure =&gt; </a:t>
            </a:r>
            <a:r>
              <a:rPr lang="fr-CA" sz="1200" dirty="0" err="1">
                <a:solidFill>
                  <a:srgbClr val="000000"/>
                </a:solidFill>
                <a:latin typeface="Consolas" panose="020B0609020204030204" pitchFamily="49" charset="0"/>
              </a:rPr>
              <a:t>configure.AddConsole</a:t>
            </a:r>
            <a:r>
              <a:rPr lang="fr-CA" sz="1200" dirty="0">
                <a:solidFill>
                  <a:srgbClr val="000000"/>
                </a:solidFill>
                <a:latin typeface="Consolas" panose="020B0609020204030204" pitchFamily="49" charset="0"/>
              </a:rPr>
              <a:t>());</a:t>
            </a:r>
          </a:p>
          <a:p>
            <a:pPr marL="0" indent="0">
              <a:buNone/>
            </a:pP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services.AddScoped</a:t>
            </a:r>
            <a:r>
              <a:rPr lang="fr-CA" sz="1200" dirty="0">
                <a:solidFill>
                  <a:srgbClr val="000000"/>
                </a:solidFill>
                <a:latin typeface="Consolas" panose="020B0609020204030204" pitchFamily="49" charset="0"/>
              </a:rPr>
              <a:t>&lt;</a:t>
            </a:r>
            <a:r>
              <a:rPr lang="fr-CA" sz="1200" dirty="0" err="1">
                <a:solidFill>
                  <a:srgbClr val="000000"/>
                </a:solidFill>
                <a:latin typeface="Consolas" panose="020B0609020204030204" pitchFamily="49" charset="0"/>
              </a:rPr>
              <a:t>ITransactionRepository</a:t>
            </a: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TransactionRepository</a:t>
            </a:r>
            <a:r>
              <a:rPr lang="fr-CA" sz="1200" dirty="0">
                <a:solidFill>
                  <a:srgbClr val="000000"/>
                </a:solidFill>
                <a:latin typeface="Consolas" panose="020B0609020204030204" pitchFamily="49" charset="0"/>
              </a:rPr>
              <a:t>&gt;();</a:t>
            </a:r>
          </a:p>
          <a:p>
            <a:pPr marL="0" indent="0">
              <a:buNone/>
            </a:pP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services.AddScoped</a:t>
            </a:r>
            <a:r>
              <a:rPr lang="fr-CA" sz="1200" dirty="0">
                <a:solidFill>
                  <a:srgbClr val="000000"/>
                </a:solidFill>
                <a:latin typeface="Consolas" panose="020B0609020204030204" pitchFamily="49" charset="0"/>
              </a:rPr>
              <a:t>&lt;</a:t>
            </a:r>
            <a:r>
              <a:rPr lang="fr-CA" sz="1200" dirty="0" err="1">
                <a:solidFill>
                  <a:srgbClr val="000000"/>
                </a:solidFill>
                <a:latin typeface="Consolas" panose="020B0609020204030204" pitchFamily="49" charset="0"/>
              </a:rPr>
              <a:t>IPaiementRepository</a:t>
            </a: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PaiementRepository</a:t>
            </a:r>
            <a:r>
              <a:rPr lang="fr-CA" sz="1200" dirty="0">
                <a:solidFill>
                  <a:srgbClr val="000000"/>
                </a:solidFill>
                <a:latin typeface="Consolas" panose="020B0609020204030204" pitchFamily="49" charset="0"/>
              </a:rPr>
              <a:t>&gt;();</a:t>
            </a:r>
          </a:p>
          <a:p>
            <a:pPr marL="0" indent="0">
              <a:buNone/>
            </a:pP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services.AddScoped</a:t>
            </a:r>
            <a:r>
              <a:rPr lang="fr-CA" sz="1200" dirty="0">
                <a:solidFill>
                  <a:srgbClr val="000000"/>
                </a:solidFill>
                <a:latin typeface="Consolas" panose="020B0609020204030204" pitchFamily="49" charset="0"/>
              </a:rPr>
              <a:t>&lt;</a:t>
            </a:r>
            <a:r>
              <a:rPr lang="fr-CA" sz="1200" dirty="0" err="1">
                <a:solidFill>
                  <a:srgbClr val="000000"/>
                </a:solidFill>
                <a:latin typeface="Consolas" panose="020B0609020204030204" pitchFamily="49" charset="0"/>
              </a:rPr>
              <a:t>ICompteRepository</a:t>
            </a: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CompteRepository</a:t>
            </a:r>
            <a:r>
              <a:rPr lang="fr-CA" sz="1200" dirty="0">
                <a:solidFill>
                  <a:srgbClr val="000000"/>
                </a:solidFill>
                <a:latin typeface="Consolas" panose="020B0609020204030204" pitchFamily="49" charset="0"/>
              </a:rPr>
              <a:t>&gt;();</a:t>
            </a:r>
          </a:p>
          <a:p>
            <a:pPr marL="0" indent="0">
              <a:buNone/>
            </a:pP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services.AddScoped</a:t>
            </a:r>
            <a:r>
              <a:rPr lang="fr-CA" sz="1200" dirty="0">
                <a:solidFill>
                  <a:srgbClr val="000000"/>
                </a:solidFill>
                <a:latin typeface="Consolas" panose="020B0609020204030204" pitchFamily="49" charset="0"/>
              </a:rPr>
              <a:t>&lt;</a:t>
            </a:r>
            <a:r>
              <a:rPr lang="fr-CA" sz="1200" dirty="0" err="1">
                <a:solidFill>
                  <a:srgbClr val="000000"/>
                </a:solidFill>
                <a:latin typeface="Consolas" panose="020B0609020204030204" pitchFamily="49" charset="0"/>
              </a:rPr>
              <a:t>IClientRepository</a:t>
            </a: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ClientRepository</a:t>
            </a:r>
            <a:r>
              <a:rPr lang="fr-CA" sz="1200" dirty="0">
                <a:solidFill>
                  <a:srgbClr val="000000"/>
                </a:solidFill>
                <a:latin typeface="Consolas" panose="020B0609020204030204" pitchFamily="49" charset="0"/>
              </a:rPr>
              <a:t>&gt;();</a:t>
            </a:r>
          </a:p>
          <a:p>
            <a:pPr marL="0" indent="0">
              <a:buNone/>
            </a:pP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services.AddScoped</a:t>
            </a:r>
            <a:r>
              <a:rPr lang="fr-CA" sz="1200" dirty="0">
                <a:solidFill>
                  <a:srgbClr val="000000"/>
                </a:solidFill>
                <a:latin typeface="Consolas" panose="020B0609020204030204" pitchFamily="49" charset="0"/>
              </a:rPr>
              <a:t>&lt;</a:t>
            </a:r>
            <a:r>
              <a:rPr lang="fr-CA" sz="1200" dirty="0" err="1">
                <a:solidFill>
                  <a:srgbClr val="000000"/>
                </a:solidFill>
                <a:latin typeface="Consolas" panose="020B0609020204030204" pitchFamily="49" charset="0"/>
              </a:rPr>
              <a:t>IPompeRepository</a:t>
            </a: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PompeRepository</a:t>
            </a:r>
            <a:r>
              <a:rPr lang="fr-CA" sz="1200" dirty="0">
                <a:solidFill>
                  <a:srgbClr val="000000"/>
                </a:solidFill>
                <a:latin typeface="Consolas" panose="020B0609020204030204" pitchFamily="49" charset="0"/>
              </a:rPr>
              <a:t>&gt;();</a:t>
            </a:r>
          </a:p>
          <a:p>
            <a:pPr marL="0" indent="0">
              <a:buNone/>
            </a:pP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services.AddScoped</a:t>
            </a:r>
            <a:r>
              <a:rPr lang="fr-CA" sz="1200" dirty="0">
                <a:solidFill>
                  <a:srgbClr val="000000"/>
                </a:solidFill>
                <a:latin typeface="Consolas" panose="020B0609020204030204" pitchFamily="49" charset="0"/>
              </a:rPr>
              <a:t>&lt;</a:t>
            </a:r>
            <a:r>
              <a:rPr lang="fr-CA" sz="1200" dirty="0" err="1">
                <a:solidFill>
                  <a:srgbClr val="000000"/>
                </a:solidFill>
                <a:latin typeface="Consolas" panose="020B0609020204030204" pitchFamily="49" charset="0"/>
              </a:rPr>
              <a:t>IRéservoirRepository</a:t>
            </a: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RéservoirRepository</a:t>
            </a:r>
            <a:r>
              <a:rPr lang="fr-CA" sz="1200" dirty="0">
                <a:solidFill>
                  <a:srgbClr val="000000"/>
                </a:solidFill>
                <a:latin typeface="Consolas" panose="020B0609020204030204" pitchFamily="49" charset="0"/>
              </a:rPr>
              <a:t>&gt;();</a:t>
            </a:r>
          </a:p>
          <a:p>
            <a:pPr marL="0" indent="0">
              <a:buNone/>
            </a:pP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services.AddScoped</a:t>
            </a:r>
            <a:r>
              <a:rPr lang="fr-CA" sz="1200" dirty="0">
                <a:solidFill>
                  <a:srgbClr val="000000"/>
                </a:solidFill>
                <a:latin typeface="Consolas" panose="020B0609020204030204" pitchFamily="49" charset="0"/>
              </a:rPr>
              <a:t>&lt;</a:t>
            </a:r>
            <a:r>
              <a:rPr lang="fr-CA" sz="1200" dirty="0" err="1">
                <a:solidFill>
                  <a:srgbClr val="000000"/>
                </a:solidFill>
                <a:latin typeface="Consolas" panose="020B0609020204030204" pitchFamily="49" charset="0"/>
              </a:rPr>
              <a:t>IPompeService</a:t>
            </a: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PompeService</a:t>
            </a:r>
            <a:r>
              <a:rPr lang="fr-CA" sz="1200" dirty="0">
                <a:solidFill>
                  <a:srgbClr val="000000"/>
                </a:solidFill>
                <a:latin typeface="Consolas" panose="020B0609020204030204" pitchFamily="49" charset="0"/>
              </a:rPr>
              <a:t>&gt;();</a:t>
            </a:r>
          </a:p>
          <a:p>
            <a:pPr marL="0" indent="0">
              <a:buNone/>
            </a:pP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services.AddScoped</a:t>
            </a:r>
            <a:r>
              <a:rPr lang="fr-CA" sz="1200" dirty="0">
                <a:solidFill>
                  <a:srgbClr val="000000"/>
                </a:solidFill>
                <a:latin typeface="Consolas" panose="020B0609020204030204" pitchFamily="49" charset="0"/>
              </a:rPr>
              <a:t>&lt;</a:t>
            </a:r>
            <a:r>
              <a:rPr lang="fr-CA" sz="1200" dirty="0" err="1">
                <a:solidFill>
                  <a:srgbClr val="000000"/>
                </a:solidFill>
                <a:latin typeface="Consolas" panose="020B0609020204030204" pitchFamily="49" charset="0"/>
              </a:rPr>
              <a:t>ITransactionService</a:t>
            </a: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TransactionService</a:t>
            </a:r>
            <a:r>
              <a:rPr lang="fr-CA" sz="1200" dirty="0">
                <a:solidFill>
                  <a:srgbClr val="000000"/>
                </a:solidFill>
                <a:latin typeface="Consolas" panose="020B0609020204030204" pitchFamily="49" charset="0"/>
              </a:rPr>
              <a:t>&gt;();</a:t>
            </a:r>
          </a:p>
          <a:p>
            <a:pPr marL="0" indent="0">
              <a:buNone/>
            </a:pP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services.AddScoped</a:t>
            </a:r>
            <a:r>
              <a:rPr lang="fr-CA" sz="1200" dirty="0">
                <a:solidFill>
                  <a:srgbClr val="000000"/>
                </a:solidFill>
                <a:latin typeface="Consolas" panose="020B0609020204030204" pitchFamily="49" charset="0"/>
              </a:rPr>
              <a:t>&lt;</a:t>
            </a:r>
            <a:r>
              <a:rPr lang="fr-CA" sz="1200" dirty="0" err="1">
                <a:solidFill>
                  <a:srgbClr val="000000"/>
                </a:solidFill>
                <a:latin typeface="Consolas" panose="020B0609020204030204" pitchFamily="49" charset="0"/>
              </a:rPr>
              <a:t>IRéservoirService</a:t>
            </a: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RéservoirService</a:t>
            </a:r>
            <a:r>
              <a:rPr lang="fr-CA" sz="1200" dirty="0">
                <a:solidFill>
                  <a:srgbClr val="000000"/>
                </a:solidFill>
                <a:latin typeface="Consolas" panose="020B0609020204030204" pitchFamily="49" charset="0"/>
              </a:rPr>
              <a:t>&gt;();</a:t>
            </a:r>
          </a:p>
          <a:p>
            <a:pPr marL="0" indent="0">
              <a:buNone/>
            </a:pP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services.AddScoped</a:t>
            </a:r>
            <a:r>
              <a:rPr lang="fr-CA" sz="1200" dirty="0">
                <a:solidFill>
                  <a:srgbClr val="000000"/>
                </a:solidFill>
                <a:latin typeface="Consolas" panose="020B0609020204030204" pitchFamily="49" charset="0"/>
              </a:rPr>
              <a:t>&lt;</a:t>
            </a:r>
            <a:r>
              <a:rPr lang="fr-CA" sz="1200" dirty="0" err="1">
                <a:solidFill>
                  <a:srgbClr val="000000"/>
                </a:solidFill>
                <a:latin typeface="Consolas" panose="020B0609020204030204" pitchFamily="49" charset="0"/>
              </a:rPr>
              <a:t>IImpressionService</a:t>
            </a: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ImpressionService</a:t>
            </a:r>
            <a:r>
              <a:rPr lang="fr-CA" sz="1200" dirty="0">
                <a:solidFill>
                  <a:srgbClr val="000000"/>
                </a:solidFill>
                <a:latin typeface="Consolas" panose="020B0609020204030204" pitchFamily="49" charset="0"/>
              </a:rPr>
              <a:t>&gt;();</a:t>
            </a:r>
          </a:p>
          <a:p>
            <a:pPr marL="0" indent="0">
              <a:buNone/>
            </a:pPr>
            <a:endParaRPr lang="fr-CA" sz="1200" dirty="0">
              <a:solidFill>
                <a:srgbClr val="000000"/>
              </a:solidFill>
              <a:latin typeface="Consolas" panose="020B0609020204030204" pitchFamily="49" charset="0"/>
            </a:endParaRPr>
          </a:p>
          <a:p>
            <a:pPr marL="0" indent="0">
              <a:buNone/>
            </a:pPr>
            <a:r>
              <a:rPr lang="fr-CA" sz="1200" dirty="0">
                <a:solidFill>
                  <a:srgbClr val="000000"/>
                </a:solidFill>
                <a:latin typeface="Consolas" panose="020B0609020204030204" pitchFamily="49" charset="0"/>
              </a:rPr>
              <a:t>       });</a:t>
            </a:r>
          </a:p>
          <a:p>
            <a:pPr marL="0" indent="0">
              <a:buNone/>
            </a:pPr>
            <a:r>
              <a:rPr lang="fr-CA" sz="1200" b="1" dirty="0">
                <a:solidFill>
                  <a:srgbClr val="000000"/>
                </a:solidFill>
                <a:latin typeface="Consolas" panose="020B0609020204030204" pitchFamily="49" charset="0"/>
              </a:rPr>
              <a:t>       ….</a:t>
            </a:r>
            <a:endParaRPr lang="fr-CA" sz="1200" b="1" dirty="0"/>
          </a:p>
        </p:txBody>
      </p:sp>
      <p:sp>
        <p:nvSpPr>
          <p:cNvPr id="4099" name="Espace réservé du numéro de diapositive 4"/>
          <p:cNvSpPr>
            <a:spLocks noGrp="1"/>
          </p:cNvSpPr>
          <p:nvPr>
            <p:ph type="sldNum" sz="quarter" idx="12"/>
            <p:custDataLst>
              <p:tags r:id="rId3"/>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95</a:t>
            </a:fld>
            <a:endParaRPr lang="en-US" altLang="en-US"/>
          </a:p>
        </p:txBody>
      </p:sp>
    </p:spTree>
    <p:extLst>
      <p:ext uri="{BB962C8B-B14F-4D97-AF65-F5344CB8AC3E}">
        <p14:creationId xmlns:p14="http://schemas.microsoft.com/office/powerpoint/2010/main" val="137710718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fontScale="90000"/>
          </a:bodyPr>
          <a:lstStyle/>
          <a:p>
            <a:r>
              <a:rPr lang="fr-CA" altLang="fr-FR" dirty="0"/>
              <a:t>Configuration de l’inversion de dépendance</a:t>
            </a:r>
            <a:endParaRPr lang="en-US" altLang="fr-FR" dirty="0"/>
          </a:p>
        </p:txBody>
      </p:sp>
      <p:sp>
        <p:nvSpPr>
          <p:cNvPr id="4101" name="Rectangle 3"/>
          <p:cNvSpPr>
            <a:spLocks noGrp="1" noChangeArrowheads="1"/>
          </p:cNvSpPr>
          <p:nvPr>
            <p:ph idx="1"/>
            <p:custDataLst>
              <p:tags r:id="rId2"/>
            </p:custDataLst>
          </p:nvPr>
        </p:nvSpPr>
        <p:spPr>
          <a:xfrm>
            <a:off x="228600" y="1403874"/>
            <a:ext cx="8686800" cy="4653418"/>
          </a:xfrm>
        </p:spPr>
        <p:txBody>
          <a:bodyPr>
            <a:noAutofit/>
          </a:bodyPr>
          <a:lstStyle/>
          <a:p>
            <a:r>
              <a:rPr lang="fr-CA" sz="2400" dirty="0"/>
              <a:t>Suite du code de la méthode Main de la classe Program:</a:t>
            </a:r>
          </a:p>
          <a:p>
            <a:pPr marL="0" indent="0">
              <a:buNone/>
            </a:pPr>
            <a:r>
              <a:rPr lang="fr-CA" sz="1200" dirty="0">
                <a:solidFill>
                  <a:srgbClr val="000000"/>
                </a:solidFill>
                <a:latin typeface="Consolas" panose="020B0609020204030204" pitchFamily="49" charset="0"/>
              </a:rPr>
              <a:t>        …..</a:t>
            </a:r>
          </a:p>
          <a:p>
            <a:pPr marL="0" indent="0">
              <a:buNone/>
            </a:pPr>
            <a:r>
              <a:rPr lang="fr-CA" sz="1200" dirty="0">
                <a:solidFill>
                  <a:srgbClr val="000000"/>
                </a:solidFill>
                <a:latin typeface="Consolas" panose="020B0609020204030204" pitchFamily="49" charset="0"/>
              </a:rPr>
              <a:t>        </a:t>
            </a:r>
            <a:r>
              <a:rPr lang="fr-CA" sz="1200" dirty="0">
                <a:solidFill>
                  <a:srgbClr val="0000FF"/>
                </a:solidFill>
                <a:latin typeface="Consolas" panose="020B0609020204030204" pitchFamily="49" charset="0"/>
              </a:rPr>
              <a:t>var</a:t>
            </a:r>
            <a:r>
              <a:rPr lang="fr-CA" sz="1200" dirty="0">
                <a:solidFill>
                  <a:srgbClr val="000000"/>
                </a:solidFill>
                <a:latin typeface="Consolas" panose="020B0609020204030204" pitchFamily="49" charset="0"/>
              </a:rPr>
              <a:t> host = </a:t>
            </a:r>
            <a:r>
              <a:rPr lang="fr-CA" sz="1200" dirty="0" err="1">
                <a:solidFill>
                  <a:srgbClr val="000000"/>
                </a:solidFill>
                <a:latin typeface="Consolas" panose="020B0609020204030204" pitchFamily="49" charset="0"/>
              </a:rPr>
              <a:t>builder.Build</a:t>
            </a:r>
            <a:r>
              <a:rPr lang="fr-CA" sz="1200" dirty="0">
                <a:solidFill>
                  <a:srgbClr val="000000"/>
                </a:solidFill>
                <a:latin typeface="Consolas" panose="020B0609020204030204" pitchFamily="49" charset="0"/>
              </a:rPr>
              <a:t>();</a:t>
            </a:r>
          </a:p>
          <a:p>
            <a:pPr marL="0" indent="0">
              <a:buNone/>
            </a:pP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Application.SetHighDpiMode</a:t>
            </a:r>
            <a:r>
              <a:rPr lang="fr-CA" sz="1200" dirty="0">
                <a:solidFill>
                  <a:srgbClr val="000000"/>
                </a:solidFill>
                <a:latin typeface="Consolas" panose="020B0609020204030204" pitchFamily="49" charset="0"/>
              </a:rPr>
              <a:t>(</a:t>
            </a:r>
            <a:r>
              <a:rPr lang="fr-CA" sz="1200" dirty="0" err="1">
                <a:solidFill>
                  <a:srgbClr val="000000"/>
                </a:solidFill>
                <a:latin typeface="Consolas" panose="020B0609020204030204" pitchFamily="49" charset="0"/>
              </a:rPr>
              <a:t>HighDpiMode.SystemAware</a:t>
            </a:r>
            <a:r>
              <a:rPr lang="fr-CA" sz="1200" dirty="0">
                <a:solidFill>
                  <a:srgbClr val="000000"/>
                </a:solidFill>
                <a:latin typeface="Consolas" panose="020B0609020204030204" pitchFamily="49" charset="0"/>
              </a:rPr>
              <a:t>);</a:t>
            </a:r>
          </a:p>
          <a:p>
            <a:pPr marL="0" indent="0">
              <a:buNone/>
            </a:pP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Application.EnableVisualStyles</a:t>
            </a:r>
            <a:r>
              <a:rPr lang="fr-CA" sz="1200" dirty="0">
                <a:solidFill>
                  <a:srgbClr val="000000"/>
                </a:solidFill>
                <a:latin typeface="Consolas" panose="020B0609020204030204" pitchFamily="49" charset="0"/>
              </a:rPr>
              <a:t>();</a:t>
            </a:r>
          </a:p>
          <a:p>
            <a:pPr marL="0" indent="0">
              <a:buNone/>
            </a:pP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Application.SetCompatibleTextRenderingDefault</a:t>
            </a:r>
            <a:r>
              <a:rPr lang="fr-CA" sz="1200" dirty="0">
                <a:solidFill>
                  <a:srgbClr val="000000"/>
                </a:solidFill>
                <a:latin typeface="Consolas" panose="020B0609020204030204" pitchFamily="49" charset="0"/>
              </a:rPr>
              <a:t>(</a:t>
            </a:r>
            <a:r>
              <a:rPr lang="fr-CA" sz="1200" dirty="0">
                <a:solidFill>
                  <a:srgbClr val="0000FF"/>
                </a:solidFill>
                <a:latin typeface="Consolas" panose="020B0609020204030204" pitchFamily="49" charset="0"/>
              </a:rPr>
              <a:t>false</a:t>
            </a:r>
            <a:r>
              <a:rPr lang="fr-CA" sz="1200" dirty="0">
                <a:solidFill>
                  <a:srgbClr val="000000"/>
                </a:solidFill>
                <a:latin typeface="Consolas" panose="020B0609020204030204" pitchFamily="49" charset="0"/>
              </a:rPr>
              <a:t>);         </a:t>
            </a:r>
          </a:p>
          <a:p>
            <a:pPr marL="0" indent="0">
              <a:buNone/>
            </a:pP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using</a:t>
            </a:r>
            <a:r>
              <a:rPr lang="en-US" sz="1200" dirty="0">
                <a:solidFill>
                  <a:srgbClr val="000000"/>
                </a:solidFill>
                <a:latin typeface="Consolas" panose="020B0609020204030204" pitchFamily="49" charset="0"/>
              </a:rPr>
              <a:t>(</a:t>
            </a:r>
            <a:r>
              <a:rPr lang="en-US" sz="1200" dirty="0">
                <a:solidFill>
                  <a:srgbClr val="0000FF"/>
                </a:solidFill>
                <a:latin typeface="Consolas" panose="020B0609020204030204" pitchFamily="49" charset="0"/>
              </a:rPr>
              <a:t>var</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serviceScope</a:t>
            </a:r>
            <a:r>
              <a:rPr lang="en-US" sz="1200" dirty="0">
                <a:solidFill>
                  <a:srgbClr val="000000"/>
                </a:solidFill>
                <a:latin typeface="Consolas" panose="020B0609020204030204" pitchFamily="49" charset="0"/>
              </a:rPr>
              <a:t> = </a:t>
            </a:r>
            <a:r>
              <a:rPr lang="en-US" sz="1200" dirty="0" err="1">
                <a:solidFill>
                  <a:srgbClr val="000000"/>
                </a:solidFill>
                <a:latin typeface="Consolas" panose="020B0609020204030204" pitchFamily="49" charset="0"/>
              </a:rPr>
              <a:t>host.Services.CreateScope</a:t>
            </a:r>
            <a:r>
              <a:rPr lang="en-US" sz="1200" dirty="0">
                <a:solidFill>
                  <a:srgbClr val="000000"/>
                </a:solidFill>
                <a:latin typeface="Consolas" panose="020B0609020204030204" pitchFamily="49" charset="0"/>
              </a:rPr>
              <a:t>())</a:t>
            </a:r>
          </a:p>
          <a:p>
            <a:pPr marL="0" indent="0">
              <a:buNone/>
            </a:pPr>
            <a:r>
              <a:rPr lang="fr-CA" sz="1200" dirty="0">
                <a:solidFill>
                  <a:srgbClr val="000000"/>
                </a:solidFill>
                <a:latin typeface="Consolas" panose="020B0609020204030204" pitchFamily="49" charset="0"/>
              </a:rPr>
              <a:t>         {</a:t>
            </a:r>
          </a:p>
          <a:p>
            <a:pPr marL="0" indent="0">
              <a:buNone/>
            </a:pPr>
            <a:r>
              <a:rPr lang="fr-CA" sz="1200" dirty="0">
                <a:solidFill>
                  <a:srgbClr val="000000"/>
                </a:solidFill>
                <a:latin typeface="Consolas" panose="020B0609020204030204" pitchFamily="49" charset="0"/>
              </a:rPr>
              <a:t>           </a:t>
            </a:r>
            <a:r>
              <a:rPr lang="fr-CA" sz="1200" dirty="0">
                <a:solidFill>
                  <a:srgbClr val="0000FF"/>
                </a:solidFill>
                <a:latin typeface="Consolas" panose="020B0609020204030204" pitchFamily="49" charset="0"/>
              </a:rPr>
              <a:t>var</a:t>
            </a:r>
            <a:r>
              <a:rPr lang="fr-CA" sz="1200" dirty="0">
                <a:solidFill>
                  <a:srgbClr val="000000"/>
                </a:solidFill>
                <a:latin typeface="Consolas" panose="020B0609020204030204" pitchFamily="49" charset="0"/>
              </a:rPr>
              <a:t> services = </a:t>
            </a:r>
            <a:r>
              <a:rPr lang="fr-CA" sz="1200" dirty="0" err="1">
                <a:solidFill>
                  <a:srgbClr val="000000"/>
                </a:solidFill>
                <a:latin typeface="Consolas" panose="020B0609020204030204" pitchFamily="49" charset="0"/>
              </a:rPr>
              <a:t>serviceScope.ServiceProvider</a:t>
            </a:r>
            <a:r>
              <a:rPr lang="fr-CA" sz="1200" dirty="0">
                <a:solidFill>
                  <a:srgbClr val="000000"/>
                </a:solidFill>
                <a:latin typeface="Consolas" panose="020B0609020204030204" pitchFamily="49" charset="0"/>
              </a:rPr>
              <a:t>;</a:t>
            </a:r>
          </a:p>
          <a:p>
            <a:pPr marL="0" indent="0">
              <a:buNone/>
            </a:pPr>
            <a:r>
              <a:rPr lang="fr-CA" sz="1200" dirty="0">
                <a:solidFill>
                  <a:srgbClr val="000000"/>
                </a:solidFill>
                <a:latin typeface="Consolas" panose="020B0609020204030204" pitchFamily="49" charset="0"/>
              </a:rPr>
              <a:t>           </a:t>
            </a:r>
            <a:r>
              <a:rPr lang="fr-CA" sz="1200" dirty="0" err="1">
                <a:solidFill>
                  <a:srgbClr val="0000FF"/>
                </a:solidFill>
                <a:latin typeface="Consolas" panose="020B0609020204030204" pitchFamily="49" charset="0"/>
              </a:rPr>
              <a:t>try</a:t>
            </a:r>
            <a:endParaRPr lang="fr-CA" sz="1200" dirty="0">
              <a:solidFill>
                <a:srgbClr val="000000"/>
              </a:solidFill>
              <a:latin typeface="Consolas" panose="020B0609020204030204" pitchFamily="49" charset="0"/>
            </a:endParaRPr>
          </a:p>
          <a:p>
            <a:pPr marL="0" indent="0">
              <a:buNone/>
            </a:pPr>
            <a:r>
              <a:rPr lang="fr-CA" sz="1200" dirty="0">
                <a:solidFill>
                  <a:srgbClr val="000000"/>
                </a:solidFill>
                <a:latin typeface="Consolas" panose="020B0609020204030204" pitchFamily="49" charset="0"/>
              </a:rPr>
              <a:t>             {</a:t>
            </a:r>
          </a:p>
          <a:p>
            <a:pPr marL="0" indent="0">
              <a:buNone/>
            </a:pPr>
            <a:r>
              <a:rPr lang="fr-CA" sz="1200" dirty="0">
                <a:solidFill>
                  <a:srgbClr val="000000"/>
                </a:solidFill>
                <a:latin typeface="Consolas" panose="020B0609020204030204" pitchFamily="49" charset="0"/>
              </a:rPr>
              <a:t>               </a:t>
            </a:r>
            <a:r>
              <a:rPr lang="fr-CA" sz="1200" dirty="0">
                <a:solidFill>
                  <a:srgbClr val="0000FF"/>
                </a:solidFill>
                <a:latin typeface="Consolas" panose="020B0609020204030204" pitchFamily="49" charset="0"/>
              </a:rPr>
              <a:t>var</a:t>
            </a: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forms</a:t>
            </a:r>
            <a:r>
              <a:rPr lang="fr-CA" sz="1200" dirty="0">
                <a:solidFill>
                  <a:srgbClr val="000000"/>
                </a:solidFill>
                <a:latin typeface="Consolas" panose="020B0609020204030204" pitchFamily="49" charset="0"/>
              </a:rPr>
              <a:t> = </a:t>
            </a:r>
            <a:r>
              <a:rPr lang="fr-CA" sz="1200" dirty="0" err="1">
                <a:solidFill>
                  <a:srgbClr val="000000"/>
                </a:solidFill>
                <a:latin typeface="Consolas" panose="020B0609020204030204" pitchFamily="49" charset="0"/>
              </a:rPr>
              <a:t>services.GetRequiredService</a:t>
            </a:r>
            <a:r>
              <a:rPr lang="fr-CA" sz="1200" dirty="0">
                <a:solidFill>
                  <a:srgbClr val="000000"/>
                </a:solidFill>
                <a:latin typeface="Consolas" panose="020B0609020204030204" pitchFamily="49" charset="0"/>
              </a:rPr>
              <a:t>&lt;</a:t>
            </a:r>
            <a:r>
              <a:rPr lang="fr-CA" sz="1200" dirty="0" err="1">
                <a:solidFill>
                  <a:srgbClr val="000000"/>
                </a:solidFill>
                <a:latin typeface="Consolas" panose="020B0609020204030204" pitchFamily="49" charset="0"/>
              </a:rPr>
              <a:t>FormTerminal</a:t>
            </a:r>
            <a:r>
              <a:rPr lang="fr-CA" sz="1200" dirty="0">
                <a:solidFill>
                  <a:srgbClr val="000000"/>
                </a:solidFill>
                <a:latin typeface="Consolas" panose="020B0609020204030204" pitchFamily="49" charset="0"/>
              </a:rPr>
              <a:t>&gt;();</a:t>
            </a:r>
          </a:p>
          <a:p>
            <a:pPr marL="0" indent="0">
              <a:buNone/>
            </a:pP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Application.Run</a:t>
            </a:r>
            <a:r>
              <a:rPr lang="fr-CA" sz="1200" dirty="0">
                <a:solidFill>
                  <a:srgbClr val="000000"/>
                </a:solidFill>
                <a:latin typeface="Consolas" panose="020B0609020204030204" pitchFamily="49" charset="0"/>
              </a:rPr>
              <a:t>(</a:t>
            </a:r>
            <a:r>
              <a:rPr lang="fr-CA" sz="1200" dirty="0" err="1">
                <a:solidFill>
                  <a:srgbClr val="000000"/>
                </a:solidFill>
                <a:latin typeface="Consolas" panose="020B0609020204030204" pitchFamily="49" charset="0"/>
              </a:rPr>
              <a:t>forms</a:t>
            </a:r>
            <a:r>
              <a:rPr lang="fr-CA" sz="1200" dirty="0">
                <a:solidFill>
                  <a:srgbClr val="000000"/>
                </a:solidFill>
                <a:latin typeface="Consolas" panose="020B0609020204030204" pitchFamily="49" charset="0"/>
              </a:rPr>
              <a:t>);</a:t>
            </a:r>
          </a:p>
          <a:p>
            <a:pPr marL="0" indent="0">
              <a:buNone/>
            </a:pPr>
            <a:r>
              <a:rPr lang="fr-CA" sz="1200" dirty="0">
                <a:solidFill>
                  <a:srgbClr val="000000"/>
                </a:solidFill>
                <a:latin typeface="Consolas" panose="020B0609020204030204" pitchFamily="49" charset="0"/>
              </a:rPr>
              <a:t>             }</a:t>
            </a:r>
          </a:p>
          <a:p>
            <a:pPr marL="0" indent="0">
              <a:buNone/>
            </a:pPr>
            <a:r>
              <a:rPr lang="fr-CA" sz="1200" dirty="0">
                <a:solidFill>
                  <a:srgbClr val="000000"/>
                </a:solidFill>
                <a:latin typeface="Consolas" panose="020B0609020204030204" pitchFamily="49" charset="0"/>
              </a:rPr>
              <a:t>           </a:t>
            </a:r>
            <a:r>
              <a:rPr lang="fr-CA" sz="1200" dirty="0">
                <a:solidFill>
                  <a:srgbClr val="0000FF"/>
                </a:solidFill>
                <a:latin typeface="Consolas" panose="020B0609020204030204" pitchFamily="49" charset="0"/>
              </a:rPr>
              <a:t>catch</a:t>
            </a:r>
            <a:r>
              <a:rPr lang="fr-CA" sz="1200" dirty="0">
                <a:solidFill>
                  <a:srgbClr val="000000"/>
                </a:solidFill>
                <a:latin typeface="Consolas" panose="020B0609020204030204" pitchFamily="49" charset="0"/>
              </a:rPr>
              <a:t>(Exception ex)</a:t>
            </a:r>
          </a:p>
          <a:p>
            <a:pPr marL="0" indent="0">
              <a:buNone/>
            </a:pPr>
            <a:r>
              <a:rPr lang="fr-CA" sz="1200" dirty="0">
                <a:solidFill>
                  <a:srgbClr val="000000"/>
                </a:solidFill>
                <a:latin typeface="Consolas" panose="020B0609020204030204" pitchFamily="49" charset="0"/>
              </a:rPr>
              <a:t>              {</a:t>
            </a:r>
          </a:p>
          <a:p>
            <a:pPr marL="0" indent="0">
              <a:buNone/>
            </a:pPr>
            <a:r>
              <a:rPr lang="fr-CA" sz="1200" dirty="0">
                <a:solidFill>
                  <a:srgbClr val="000000"/>
                </a:solidFill>
                <a:latin typeface="Consolas" panose="020B0609020204030204" pitchFamily="49" charset="0"/>
              </a:rPr>
              <a:t>                </a:t>
            </a:r>
            <a:r>
              <a:rPr lang="fr-CA" sz="1200" dirty="0" err="1">
                <a:solidFill>
                  <a:srgbClr val="000000"/>
                </a:solidFill>
                <a:latin typeface="Consolas" panose="020B0609020204030204" pitchFamily="49" charset="0"/>
              </a:rPr>
              <a:t>Console.WriteLine</a:t>
            </a:r>
            <a:r>
              <a:rPr lang="fr-CA" sz="1200" dirty="0">
                <a:solidFill>
                  <a:srgbClr val="000000"/>
                </a:solidFill>
                <a:latin typeface="Consolas" panose="020B0609020204030204" pitchFamily="49" charset="0"/>
              </a:rPr>
              <a:t>(</a:t>
            </a:r>
            <a:r>
              <a:rPr lang="fr-CA" sz="1200" dirty="0">
                <a:solidFill>
                  <a:srgbClr val="A31515"/>
                </a:solidFill>
                <a:latin typeface="Consolas" panose="020B0609020204030204" pitchFamily="49" charset="0"/>
              </a:rPr>
              <a:t>"</a:t>
            </a:r>
            <a:r>
              <a:rPr lang="fr-CA" sz="1200" dirty="0" err="1">
                <a:solidFill>
                  <a:srgbClr val="A31515"/>
                </a:solidFill>
                <a:latin typeface="Consolas" panose="020B0609020204030204" pitchFamily="49" charset="0"/>
              </a:rPr>
              <a:t>Error</a:t>
            </a:r>
            <a:r>
              <a:rPr lang="fr-CA" sz="1200" dirty="0">
                <a:solidFill>
                  <a:srgbClr val="A31515"/>
                </a:solidFill>
                <a:latin typeface="Consolas" panose="020B0609020204030204" pitchFamily="49" charset="0"/>
              </a:rPr>
              <a:t>"</a:t>
            </a:r>
            <a:r>
              <a:rPr lang="fr-CA" sz="1200" dirty="0">
                <a:solidFill>
                  <a:srgbClr val="000000"/>
                </a:solidFill>
                <a:latin typeface="Consolas" panose="020B0609020204030204" pitchFamily="49" charset="0"/>
              </a:rPr>
              <a:t>);</a:t>
            </a:r>
          </a:p>
          <a:p>
            <a:pPr marL="0" indent="0">
              <a:buNone/>
            </a:pPr>
            <a:r>
              <a:rPr lang="fr-CA" sz="1200" dirty="0">
                <a:solidFill>
                  <a:srgbClr val="000000"/>
                </a:solidFill>
                <a:latin typeface="Consolas" panose="020B0609020204030204" pitchFamily="49" charset="0"/>
              </a:rPr>
              <a:t>              }</a:t>
            </a:r>
          </a:p>
          <a:p>
            <a:pPr marL="0" indent="0">
              <a:buNone/>
            </a:pPr>
            <a:r>
              <a:rPr lang="fr-CA" sz="1200" dirty="0">
                <a:solidFill>
                  <a:srgbClr val="000000"/>
                </a:solidFill>
                <a:latin typeface="Consolas" panose="020B0609020204030204" pitchFamily="49" charset="0"/>
              </a:rPr>
              <a:t>        }</a:t>
            </a:r>
          </a:p>
          <a:p>
            <a:pPr marL="0" indent="0">
              <a:buNone/>
            </a:pPr>
            <a:r>
              <a:rPr lang="fr-CA" sz="1200" dirty="0">
                <a:solidFill>
                  <a:srgbClr val="000000"/>
                </a:solidFill>
                <a:latin typeface="Consolas" panose="020B0609020204030204" pitchFamily="49" charset="0"/>
              </a:rPr>
              <a:t>            </a:t>
            </a:r>
          </a:p>
          <a:p>
            <a:pPr marL="0" indent="0">
              <a:buNone/>
            </a:pPr>
            <a:r>
              <a:rPr lang="fr-CA" sz="1200" dirty="0">
                <a:solidFill>
                  <a:srgbClr val="000000"/>
                </a:solidFill>
                <a:latin typeface="Consolas" panose="020B0609020204030204" pitchFamily="49" charset="0"/>
              </a:rPr>
              <a:t>      }</a:t>
            </a:r>
            <a:endParaRPr lang="fr-CA" sz="1200" b="1" dirty="0"/>
          </a:p>
        </p:txBody>
      </p:sp>
      <p:sp>
        <p:nvSpPr>
          <p:cNvPr id="4099" name="Espace réservé du numéro de diapositive 4"/>
          <p:cNvSpPr>
            <a:spLocks noGrp="1"/>
          </p:cNvSpPr>
          <p:nvPr>
            <p:ph type="sldNum" sz="quarter" idx="12"/>
            <p:custDataLst>
              <p:tags r:id="rId3"/>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96</a:t>
            </a:fld>
            <a:endParaRPr lang="en-US" altLang="en-US"/>
          </a:p>
        </p:txBody>
      </p:sp>
    </p:spTree>
    <p:extLst>
      <p:ext uri="{BB962C8B-B14F-4D97-AF65-F5344CB8AC3E}">
        <p14:creationId xmlns:p14="http://schemas.microsoft.com/office/powerpoint/2010/main" val="221825160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fontScale="90000"/>
          </a:bodyPr>
          <a:lstStyle/>
          <a:p>
            <a:r>
              <a:rPr lang="fr-CA" altLang="fr-FR" dirty="0"/>
              <a:t>Configuration de l’inversion de dépendance</a:t>
            </a:r>
            <a:endParaRPr lang="en-US" altLang="fr-FR" dirty="0"/>
          </a:p>
        </p:txBody>
      </p:sp>
      <p:sp>
        <p:nvSpPr>
          <p:cNvPr id="4101" name="Rectangle 3"/>
          <p:cNvSpPr>
            <a:spLocks noGrp="1" noChangeArrowheads="1"/>
          </p:cNvSpPr>
          <p:nvPr>
            <p:ph idx="1"/>
            <p:custDataLst>
              <p:tags r:id="rId2"/>
            </p:custDataLst>
          </p:nvPr>
        </p:nvSpPr>
        <p:spPr>
          <a:xfrm>
            <a:off x="228600" y="1403874"/>
            <a:ext cx="8686800" cy="4653418"/>
          </a:xfrm>
        </p:spPr>
        <p:txBody>
          <a:bodyPr>
            <a:noAutofit/>
          </a:bodyPr>
          <a:lstStyle/>
          <a:p>
            <a:r>
              <a:rPr lang="fr-CA" sz="2400" dirty="0"/>
              <a:t>La méthode </a:t>
            </a:r>
            <a:r>
              <a:rPr lang="fr-CA" sz="2400" dirty="0" err="1"/>
              <a:t>ConfigureServices</a:t>
            </a:r>
            <a:r>
              <a:rPr lang="fr-CA" sz="2400" dirty="0"/>
              <a:t> de la classe </a:t>
            </a:r>
            <a:r>
              <a:rPr lang="fr-CA" sz="2400" dirty="0" err="1"/>
              <a:t>HostBuilder</a:t>
            </a:r>
            <a:r>
              <a:rPr lang="fr-CA" sz="2400" dirty="0"/>
              <a:t> est un endroit où vous pouvez enregistrer vos classes dépendantes avec le conteneur </a:t>
            </a:r>
            <a:r>
              <a:rPr lang="fr-CA" sz="2400" dirty="0" err="1"/>
              <a:t>IoC</a:t>
            </a:r>
            <a:r>
              <a:rPr lang="fr-CA" sz="2400" dirty="0"/>
              <a:t> (Inversion of Control) intégré</a:t>
            </a:r>
          </a:p>
          <a:p>
            <a:r>
              <a:rPr lang="fr-CA" sz="2400" dirty="0"/>
              <a:t>Après avoir enregistré la classe dépendante, elle peut être utilisée n’importe où dans l’application</a:t>
            </a:r>
          </a:p>
          <a:p>
            <a:r>
              <a:rPr lang="fr-CA" sz="2400" dirty="0"/>
              <a:t>Il vous suffit de l’inclure dans le paramètre du constructeur d’une classe où vous souhaitez l'utiliser</a:t>
            </a:r>
          </a:p>
          <a:p>
            <a:r>
              <a:rPr lang="fr-CA" sz="2400" dirty="0"/>
              <a:t>Le conteneur </a:t>
            </a:r>
            <a:r>
              <a:rPr lang="fr-CA" sz="2400" dirty="0" err="1"/>
              <a:t>IoC</a:t>
            </a:r>
            <a:r>
              <a:rPr lang="fr-CA" sz="2400" dirty="0"/>
              <a:t> l’injectera automatiquement</a:t>
            </a:r>
          </a:p>
          <a:p>
            <a:pPr lvl="1"/>
            <a:endParaRPr lang="en-CA" sz="2000" dirty="0"/>
          </a:p>
        </p:txBody>
      </p:sp>
      <p:sp>
        <p:nvSpPr>
          <p:cNvPr id="4099" name="Espace réservé du numéro de diapositive 4"/>
          <p:cNvSpPr>
            <a:spLocks noGrp="1"/>
          </p:cNvSpPr>
          <p:nvPr>
            <p:ph type="sldNum" sz="quarter" idx="12"/>
            <p:custDataLst>
              <p:tags r:id="rId3"/>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97</a:t>
            </a:fld>
            <a:endParaRPr lang="en-US" altLang="en-US"/>
          </a:p>
        </p:txBody>
      </p:sp>
    </p:spTree>
    <p:extLst>
      <p:ext uri="{BB962C8B-B14F-4D97-AF65-F5344CB8AC3E}">
        <p14:creationId xmlns:p14="http://schemas.microsoft.com/office/powerpoint/2010/main" val="232761424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custDataLst>
              <p:tags r:id="rId1"/>
            </p:custDataLst>
          </p:nvPr>
        </p:nvSpPr>
        <p:spPr/>
        <p:txBody>
          <a:bodyPr>
            <a:normAutofit fontScale="90000"/>
          </a:bodyPr>
          <a:lstStyle/>
          <a:p>
            <a:r>
              <a:rPr lang="fr-CA" altLang="fr-FR" dirty="0"/>
              <a:t>Configuration de l’inversion de dépendance</a:t>
            </a:r>
            <a:endParaRPr lang="en-US" altLang="fr-FR" dirty="0"/>
          </a:p>
        </p:txBody>
      </p:sp>
      <p:sp>
        <p:nvSpPr>
          <p:cNvPr id="4101" name="Rectangle 3"/>
          <p:cNvSpPr>
            <a:spLocks noGrp="1" noChangeArrowheads="1"/>
          </p:cNvSpPr>
          <p:nvPr>
            <p:ph idx="1"/>
            <p:custDataLst>
              <p:tags r:id="rId2"/>
            </p:custDataLst>
          </p:nvPr>
        </p:nvSpPr>
        <p:spPr>
          <a:xfrm>
            <a:off x="228600" y="1403874"/>
            <a:ext cx="8807896" cy="4653418"/>
          </a:xfrm>
        </p:spPr>
        <p:txBody>
          <a:bodyPr>
            <a:noAutofit/>
          </a:bodyPr>
          <a:lstStyle/>
          <a:p>
            <a:r>
              <a:rPr lang="fr-CA" sz="2400" dirty="0"/>
              <a:t>La durée de vie du service dépend du moment où la dépendance est instanciée et de sa durée de vie</a:t>
            </a:r>
          </a:p>
          <a:p>
            <a:r>
              <a:rPr lang="fr-CA" sz="2400" dirty="0"/>
              <a:t>Trois méthodes ci-dessous définissent la durée de vie des services :</a:t>
            </a:r>
          </a:p>
          <a:p>
            <a:pPr lvl="1"/>
            <a:r>
              <a:rPr lang="fr-CA" sz="2000" dirty="0" err="1"/>
              <a:t>AddTransient</a:t>
            </a:r>
            <a:r>
              <a:rPr lang="fr-CA" sz="2000" dirty="0"/>
              <a:t> : les services de durée de vie transitoire sont créés chaque fois qu’ils sont demandés. Cette durée de vie fonctionne mieux pour les services légers et sans état</a:t>
            </a:r>
          </a:p>
          <a:p>
            <a:pPr lvl="1"/>
            <a:r>
              <a:rPr lang="fr-CA" sz="2000" dirty="0"/>
              <a:t> </a:t>
            </a:r>
            <a:r>
              <a:rPr lang="fr-CA" sz="2000" dirty="0" err="1"/>
              <a:t>AddScoped</a:t>
            </a:r>
            <a:r>
              <a:rPr lang="fr-CA" sz="2000" dirty="0"/>
              <a:t> : les services sont créés une fois par demande</a:t>
            </a:r>
          </a:p>
          <a:p>
            <a:pPr lvl="1"/>
            <a:r>
              <a:rPr lang="fr-CA" sz="2000" dirty="0" err="1"/>
              <a:t>AddSingleton</a:t>
            </a:r>
            <a:r>
              <a:rPr lang="fr-CA" sz="2000" dirty="0"/>
              <a:t> : les services de durée de vie Singleton sont créés la première fois qu’ils sont demandés (ou lorsque </a:t>
            </a:r>
            <a:r>
              <a:rPr lang="fr-CA" sz="2000" dirty="0" err="1"/>
              <a:t>ConfigureServices</a:t>
            </a:r>
            <a:r>
              <a:rPr lang="fr-CA" sz="2000" dirty="0"/>
              <a:t> est exécuté si vous y spécifiez une instance), puis chaque demande ultérieure utilisera la même instance</a:t>
            </a:r>
          </a:p>
          <a:p>
            <a:r>
              <a:rPr lang="fr-CA" sz="2400"/>
              <a:t>Voir un </a:t>
            </a:r>
            <a:r>
              <a:rPr lang="fr-CA" sz="2400" dirty="0"/>
              <a:t>exemple à l’adresse https://stackoverflow.com/questions/38138100/addtransient-addscoped-and-addsingleton-services-differences</a:t>
            </a:r>
            <a:endParaRPr lang="en-CA" sz="2400" dirty="0"/>
          </a:p>
        </p:txBody>
      </p:sp>
      <p:sp>
        <p:nvSpPr>
          <p:cNvPr id="4099" name="Espace réservé du numéro de diapositive 4"/>
          <p:cNvSpPr>
            <a:spLocks noGrp="1"/>
          </p:cNvSpPr>
          <p:nvPr>
            <p:ph type="sldNum" sz="quarter" idx="12"/>
            <p:custDataLst>
              <p:tags r:id="rId3"/>
            </p:custDataLst>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4089AA4-63F6-4395-945C-47F07815AC14}" type="slidenum">
              <a:rPr lang="en-US" altLang="en-US" smtClean="0"/>
              <a:pPr/>
              <a:t>98</a:t>
            </a:fld>
            <a:endParaRPr lang="en-US" altLang="en-US"/>
          </a:p>
        </p:txBody>
      </p:sp>
    </p:spTree>
    <p:extLst>
      <p:ext uri="{BB962C8B-B14F-4D97-AF65-F5344CB8AC3E}">
        <p14:creationId xmlns:p14="http://schemas.microsoft.com/office/powerpoint/2010/main" val="21104164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1"/>
</p:tagLst>
</file>

<file path=ppt/tags/tag4.xml><?xml version="1.0" encoding="utf-8"?>
<p:tagLst xmlns:a="http://schemas.openxmlformats.org/drawingml/2006/main" xmlns:r="http://schemas.openxmlformats.org/officeDocument/2006/relationships" xmlns:p="http://schemas.openxmlformats.org/presentationml/2006/main">
  <p:tag name="NUM" val="2"/>
</p:tagLst>
</file>

<file path=ppt/tags/tag5.xml><?xml version="1.0" encoding="utf-8"?>
<p:tagLst xmlns:a="http://schemas.openxmlformats.org/drawingml/2006/main" xmlns:r="http://schemas.openxmlformats.org/officeDocument/2006/relationships" xmlns:p="http://schemas.openxmlformats.org/presentationml/2006/main">
  <p:tag name="NUM" val="3"/>
</p:tagLst>
</file>

<file path=ppt/tags/tag6.xml><?xml version="1.0" encoding="utf-8"?>
<p:tagLst xmlns:a="http://schemas.openxmlformats.org/drawingml/2006/main" xmlns:r="http://schemas.openxmlformats.org/officeDocument/2006/relationships" xmlns:p="http://schemas.openxmlformats.org/presentationml/2006/main">
  <p:tag name="NUM" val="4"/>
</p:tagLst>
</file>

<file path=ppt/tags/tag7.xml><?xml version="1.0" encoding="utf-8"?>
<p:tagLst xmlns:a="http://schemas.openxmlformats.org/drawingml/2006/main" xmlns:r="http://schemas.openxmlformats.org/officeDocument/2006/relationships" xmlns:p="http://schemas.openxmlformats.org/presentationml/2006/main">
  <p:tag name="NUM" val="1"/>
</p:tagLst>
</file>

<file path=ppt/tags/tag8.xml><?xml version="1.0" encoding="utf-8"?>
<p:tagLst xmlns:a="http://schemas.openxmlformats.org/drawingml/2006/main" xmlns:r="http://schemas.openxmlformats.org/officeDocument/2006/relationships" xmlns:p="http://schemas.openxmlformats.org/presentationml/2006/main">
  <p:tag name="NUM" val="3"/>
</p:tagLst>
</file>

<file path=ppt/tags/tag9.xml><?xml version="1.0" encoding="utf-8"?>
<p:tagLst xmlns:a="http://schemas.openxmlformats.org/drawingml/2006/main" xmlns:r="http://schemas.openxmlformats.org/officeDocument/2006/relationships" xmlns:p="http://schemas.openxmlformats.org/presentationml/2006/main">
  <p:tag name="NUM" val="1"/>
</p:tagLst>
</file>

<file path=ppt/tags/tag10.xml><?xml version="1.0" encoding="utf-8"?>
<p:tagLst xmlns:a="http://schemas.openxmlformats.org/drawingml/2006/main" xmlns:r="http://schemas.openxmlformats.org/officeDocument/2006/relationships" xmlns:p="http://schemas.openxmlformats.org/presentationml/2006/main">
  <p:tag name="NUM" val="2"/>
</p:tagLst>
</file>

<file path=ppt/tags/tag11.xml><?xml version="1.0" encoding="utf-8"?>
<p:tagLst xmlns:a="http://schemas.openxmlformats.org/drawingml/2006/main" xmlns:r="http://schemas.openxmlformats.org/officeDocument/2006/relationships" xmlns:p="http://schemas.openxmlformats.org/presentationml/2006/main">
  <p:tag name="NUM" val="2"/>
</p:tagLst>
</file>

<file path=ppt/tags/tag12.xml><?xml version="1.0" encoding="utf-8"?>
<p:tagLst xmlns:a="http://schemas.openxmlformats.org/drawingml/2006/main" xmlns:r="http://schemas.openxmlformats.org/officeDocument/2006/relationships" xmlns:p="http://schemas.openxmlformats.org/presentationml/2006/main">
  <p:tag name="NUM" val="4"/>
</p:tagLst>
</file>

<file path=ppt/tags/tag13.xml><?xml version="1.0" encoding="utf-8"?>
<p:tagLst xmlns:a="http://schemas.openxmlformats.org/drawingml/2006/main" xmlns:r="http://schemas.openxmlformats.org/officeDocument/2006/relationships" xmlns:p="http://schemas.openxmlformats.org/presentationml/2006/main">
  <p:tag name="NUM" val="5"/>
</p:tagLst>
</file>

<file path=ppt/tags/tag14.xml><?xml version="1.0" encoding="utf-8"?>
<p:tagLst xmlns:a="http://schemas.openxmlformats.org/drawingml/2006/main" xmlns:r="http://schemas.openxmlformats.org/officeDocument/2006/relationships" xmlns:p="http://schemas.openxmlformats.org/presentationml/2006/main">
  <p:tag name="NUM" val="6"/>
</p:tagLst>
</file>

<file path=ppt/tags/tag15.xml><?xml version="1.0" encoding="utf-8"?>
<p:tagLst xmlns:a="http://schemas.openxmlformats.org/drawingml/2006/main" xmlns:r="http://schemas.openxmlformats.org/officeDocument/2006/relationships" xmlns:p="http://schemas.openxmlformats.org/presentationml/2006/main">
  <p:tag name="NUM" val="2"/>
</p:tagLst>
</file>

<file path=ppt/tags/tag16.xml><?xml version="1.0" encoding="utf-8"?>
<p:tagLst xmlns:a="http://schemas.openxmlformats.org/drawingml/2006/main" xmlns:r="http://schemas.openxmlformats.org/officeDocument/2006/relationships" xmlns:p="http://schemas.openxmlformats.org/presentationml/2006/main">
  <p:tag name="NUM" val="2"/>
</p:tagLst>
</file>

<file path=ppt/tags/tag17.xml><?xml version="1.0" encoding="utf-8"?>
<p:tagLst xmlns:a="http://schemas.openxmlformats.org/drawingml/2006/main" xmlns:r="http://schemas.openxmlformats.org/officeDocument/2006/relationships" xmlns:p="http://schemas.openxmlformats.org/presentationml/2006/main">
  <p:tag name="NUM" val="4"/>
</p:tagLst>
</file>

<file path=ppt/tags/tag18.xml><?xml version="1.0" encoding="utf-8"?>
<p:tagLst xmlns:a="http://schemas.openxmlformats.org/drawingml/2006/main" xmlns:r="http://schemas.openxmlformats.org/officeDocument/2006/relationships" xmlns:p="http://schemas.openxmlformats.org/presentationml/2006/main">
  <p:tag name="NUM" val="5"/>
</p:tagLst>
</file>

<file path=ppt/tags/tag19.xml><?xml version="1.0" encoding="utf-8"?>
<p:tagLst xmlns:a="http://schemas.openxmlformats.org/drawingml/2006/main" xmlns:r="http://schemas.openxmlformats.org/officeDocument/2006/relationships" xmlns:p="http://schemas.openxmlformats.org/presentationml/2006/main">
  <p:tag name="NUM" val="6"/>
</p:tagLst>
</file>

<file path=ppt/tags/tag20.xml><?xml version="1.0" encoding="utf-8"?>
<p:tagLst xmlns:a="http://schemas.openxmlformats.org/drawingml/2006/main" xmlns:r="http://schemas.openxmlformats.org/officeDocument/2006/relationships" xmlns:p="http://schemas.openxmlformats.org/presentationml/2006/main">
  <p:tag name="NUM" val="2"/>
</p:tagLst>
</file>

<file path=ppt/tags/tag21.xml><?xml version="1.0" encoding="utf-8"?>
<p:tagLst xmlns:a="http://schemas.openxmlformats.org/drawingml/2006/main" xmlns:r="http://schemas.openxmlformats.org/officeDocument/2006/relationships" xmlns:p="http://schemas.openxmlformats.org/presentationml/2006/main">
  <p:tag name="NUM" val="2"/>
</p:tagLst>
</file>

<file path=ppt/tags/tag22.xml><?xml version="1.0" encoding="utf-8"?>
<p:tagLst xmlns:a="http://schemas.openxmlformats.org/drawingml/2006/main" xmlns:r="http://schemas.openxmlformats.org/officeDocument/2006/relationships" xmlns:p="http://schemas.openxmlformats.org/presentationml/2006/main">
  <p:tag name="NUM" val="4"/>
</p:tagLst>
</file>

<file path=ppt/tags/tag23.xml><?xml version="1.0" encoding="utf-8"?>
<p:tagLst xmlns:a="http://schemas.openxmlformats.org/drawingml/2006/main" xmlns:r="http://schemas.openxmlformats.org/officeDocument/2006/relationships" xmlns:p="http://schemas.openxmlformats.org/presentationml/2006/main">
  <p:tag name="NUM" val="5"/>
</p:tagLst>
</file>

<file path=ppt/tags/tag24.xml><?xml version="1.0" encoding="utf-8"?>
<p:tagLst xmlns:a="http://schemas.openxmlformats.org/drawingml/2006/main" xmlns:r="http://schemas.openxmlformats.org/officeDocument/2006/relationships" xmlns:p="http://schemas.openxmlformats.org/presentationml/2006/main">
  <p:tag name="NUM" val="6"/>
</p:tagLst>
</file>

<file path=ppt/tags/tag25.xml><?xml version="1.0" encoding="utf-8"?>
<p:tagLst xmlns:a="http://schemas.openxmlformats.org/drawingml/2006/main" xmlns:r="http://schemas.openxmlformats.org/officeDocument/2006/relationships" xmlns:p="http://schemas.openxmlformats.org/presentationml/2006/main">
  <p:tag name="NUM" val="1"/>
</p:tagLst>
</file>

<file path=ppt/tags/tag26.xml><?xml version="1.0" encoding="utf-8"?>
<p:tagLst xmlns:a="http://schemas.openxmlformats.org/drawingml/2006/main" xmlns:r="http://schemas.openxmlformats.org/officeDocument/2006/relationships" xmlns:p="http://schemas.openxmlformats.org/presentationml/2006/main">
  <p:tag name="NUM" val="2"/>
</p:tagLst>
</file>

<file path=ppt/tags/tag27.xml><?xml version="1.0" encoding="utf-8"?>
<p:tagLst xmlns:a="http://schemas.openxmlformats.org/drawingml/2006/main" xmlns:r="http://schemas.openxmlformats.org/officeDocument/2006/relationships" xmlns:p="http://schemas.openxmlformats.org/presentationml/2006/main">
  <p:tag name="NUM" val="3"/>
</p:tagLst>
</file>

<file path=ppt/tags/tag28.xml><?xml version="1.0" encoding="utf-8"?>
<p:tagLst xmlns:a="http://schemas.openxmlformats.org/drawingml/2006/main" xmlns:r="http://schemas.openxmlformats.org/officeDocument/2006/relationships" xmlns:p="http://schemas.openxmlformats.org/presentationml/2006/main">
  <p:tag name="NUM" val="1"/>
</p:tagLst>
</file>

<file path=ppt/tags/tag29.xml><?xml version="1.0" encoding="utf-8"?>
<p:tagLst xmlns:a="http://schemas.openxmlformats.org/drawingml/2006/main" xmlns:r="http://schemas.openxmlformats.org/officeDocument/2006/relationships" xmlns:p="http://schemas.openxmlformats.org/presentationml/2006/main">
  <p:tag name="NUM" val="2"/>
</p:tagLst>
</file>

<file path=ppt/tags/tag30.xml><?xml version="1.0" encoding="utf-8"?>
<p:tagLst xmlns:a="http://schemas.openxmlformats.org/drawingml/2006/main" xmlns:r="http://schemas.openxmlformats.org/officeDocument/2006/relationships" xmlns:p="http://schemas.openxmlformats.org/presentationml/2006/main">
  <p:tag name="NUM" val="3"/>
</p:tagLst>
</file>

<file path=ppt/tags/tag31.xml><?xml version="1.0" encoding="utf-8"?>
<p:tagLst xmlns:a="http://schemas.openxmlformats.org/drawingml/2006/main" xmlns:r="http://schemas.openxmlformats.org/officeDocument/2006/relationships" xmlns:p="http://schemas.openxmlformats.org/presentationml/2006/main">
  <p:tag name="NUM" val="1"/>
</p:tagLst>
</file>

<file path=ppt/tags/tag32.xml><?xml version="1.0" encoding="utf-8"?>
<p:tagLst xmlns:a="http://schemas.openxmlformats.org/drawingml/2006/main" xmlns:r="http://schemas.openxmlformats.org/officeDocument/2006/relationships" xmlns:p="http://schemas.openxmlformats.org/presentationml/2006/main">
  <p:tag name="NUM" val="3"/>
</p:tagLst>
</file>

<file path=ppt/tags/tag33.xml><?xml version="1.0" encoding="utf-8"?>
<p:tagLst xmlns:a="http://schemas.openxmlformats.org/drawingml/2006/main" xmlns:r="http://schemas.openxmlformats.org/officeDocument/2006/relationships" xmlns:p="http://schemas.openxmlformats.org/presentationml/2006/main">
  <p:tag name="NUM" val="1"/>
</p:tagLst>
</file>

<file path=ppt/tags/tag34.xml><?xml version="1.0" encoding="utf-8"?>
<p:tagLst xmlns:a="http://schemas.openxmlformats.org/drawingml/2006/main" xmlns:r="http://schemas.openxmlformats.org/officeDocument/2006/relationships" xmlns:p="http://schemas.openxmlformats.org/presentationml/2006/main">
  <p:tag name="NUM" val="2"/>
</p:tagLst>
</file>

<file path=ppt/tags/tag35.xml><?xml version="1.0" encoding="utf-8"?>
<p:tagLst xmlns:a="http://schemas.openxmlformats.org/drawingml/2006/main" xmlns:r="http://schemas.openxmlformats.org/officeDocument/2006/relationships" xmlns:p="http://schemas.openxmlformats.org/presentationml/2006/main">
  <p:tag name="NUM" val="3"/>
</p:tagLst>
</file>

<file path=ppt/tags/tag36.xml><?xml version="1.0" encoding="utf-8"?>
<p:tagLst xmlns:a="http://schemas.openxmlformats.org/drawingml/2006/main" xmlns:r="http://schemas.openxmlformats.org/officeDocument/2006/relationships" xmlns:p="http://schemas.openxmlformats.org/presentationml/2006/main">
  <p:tag name="NUM" val="1"/>
</p:tagLst>
</file>

<file path=ppt/tags/tag37.xml><?xml version="1.0" encoding="utf-8"?>
<p:tagLst xmlns:a="http://schemas.openxmlformats.org/drawingml/2006/main" xmlns:r="http://schemas.openxmlformats.org/officeDocument/2006/relationships" xmlns:p="http://schemas.openxmlformats.org/presentationml/2006/main">
  <p:tag name="NUM" val="2"/>
</p:tagLst>
</file>

<file path=ppt/tags/tag38.xml><?xml version="1.0" encoding="utf-8"?>
<p:tagLst xmlns:a="http://schemas.openxmlformats.org/drawingml/2006/main" xmlns:r="http://schemas.openxmlformats.org/officeDocument/2006/relationships" xmlns:p="http://schemas.openxmlformats.org/presentationml/2006/main">
  <p:tag name="NUM" val="3"/>
</p:tagLst>
</file>

<file path=ppt/tags/tag39.xml><?xml version="1.0" encoding="utf-8"?>
<p:tagLst xmlns:a="http://schemas.openxmlformats.org/drawingml/2006/main" xmlns:r="http://schemas.openxmlformats.org/officeDocument/2006/relationships" xmlns:p="http://schemas.openxmlformats.org/presentationml/2006/main">
  <p:tag name="NUM" val="1"/>
</p:tagLst>
</file>

<file path=ppt/tags/tag40.xml><?xml version="1.0" encoding="utf-8"?>
<p:tagLst xmlns:a="http://schemas.openxmlformats.org/drawingml/2006/main" xmlns:r="http://schemas.openxmlformats.org/officeDocument/2006/relationships" xmlns:p="http://schemas.openxmlformats.org/presentationml/2006/main">
  <p:tag name="NUM" val="2"/>
</p:tagLst>
</file>

<file path=ppt/tags/tag41.xml><?xml version="1.0" encoding="utf-8"?>
<p:tagLst xmlns:a="http://schemas.openxmlformats.org/drawingml/2006/main" xmlns:r="http://schemas.openxmlformats.org/officeDocument/2006/relationships" xmlns:p="http://schemas.openxmlformats.org/presentationml/2006/main">
  <p:tag name="NUM" val="3"/>
</p:tagLst>
</file>

<file path=ppt/tags/tag42.xml><?xml version="1.0" encoding="utf-8"?>
<p:tagLst xmlns:a="http://schemas.openxmlformats.org/drawingml/2006/main" xmlns:r="http://schemas.openxmlformats.org/officeDocument/2006/relationships" xmlns:p="http://schemas.openxmlformats.org/presentationml/2006/main">
  <p:tag name="NUM" val="1"/>
</p:tagLst>
</file>

<file path=ppt/tags/tag43.xml><?xml version="1.0" encoding="utf-8"?>
<p:tagLst xmlns:a="http://schemas.openxmlformats.org/drawingml/2006/main" xmlns:r="http://schemas.openxmlformats.org/officeDocument/2006/relationships" xmlns:p="http://schemas.openxmlformats.org/presentationml/2006/main">
  <p:tag name="NUM" val="2"/>
</p:tagLst>
</file>

<file path=ppt/tags/tag44.xml><?xml version="1.0" encoding="utf-8"?>
<p:tagLst xmlns:a="http://schemas.openxmlformats.org/drawingml/2006/main" xmlns:r="http://schemas.openxmlformats.org/officeDocument/2006/relationships" xmlns:p="http://schemas.openxmlformats.org/presentationml/2006/main">
  <p:tag name="NUM" val="3"/>
</p:tagLst>
</file>

<file path=ppt/tags/tag45.xml><?xml version="1.0" encoding="utf-8"?>
<p:tagLst xmlns:a="http://schemas.openxmlformats.org/drawingml/2006/main" xmlns:r="http://schemas.openxmlformats.org/officeDocument/2006/relationships" xmlns:p="http://schemas.openxmlformats.org/presentationml/2006/main">
  <p:tag name="NUM" val="1"/>
</p:tagLst>
</file>

<file path=ppt/tags/tag46.xml><?xml version="1.0" encoding="utf-8"?>
<p:tagLst xmlns:a="http://schemas.openxmlformats.org/drawingml/2006/main" xmlns:r="http://schemas.openxmlformats.org/officeDocument/2006/relationships" xmlns:p="http://schemas.openxmlformats.org/presentationml/2006/main">
  <p:tag name="NUM" val="2"/>
</p:tagLst>
</file>

<file path=ppt/tags/tag47.xml><?xml version="1.0" encoding="utf-8"?>
<p:tagLst xmlns:a="http://schemas.openxmlformats.org/drawingml/2006/main" xmlns:r="http://schemas.openxmlformats.org/officeDocument/2006/relationships" xmlns:p="http://schemas.openxmlformats.org/presentationml/2006/main">
  <p:tag name="NUM" val="3"/>
</p:tagLst>
</file>

<file path=ppt/tags/tag48.xml><?xml version="1.0" encoding="utf-8"?>
<p:tagLst xmlns:a="http://schemas.openxmlformats.org/drawingml/2006/main" xmlns:r="http://schemas.openxmlformats.org/officeDocument/2006/relationships" xmlns:p="http://schemas.openxmlformats.org/presentationml/2006/main">
  <p:tag name="NUM" val="4"/>
</p:tagLst>
</file>

<file path=ppt/tags/tag49.xml><?xml version="1.0" encoding="utf-8"?>
<p:tagLst xmlns:a="http://schemas.openxmlformats.org/drawingml/2006/main" xmlns:r="http://schemas.openxmlformats.org/officeDocument/2006/relationships" xmlns:p="http://schemas.openxmlformats.org/presentationml/2006/main">
  <p:tag name="NUM" val="5"/>
</p:tagLst>
</file>

<file path=ppt/tags/tag50.xml><?xml version="1.0" encoding="utf-8"?>
<p:tagLst xmlns:a="http://schemas.openxmlformats.org/drawingml/2006/main" xmlns:r="http://schemas.openxmlformats.org/officeDocument/2006/relationships" xmlns:p="http://schemas.openxmlformats.org/presentationml/2006/main">
  <p:tag name="NUM" val="6"/>
</p:tagLst>
</file>

<file path=ppt/tags/tag51.xml><?xml version="1.0" encoding="utf-8"?>
<p:tagLst xmlns:a="http://schemas.openxmlformats.org/drawingml/2006/main" xmlns:r="http://schemas.openxmlformats.org/officeDocument/2006/relationships" xmlns:p="http://schemas.openxmlformats.org/presentationml/2006/main">
  <p:tag name="NUM" val="7"/>
</p:tagLst>
</file>

<file path=ppt/tags/tag52.xml><?xml version="1.0" encoding="utf-8"?>
<p:tagLst xmlns:a="http://schemas.openxmlformats.org/drawingml/2006/main" xmlns:r="http://schemas.openxmlformats.org/officeDocument/2006/relationships" xmlns:p="http://schemas.openxmlformats.org/presentationml/2006/main">
  <p:tag name="NUM" val="1"/>
</p:tagLst>
</file>

<file path=ppt/tags/tag53.xml><?xml version="1.0" encoding="utf-8"?>
<p:tagLst xmlns:a="http://schemas.openxmlformats.org/drawingml/2006/main" xmlns:r="http://schemas.openxmlformats.org/officeDocument/2006/relationships" xmlns:p="http://schemas.openxmlformats.org/presentationml/2006/main">
  <p:tag name="NUM" val="3"/>
</p:tagLst>
</file>

<file path=ppt/tags/tag54.xml><?xml version="1.0" encoding="utf-8"?>
<p:tagLst xmlns:a="http://schemas.openxmlformats.org/drawingml/2006/main" xmlns:r="http://schemas.openxmlformats.org/officeDocument/2006/relationships" xmlns:p="http://schemas.openxmlformats.org/presentationml/2006/main">
  <p:tag name="NUM" val="1"/>
</p:tagLst>
</file>

<file path=ppt/tags/tag55.xml><?xml version="1.0" encoding="utf-8"?>
<p:tagLst xmlns:a="http://schemas.openxmlformats.org/drawingml/2006/main" xmlns:r="http://schemas.openxmlformats.org/officeDocument/2006/relationships" xmlns:p="http://schemas.openxmlformats.org/presentationml/2006/main">
  <p:tag name="NUM" val="3"/>
</p:tagLst>
</file>

<file path=ppt/tags/tag56.xml><?xml version="1.0" encoding="utf-8"?>
<p:tagLst xmlns:a="http://schemas.openxmlformats.org/drawingml/2006/main" xmlns:r="http://schemas.openxmlformats.org/officeDocument/2006/relationships" xmlns:p="http://schemas.openxmlformats.org/presentationml/2006/main">
  <p:tag name="NUM" val="1"/>
</p:tagLst>
</file>

<file path=ppt/tags/tag57.xml><?xml version="1.0" encoding="utf-8"?>
<p:tagLst xmlns:a="http://schemas.openxmlformats.org/drawingml/2006/main" xmlns:r="http://schemas.openxmlformats.org/officeDocument/2006/relationships" xmlns:p="http://schemas.openxmlformats.org/presentationml/2006/main">
  <p:tag name="NUM" val="2"/>
</p:tagLst>
</file>

<file path=ppt/tags/tag58.xml><?xml version="1.0" encoding="utf-8"?>
<p:tagLst xmlns:a="http://schemas.openxmlformats.org/drawingml/2006/main" xmlns:r="http://schemas.openxmlformats.org/officeDocument/2006/relationships" xmlns:p="http://schemas.openxmlformats.org/presentationml/2006/main">
  <p:tag name="NUM" val="3"/>
</p:tagLst>
</file>

<file path=ppt/tags/tag59.xml><?xml version="1.0" encoding="utf-8"?>
<p:tagLst xmlns:a="http://schemas.openxmlformats.org/drawingml/2006/main" xmlns:r="http://schemas.openxmlformats.org/officeDocument/2006/relationships" xmlns:p="http://schemas.openxmlformats.org/presentationml/2006/main">
  <p:tag name="NUM" val="1"/>
</p:tagLst>
</file>

<file path=ppt/tags/tag60.xml><?xml version="1.0" encoding="utf-8"?>
<p:tagLst xmlns:a="http://schemas.openxmlformats.org/drawingml/2006/main" xmlns:r="http://schemas.openxmlformats.org/officeDocument/2006/relationships" xmlns:p="http://schemas.openxmlformats.org/presentationml/2006/main">
  <p:tag name="NUM" val="2"/>
</p:tagLst>
</file>

<file path=ppt/tags/tag61.xml><?xml version="1.0" encoding="utf-8"?>
<p:tagLst xmlns:a="http://schemas.openxmlformats.org/drawingml/2006/main" xmlns:r="http://schemas.openxmlformats.org/officeDocument/2006/relationships" xmlns:p="http://schemas.openxmlformats.org/presentationml/2006/main">
  <p:tag name="NUM" val="3"/>
</p:tagLst>
</file>

<file path=ppt/tags/tag62.xml><?xml version="1.0" encoding="utf-8"?>
<p:tagLst xmlns:a="http://schemas.openxmlformats.org/drawingml/2006/main" xmlns:r="http://schemas.openxmlformats.org/officeDocument/2006/relationships" xmlns:p="http://schemas.openxmlformats.org/presentationml/2006/main">
  <p:tag name="NUM" val="1"/>
</p:tagLst>
</file>

<file path=ppt/tags/tag63.xml><?xml version="1.0" encoding="utf-8"?>
<p:tagLst xmlns:a="http://schemas.openxmlformats.org/drawingml/2006/main" xmlns:r="http://schemas.openxmlformats.org/officeDocument/2006/relationships" xmlns:p="http://schemas.openxmlformats.org/presentationml/2006/main">
  <p:tag name="NUM" val="3"/>
</p:tagLst>
</file>

<file path=ppt/tags/tag64.xml><?xml version="1.0" encoding="utf-8"?>
<p:tagLst xmlns:a="http://schemas.openxmlformats.org/drawingml/2006/main" xmlns:r="http://schemas.openxmlformats.org/officeDocument/2006/relationships" xmlns:p="http://schemas.openxmlformats.org/presentationml/2006/main">
  <p:tag name="NUM" val="1"/>
</p:tagLst>
</file>

<file path=ppt/tags/tag65.xml><?xml version="1.0" encoding="utf-8"?>
<p:tagLst xmlns:a="http://schemas.openxmlformats.org/drawingml/2006/main" xmlns:r="http://schemas.openxmlformats.org/officeDocument/2006/relationships" xmlns:p="http://schemas.openxmlformats.org/presentationml/2006/main">
  <p:tag name="NUM" val="2"/>
</p:tagLst>
</file>

<file path=ppt/tags/tag66.xml><?xml version="1.0" encoding="utf-8"?>
<p:tagLst xmlns:a="http://schemas.openxmlformats.org/drawingml/2006/main" xmlns:r="http://schemas.openxmlformats.org/officeDocument/2006/relationships" xmlns:p="http://schemas.openxmlformats.org/presentationml/2006/main">
  <p:tag name="NUM" val="1"/>
</p:tagLst>
</file>

<file path=ppt/tags/tag67.xml><?xml version="1.0" encoding="utf-8"?>
<p:tagLst xmlns:a="http://schemas.openxmlformats.org/drawingml/2006/main" xmlns:r="http://schemas.openxmlformats.org/officeDocument/2006/relationships" xmlns:p="http://schemas.openxmlformats.org/presentationml/2006/main">
  <p:tag name="NUM" val="2"/>
</p:tagLst>
</file>

<file path=ppt/tags/tag68.xml><?xml version="1.0" encoding="utf-8"?>
<p:tagLst xmlns:a="http://schemas.openxmlformats.org/drawingml/2006/main" xmlns:r="http://schemas.openxmlformats.org/officeDocument/2006/relationships" xmlns:p="http://schemas.openxmlformats.org/presentationml/2006/main">
  <p:tag name="NUM" val="3"/>
</p:tagLst>
</file>

<file path=ppt/tags/tag69.xml><?xml version="1.0" encoding="utf-8"?>
<p:tagLst xmlns:a="http://schemas.openxmlformats.org/drawingml/2006/main" xmlns:r="http://schemas.openxmlformats.org/officeDocument/2006/relationships" xmlns:p="http://schemas.openxmlformats.org/presentationml/2006/main">
  <p:tag name="NUM" val="1"/>
</p:tagLst>
</file>

<file path=ppt/tags/tag70.xml><?xml version="1.0" encoding="utf-8"?>
<p:tagLst xmlns:a="http://schemas.openxmlformats.org/drawingml/2006/main" xmlns:r="http://schemas.openxmlformats.org/officeDocument/2006/relationships" xmlns:p="http://schemas.openxmlformats.org/presentationml/2006/main">
  <p:tag name="NUM" val="2"/>
</p:tagLst>
</file>

<file path=ppt/tags/tag71.xml><?xml version="1.0" encoding="utf-8"?>
<p:tagLst xmlns:a="http://schemas.openxmlformats.org/drawingml/2006/main" xmlns:r="http://schemas.openxmlformats.org/officeDocument/2006/relationships" xmlns:p="http://schemas.openxmlformats.org/presentationml/2006/main">
  <p:tag name="NUM" val="3"/>
</p:tagLst>
</file>

<file path=ppt/tags/tag72.xml><?xml version="1.0" encoding="utf-8"?>
<p:tagLst xmlns:a="http://schemas.openxmlformats.org/drawingml/2006/main" xmlns:r="http://schemas.openxmlformats.org/officeDocument/2006/relationships" xmlns:p="http://schemas.openxmlformats.org/presentationml/2006/main">
  <p:tag name="NUM" val="1"/>
</p:tagLst>
</file>

<file path=ppt/tags/tag73.xml><?xml version="1.0" encoding="utf-8"?>
<p:tagLst xmlns:a="http://schemas.openxmlformats.org/drawingml/2006/main" xmlns:r="http://schemas.openxmlformats.org/officeDocument/2006/relationships" xmlns:p="http://schemas.openxmlformats.org/presentationml/2006/main">
  <p:tag name="NUM" val="3"/>
</p:tagLst>
</file>

<file path=ppt/tags/tag74.xml><?xml version="1.0" encoding="utf-8"?>
<p:tagLst xmlns:a="http://schemas.openxmlformats.org/drawingml/2006/main" xmlns:r="http://schemas.openxmlformats.org/officeDocument/2006/relationships" xmlns:p="http://schemas.openxmlformats.org/presentationml/2006/main">
  <p:tag name="NUM" val="1"/>
</p:tagLst>
</file>

<file path=ppt/tags/tag75.xml><?xml version="1.0" encoding="utf-8"?>
<p:tagLst xmlns:a="http://schemas.openxmlformats.org/drawingml/2006/main" xmlns:r="http://schemas.openxmlformats.org/officeDocument/2006/relationships" xmlns:p="http://schemas.openxmlformats.org/presentationml/2006/main">
  <p:tag name="NUM" val="2"/>
</p:tagLst>
</file>

<file path=ppt/tags/tag76.xml><?xml version="1.0" encoding="utf-8"?>
<p:tagLst xmlns:a="http://schemas.openxmlformats.org/drawingml/2006/main" xmlns:r="http://schemas.openxmlformats.org/officeDocument/2006/relationships" xmlns:p="http://schemas.openxmlformats.org/presentationml/2006/main">
  <p:tag name="NUM" val="3"/>
</p:tagLst>
</file>

<file path=ppt/tags/tag77.xml><?xml version="1.0" encoding="utf-8"?>
<p:tagLst xmlns:a="http://schemas.openxmlformats.org/drawingml/2006/main" xmlns:r="http://schemas.openxmlformats.org/officeDocument/2006/relationships" xmlns:p="http://schemas.openxmlformats.org/presentationml/2006/main">
  <p:tag name="NUM" val="1"/>
</p:tagLst>
</file>

<file path=ppt/tags/tag78.xml><?xml version="1.0" encoding="utf-8"?>
<p:tagLst xmlns:a="http://schemas.openxmlformats.org/drawingml/2006/main" xmlns:r="http://schemas.openxmlformats.org/officeDocument/2006/relationships" xmlns:p="http://schemas.openxmlformats.org/presentationml/2006/main">
  <p:tag name="NUM" val="2"/>
</p:tagLst>
</file>

<file path=ppt/tags/tag79.xml><?xml version="1.0" encoding="utf-8"?>
<p:tagLst xmlns:a="http://schemas.openxmlformats.org/drawingml/2006/main" xmlns:r="http://schemas.openxmlformats.org/officeDocument/2006/relationships" xmlns:p="http://schemas.openxmlformats.org/presentationml/2006/main">
  <p:tag name="NUM" val="3"/>
</p:tagLst>
</file>

<file path=ppt/tags/tag80.xml><?xml version="1.0" encoding="utf-8"?>
<p:tagLst xmlns:a="http://schemas.openxmlformats.org/drawingml/2006/main" xmlns:r="http://schemas.openxmlformats.org/officeDocument/2006/relationships" xmlns:p="http://schemas.openxmlformats.org/presentationml/2006/main">
  <p:tag name="NUM" val="1"/>
</p:tagLst>
</file>

<file path=ppt/tags/tag81.xml><?xml version="1.0" encoding="utf-8"?>
<p:tagLst xmlns:a="http://schemas.openxmlformats.org/drawingml/2006/main" xmlns:r="http://schemas.openxmlformats.org/officeDocument/2006/relationships" xmlns:p="http://schemas.openxmlformats.org/presentationml/2006/main">
  <p:tag name="NUM" val="2"/>
</p:tagLst>
</file>

<file path=ppt/tags/tag82.xml><?xml version="1.0" encoding="utf-8"?>
<p:tagLst xmlns:a="http://schemas.openxmlformats.org/drawingml/2006/main" xmlns:r="http://schemas.openxmlformats.org/officeDocument/2006/relationships" xmlns:p="http://schemas.openxmlformats.org/presentationml/2006/main">
  <p:tag name="NUM" val="3"/>
</p:tagLst>
</file>

<file path=ppt/tags/tag83.xml><?xml version="1.0" encoding="utf-8"?>
<p:tagLst xmlns:a="http://schemas.openxmlformats.org/drawingml/2006/main" xmlns:r="http://schemas.openxmlformats.org/officeDocument/2006/relationships" xmlns:p="http://schemas.openxmlformats.org/presentationml/2006/main">
  <p:tag name="NUM" val="1"/>
</p:tagLst>
</file>

<file path=ppt/tags/tag84.xml><?xml version="1.0" encoding="utf-8"?>
<p:tagLst xmlns:a="http://schemas.openxmlformats.org/drawingml/2006/main" xmlns:r="http://schemas.openxmlformats.org/officeDocument/2006/relationships" xmlns:p="http://schemas.openxmlformats.org/presentationml/2006/main">
  <p:tag name="NUM" val="2"/>
</p:tagLst>
</file>

<file path=ppt/tags/tag85.xml><?xml version="1.0" encoding="utf-8"?>
<p:tagLst xmlns:a="http://schemas.openxmlformats.org/drawingml/2006/main" xmlns:r="http://schemas.openxmlformats.org/officeDocument/2006/relationships" xmlns:p="http://schemas.openxmlformats.org/presentationml/2006/main">
  <p:tag name="NUM" val="3"/>
</p:tagLst>
</file>

<file path=ppt/tags/tag86.xml><?xml version="1.0" encoding="utf-8"?>
<p:tagLst xmlns:a="http://schemas.openxmlformats.org/drawingml/2006/main" xmlns:r="http://schemas.openxmlformats.org/officeDocument/2006/relationships" xmlns:p="http://schemas.openxmlformats.org/presentationml/2006/main">
  <p:tag name="NUM" val="1"/>
</p:tagLst>
</file>

<file path=ppt/tags/tag87.xml><?xml version="1.0" encoding="utf-8"?>
<p:tagLst xmlns:a="http://schemas.openxmlformats.org/drawingml/2006/main" xmlns:r="http://schemas.openxmlformats.org/officeDocument/2006/relationships" xmlns:p="http://schemas.openxmlformats.org/presentationml/2006/main">
  <p:tag name="NUM" val="3"/>
</p:tagLst>
</file>

<file path=ppt/tags/tag88.xml><?xml version="1.0" encoding="utf-8"?>
<p:tagLst xmlns:a="http://schemas.openxmlformats.org/drawingml/2006/main" xmlns:r="http://schemas.openxmlformats.org/officeDocument/2006/relationships" xmlns:p="http://schemas.openxmlformats.org/presentationml/2006/main">
  <p:tag name="NUM" val="1"/>
</p:tagLst>
</file>

<file path=ppt/tags/tag89.xml><?xml version="1.0" encoding="utf-8"?>
<p:tagLst xmlns:a="http://schemas.openxmlformats.org/drawingml/2006/main" xmlns:r="http://schemas.openxmlformats.org/officeDocument/2006/relationships" xmlns:p="http://schemas.openxmlformats.org/presentationml/2006/main">
  <p:tag name="NUM" val="2"/>
</p:tagLst>
</file>

<file path=ppt/tags/tag90.xml><?xml version="1.0" encoding="utf-8"?>
<p:tagLst xmlns:a="http://schemas.openxmlformats.org/drawingml/2006/main" xmlns:r="http://schemas.openxmlformats.org/officeDocument/2006/relationships" xmlns:p="http://schemas.openxmlformats.org/presentationml/2006/main">
  <p:tag name="NUM" val="3"/>
</p:tagLst>
</file>

<file path=ppt/tags/tag91.xml><?xml version="1.0" encoding="utf-8"?>
<p:tagLst xmlns:a="http://schemas.openxmlformats.org/drawingml/2006/main" xmlns:r="http://schemas.openxmlformats.org/officeDocument/2006/relationships" xmlns:p="http://schemas.openxmlformats.org/presentationml/2006/main">
  <p:tag name="NUM" val="1"/>
</p:tagLst>
</file>

<file path=ppt/tags/tag92.xml><?xml version="1.0" encoding="utf-8"?>
<p:tagLst xmlns:a="http://schemas.openxmlformats.org/drawingml/2006/main" xmlns:r="http://schemas.openxmlformats.org/officeDocument/2006/relationships" xmlns:p="http://schemas.openxmlformats.org/presentationml/2006/main">
  <p:tag name="NUM" val="2"/>
</p:tagLst>
</file>

<file path=ppt/tags/tag93.xml><?xml version="1.0" encoding="utf-8"?>
<p:tagLst xmlns:a="http://schemas.openxmlformats.org/drawingml/2006/main" xmlns:r="http://schemas.openxmlformats.org/officeDocument/2006/relationships" xmlns:p="http://schemas.openxmlformats.org/presentationml/2006/main">
  <p:tag name="NUM" val="3"/>
</p:tagLst>
</file>

<file path=ppt/tags/tag94.xml><?xml version="1.0" encoding="utf-8"?>
<p:tagLst xmlns:a="http://schemas.openxmlformats.org/drawingml/2006/main" xmlns:r="http://schemas.openxmlformats.org/officeDocument/2006/relationships" xmlns:p="http://schemas.openxmlformats.org/presentationml/2006/main">
  <p:tag name="NUM" val="1"/>
</p:tagLst>
</file>

<file path=ppt/tags/tag95.xml><?xml version="1.0" encoding="utf-8"?>
<p:tagLst xmlns:a="http://schemas.openxmlformats.org/drawingml/2006/main" xmlns:r="http://schemas.openxmlformats.org/officeDocument/2006/relationships" xmlns:p="http://schemas.openxmlformats.org/presentationml/2006/main">
  <p:tag name="NUM" val="3"/>
</p:tagLst>
</file>

<file path=ppt/tags/tag96.xml><?xml version="1.0" encoding="utf-8"?>
<p:tagLst xmlns:a="http://schemas.openxmlformats.org/drawingml/2006/main" xmlns:r="http://schemas.openxmlformats.org/officeDocument/2006/relationships" xmlns:p="http://schemas.openxmlformats.org/presentationml/2006/main">
  <p:tag name="NUM" val="1"/>
</p:tagLst>
</file>

<file path=ppt/tags/tag97.xml><?xml version="1.0" encoding="utf-8"?>
<p:tagLst xmlns:a="http://schemas.openxmlformats.org/drawingml/2006/main" xmlns:r="http://schemas.openxmlformats.org/officeDocument/2006/relationships" xmlns:p="http://schemas.openxmlformats.org/presentationml/2006/main">
  <p:tag name="NUM" val="3"/>
</p:tagLst>
</file>

<file path=ppt/tags/tag98.xml><?xml version="1.0" encoding="utf-8"?>
<p:tagLst xmlns:a="http://schemas.openxmlformats.org/drawingml/2006/main" xmlns:r="http://schemas.openxmlformats.org/officeDocument/2006/relationships" xmlns:p="http://schemas.openxmlformats.org/presentationml/2006/main">
  <p:tag name="NUM" val="1"/>
</p:tagLst>
</file>

<file path=ppt/tags/tag99.xml><?xml version="1.0" encoding="utf-8"?>
<p:tagLst xmlns:a="http://schemas.openxmlformats.org/drawingml/2006/main" xmlns:r="http://schemas.openxmlformats.org/officeDocument/2006/relationships" xmlns:p="http://schemas.openxmlformats.org/presentationml/2006/main">
  <p:tag name="NUM" val="2"/>
</p:tagLst>
</file>

<file path=ppt/tags/tag100.xml><?xml version="1.0" encoding="utf-8"?>
<p:tagLst xmlns:a="http://schemas.openxmlformats.org/drawingml/2006/main" xmlns:r="http://schemas.openxmlformats.org/officeDocument/2006/relationships" xmlns:p="http://schemas.openxmlformats.org/presentationml/2006/main">
  <p:tag name="NUM" val="2"/>
</p:tagLst>
</file>

<file path=ppt/tags/tag101.xml><?xml version="1.0" encoding="utf-8"?>
<p:tagLst xmlns:a="http://schemas.openxmlformats.org/drawingml/2006/main" xmlns:r="http://schemas.openxmlformats.org/officeDocument/2006/relationships" xmlns:p="http://schemas.openxmlformats.org/presentationml/2006/main">
  <p:tag name="NUM" val="4"/>
</p:tagLst>
</file>

<file path=ppt/tags/tag102.xml><?xml version="1.0" encoding="utf-8"?>
<p:tagLst xmlns:a="http://schemas.openxmlformats.org/drawingml/2006/main" xmlns:r="http://schemas.openxmlformats.org/officeDocument/2006/relationships" xmlns:p="http://schemas.openxmlformats.org/presentationml/2006/main">
  <p:tag name="NUM" val="5"/>
</p:tagLst>
</file>

<file path=ppt/tags/tag103.xml><?xml version="1.0" encoding="utf-8"?>
<p:tagLst xmlns:a="http://schemas.openxmlformats.org/drawingml/2006/main" xmlns:r="http://schemas.openxmlformats.org/officeDocument/2006/relationships" xmlns:p="http://schemas.openxmlformats.org/presentationml/2006/main">
  <p:tag name="NUM" val="6"/>
</p:tagLst>
</file>

<file path=ppt/tags/tag104.xml><?xml version="1.0" encoding="utf-8"?>
<p:tagLst xmlns:a="http://schemas.openxmlformats.org/drawingml/2006/main" xmlns:r="http://schemas.openxmlformats.org/officeDocument/2006/relationships" xmlns:p="http://schemas.openxmlformats.org/presentationml/2006/main">
  <p:tag name="NUM" val="1"/>
</p:tagLst>
</file>

<file path=ppt/tags/tag105.xml><?xml version="1.0" encoding="utf-8"?>
<p:tagLst xmlns:a="http://schemas.openxmlformats.org/drawingml/2006/main" xmlns:r="http://schemas.openxmlformats.org/officeDocument/2006/relationships" xmlns:p="http://schemas.openxmlformats.org/presentationml/2006/main">
  <p:tag name="NUM" val="3"/>
</p:tagLst>
</file>

<file path=ppt/tags/tag106.xml><?xml version="1.0" encoding="utf-8"?>
<p:tagLst xmlns:a="http://schemas.openxmlformats.org/drawingml/2006/main" xmlns:r="http://schemas.openxmlformats.org/officeDocument/2006/relationships" xmlns:p="http://schemas.openxmlformats.org/presentationml/2006/main">
  <p:tag name="NUM" val="1"/>
</p:tagLst>
</file>

<file path=ppt/tags/tag107.xml><?xml version="1.0" encoding="utf-8"?>
<p:tagLst xmlns:a="http://schemas.openxmlformats.org/drawingml/2006/main" xmlns:r="http://schemas.openxmlformats.org/officeDocument/2006/relationships" xmlns:p="http://schemas.openxmlformats.org/presentationml/2006/main">
  <p:tag name="NUM" val="2"/>
</p:tagLst>
</file>

<file path=ppt/tags/tag108.xml><?xml version="1.0" encoding="utf-8"?>
<p:tagLst xmlns:a="http://schemas.openxmlformats.org/drawingml/2006/main" xmlns:r="http://schemas.openxmlformats.org/officeDocument/2006/relationships" xmlns:p="http://schemas.openxmlformats.org/presentationml/2006/main">
  <p:tag name="NUM" val="3"/>
</p:tagLst>
</file>

<file path=ppt/tags/tag109.xml><?xml version="1.0" encoding="utf-8"?>
<p:tagLst xmlns:a="http://schemas.openxmlformats.org/drawingml/2006/main" xmlns:r="http://schemas.openxmlformats.org/officeDocument/2006/relationships" xmlns:p="http://schemas.openxmlformats.org/presentationml/2006/main">
  <p:tag name="NUM" val="1"/>
</p:tagLst>
</file>

<file path=ppt/tags/tag110.xml><?xml version="1.0" encoding="utf-8"?>
<p:tagLst xmlns:a="http://schemas.openxmlformats.org/drawingml/2006/main" xmlns:r="http://schemas.openxmlformats.org/officeDocument/2006/relationships" xmlns:p="http://schemas.openxmlformats.org/presentationml/2006/main">
  <p:tag name="NUM" val="2"/>
</p:tagLst>
</file>

<file path=ppt/tags/tag111.xml><?xml version="1.0" encoding="utf-8"?>
<p:tagLst xmlns:a="http://schemas.openxmlformats.org/drawingml/2006/main" xmlns:r="http://schemas.openxmlformats.org/officeDocument/2006/relationships" xmlns:p="http://schemas.openxmlformats.org/presentationml/2006/main">
  <p:tag name="NUM" val="3"/>
</p:tagLst>
</file>

<file path=ppt/tags/tag112.xml><?xml version="1.0" encoding="utf-8"?>
<p:tagLst xmlns:a="http://schemas.openxmlformats.org/drawingml/2006/main" xmlns:r="http://schemas.openxmlformats.org/officeDocument/2006/relationships" xmlns:p="http://schemas.openxmlformats.org/presentationml/2006/main">
  <p:tag name="NUM" val="1"/>
</p:tagLst>
</file>

<file path=ppt/tags/tag113.xml><?xml version="1.0" encoding="utf-8"?>
<p:tagLst xmlns:a="http://schemas.openxmlformats.org/drawingml/2006/main" xmlns:r="http://schemas.openxmlformats.org/officeDocument/2006/relationships" xmlns:p="http://schemas.openxmlformats.org/presentationml/2006/main">
  <p:tag name="NUM" val="2"/>
</p:tagLst>
</file>

<file path=ppt/tags/tag114.xml><?xml version="1.0" encoding="utf-8"?>
<p:tagLst xmlns:a="http://schemas.openxmlformats.org/drawingml/2006/main" xmlns:r="http://schemas.openxmlformats.org/officeDocument/2006/relationships" xmlns:p="http://schemas.openxmlformats.org/presentationml/2006/main">
  <p:tag name="NUM" val="3"/>
</p:tagLst>
</file>

<file path=ppt/tags/tag115.xml><?xml version="1.0" encoding="utf-8"?>
<p:tagLst xmlns:a="http://schemas.openxmlformats.org/drawingml/2006/main" xmlns:r="http://schemas.openxmlformats.org/officeDocument/2006/relationships" xmlns:p="http://schemas.openxmlformats.org/presentationml/2006/main">
  <p:tag name="NUM" val="1"/>
</p:tagLst>
</file>

<file path=ppt/tags/tag116.xml><?xml version="1.0" encoding="utf-8"?>
<p:tagLst xmlns:a="http://schemas.openxmlformats.org/drawingml/2006/main" xmlns:r="http://schemas.openxmlformats.org/officeDocument/2006/relationships" xmlns:p="http://schemas.openxmlformats.org/presentationml/2006/main">
  <p:tag name="NUM" val="2"/>
</p:tagLst>
</file>

<file path=ppt/tags/tag117.xml><?xml version="1.0" encoding="utf-8"?>
<p:tagLst xmlns:a="http://schemas.openxmlformats.org/drawingml/2006/main" xmlns:r="http://schemas.openxmlformats.org/officeDocument/2006/relationships" xmlns:p="http://schemas.openxmlformats.org/presentationml/2006/main">
  <p:tag name="NUM" val="3"/>
</p:tagLst>
</file>

<file path=ppt/tags/tag118.xml><?xml version="1.0" encoding="utf-8"?>
<p:tagLst xmlns:a="http://schemas.openxmlformats.org/drawingml/2006/main" xmlns:r="http://schemas.openxmlformats.org/officeDocument/2006/relationships" xmlns:p="http://schemas.openxmlformats.org/presentationml/2006/main">
  <p:tag name="NUM" val="1"/>
</p:tagLst>
</file>

<file path=ppt/tags/tag119.xml><?xml version="1.0" encoding="utf-8"?>
<p:tagLst xmlns:a="http://schemas.openxmlformats.org/drawingml/2006/main" xmlns:r="http://schemas.openxmlformats.org/officeDocument/2006/relationships" xmlns:p="http://schemas.openxmlformats.org/presentationml/2006/main">
  <p:tag name="NUM" val="2"/>
</p:tagLst>
</file>

<file path=ppt/tags/tag120.xml><?xml version="1.0" encoding="utf-8"?>
<p:tagLst xmlns:a="http://schemas.openxmlformats.org/drawingml/2006/main" xmlns:r="http://schemas.openxmlformats.org/officeDocument/2006/relationships" xmlns:p="http://schemas.openxmlformats.org/presentationml/2006/main">
  <p:tag name="NUM" val="3"/>
</p:tagLst>
</file>

<file path=ppt/theme/theme1.xml><?xml version="1.0" encoding="utf-8"?>
<a:theme xmlns:a="http://schemas.openxmlformats.org/drawingml/2006/main" name="TS10188135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INF33307 - R01 - Concepts de gestion de projets</Template>
  <TotalTime>19023</TotalTime>
  <Words>6398</Words>
  <Application>Microsoft Office PowerPoint</Application>
  <PresentationFormat>Affichage à l'écran (4:3)</PresentationFormat>
  <Paragraphs>935</Paragraphs>
  <Slides>98</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98</vt:i4>
      </vt:variant>
    </vt:vector>
  </HeadingPairs>
  <TitlesOfParts>
    <vt:vector size="104" baseType="lpstr">
      <vt:lpstr>Arial</vt:lpstr>
      <vt:lpstr>Calibri</vt:lpstr>
      <vt:lpstr>Consolas</vt:lpstr>
      <vt:lpstr>Symbol</vt:lpstr>
      <vt:lpstr>Times New Roman</vt:lpstr>
      <vt:lpstr>TS101881352</vt:lpstr>
      <vt:lpstr>Implémentation de l’architecture Clean</vt:lpstr>
      <vt:lpstr>Plan</vt:lpstr>
      <vt:lpstr>Rappel : Clean architecture</vt:lpstr>
      <vt:lpstr>Architecture de référence pour le TP3</vt:lpstr>
      <vt:lpstr>Autres types d’architecture de référence (cours INF37607)</vt:lpstr>
      <vt:lpstr>Autres types d’architecture de référence (cours INF37607)</vt:lpstr>
      <vt:lpstr>Couches de l’implémentation choisie</vt:lpstr>
      <vt:lpstr>SharedKernel</vt:lpstr>
      <vt:lpstr>Vue de l’architecture</vt:lpstr>
      <vt:lpstr>Création des solutions</vt:lpstr>
      <vt:lpstr>Entités</vt:lpstr>
      <vt:lpstr>Objets de valeur</vt:lpstr>
      <vt:lpstr>Agrégats</vt:lpstr>
      <vt:lpstr>Exemple</vt:lpstr>
      <vt:lpstr>Paramétrisation du modèle d’analyse avec les décisions de conception</vt:lpstr>
      <vt:lpstr>Couche Core</vt:lpstr>
      <vt:lpstr>Projet Core</vt:lpstr>
      <vt:lpstr>Les attributs NotMapped et NotMappedAtttribute</vt:lpstr>
      <vt:lpstr>Association de multiplicité 1 à 1: navigation des deux côtés</vt:lpstr>
      <vt:lpstr>Association de multiplicité 1 à *</vt:lpstr>
      <vt:lpstr>Association de multiplicité * à *</vt:lpstr>
      <vt:lpstr>Association de multiplicité * à *</vt:lpstr>
      <vt:lpstr>Application du patron État : le modèle</vt:lpstr>
      <vt:lpstr>Application du patron État</vt:lpstr>
      <vt:lpstr>La classe Moteur</vt:lpstr>
      <vt:lpstr>La classe Pistolet</vt:lpstr>
      <vt:lpstr>La classe Réservoir</vt:lpstr>
      <vt:lpstr>La classe Pompe</vt:lpstr>
      <vt:lpstr>La classe Pompe</vt:lpstr>
      <vt:lpstr>Application du patron Observateur : le modèle</vt:lpstr>
      <vt:lpstr>Application du patron Observateur</vt:lpstr>
      <vt:lpstr>Application du patron Observateur</vt:lpstr>
      <vt:lpstr>Projet infrastructure</vt:lpstr>
      <vt:lpstr>SystèmeGestionStationServiceContext</vt:lpstr>
      <vt:lpstr>SystèmeGestionStationServiceContext</vt:lpstr>
      <vt:lpstr>SystèmeGestionStationServiceContextFactory</vt:lpstr>
      <vt:lpstr>SystèmeGestionStationServiceContextFactory</vt:lpstr>
      <vt:lpstr>Projet infrastructure</vt:lpstr>
      <vt:lpstr>Test avec l’utilisation du contexte</vt:lpstr>
      <vt:lpstr>Code de Test1</vt:lpstr>
      <vt:lpstr>Code de Test1</vt:lpstr>
      <vt:lpstr>Le patron Repository</vt:lpstr>
      <vt:lpstr>Exemple</vt:lpstr>
      <vt:lpstr>EfRepository</vt:lpstr>
      <vt:lpstr>EfRepository</vt:lpstr>
      <vt:lpstr>EfRepository</vt:lpstr>
      <vt:lpstr>EfRepository</vt:lpstr>
      <vt:lpstr>EfRepository</vt:lpstr>
      <vt:lpstr>EfRepository</vt:lpstr>
      <vt:lpstr>Repository spécifique</vt:lpstr>
      <vt:lpstr>Repository spécifique</vt:lpstr>
      <vt:lpstr>Repository spécifique</vt:lpstr>
      <vt:lpstr>Repository spécifique</vt:lpstr>
      <vt:lpstr>Test avec l’utilisation du EfRepository</vt:lpstr>
      <vt:lpstr>Critères de recherche</vt:lpstr>
      <vt:lpstr>Spécification de recherche</vt:lpstr>
      <vt:lpstr>Couche service</vt:lpstr>
      <vt:lpstr>Couche service</vt:lpstr>
      <vt:lpstr>Diagramme de cas d’utilisation</vt:lpstr>
      <vt:lpstr>Couche service : 4 services</vt:lpstr>
      <vt:lpstr>Couche service : 4 services</vt:lpstr>
      <vt:lpstr>Implantation des services</vt:lpstr>
      <vt:lpstr>Implantation du service PompeService</vt:lpstr>
      <vt:lpstr>Implantation du service PompeService</vt:lpstr>
      <vt:lpstr>Implantation du service PompeService</vt:lpstr>
      <vt:lpstr>Implantation du service PompeService</vt:lpstr>
      <vt:lpstr>Les trois autres services</vt:lpstr>
      <vt:lpstr>Les autres tests</vt:lpstr>
      <vt:lpstr>Tests unitaires</vt:lpstr>
      <vt:lpstr>Tests unitaires</vt:lpstr>
      <vt:lpstr>Tests unitaires - entités</vt:lpstr>
      <vt:lpstr>Tests unitaires - entités</vt:lpstr>
      <vt:lpstr>Tests unitaires - entités</vt:lpstr>
      <vt:lpstr>Tests unitaires - entités</vt:lpstr>
      <vt:lpstr>Tests unitaires - entités</vt:lpstr>
      <vt:lpstr>Tests unitaires - spécifications</vt:lpstr>
      <vt:lpstr>Tests unitaires - services</vt:lpstr>
      <vt:lpstr>Tests unitaires - services</vt:lpstr>
      <vt:lpstr>Tests unitaires - services</vt:lpstr>
      <vt:lpstr>Tests unitaires - services</vt:lpstr>
      <vt:lpstr>Tests unitaires - services</vt:lpstr>
      <vt:lpstr>Tests unitaires - services</vt:lpstr>
      <vt:lpstr>Tests unitaires - services</vt:lpstr>
      <vt:lpstr>Tests unitaires - services</vt:lpstr>
      <vt:lpstr>Tests unitaires - services</vt:lpstr>
      <vt:lpstr>Tests d’intégration</vt:lpstr>
      <vt:lpstr>Tests d’intégration</vt:lpstr>
      <vt:lpstr>Tests d’intégration</vt:lpstr>
      <vt:lpstr>Tests d’intégration</vt:lpstr>
      <vt:lpstr>Tests d’intégration</vt:lpstr>
      <vt:lpstr>Rappel : Clean architecture</vt:lpstr>
      <vt:lpstr>Rappel: Architecture de référence pour le TP3</vt:lpstr>
      <vt:lpstr>Rappel: Vue de l’architecture</vt:lpstr>
      <vt:lpstr>L’interface utilisateur</vt:lpstr>
      <vt:lpstr>Configuration de l’inversion de dépendance</vt:lpstr>
      <vt:lpstr>Configuration de l’inversion de dépendance</vt:lpstr>
      <vt:lpstr>Configuration de l’inversion de dépendance</vt:lpstr>
      <vt:lpstr>Configuration de l’inversion de dépendance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Implémentation de l’architecture Clean</dc:title>
  <dc:creator>Ismail Khriss</dc:creator>
  <cp:lastModifiedBy>Khriss Ismail</cp:lastModifiedBy>
  <cp:revision>399</cp:revision>
  <cp:lastPrinted>1601-01-01T00:00:00Z</cp:lastPrinted>
  <dcterms:created xsi:type="dcterms:W3CDTF">1601-01-01T00:00:00Z</dcterms:created>
  <dcterms:modified xsi:type="dcterms:W3CDTF">2024-11-20T17:38:59Z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2</vt:i4>
  </property>
  <property fmtid="{D5CDD505-2E9C-101B-9397-08002B2CF9AE}" pid="3" name="LCID">
    <vt:i4>1033</vt:i4>
  </property>
</Properties>
</file>